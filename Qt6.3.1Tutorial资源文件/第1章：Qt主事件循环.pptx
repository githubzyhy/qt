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"/>
  </p:notesMasterIdLst>
  <p:handoutMasterIdLst>
    <p:handoutMasterId r:id="rId8"/>
  </p:handoutMasterIdLst>
  <p:sldIdLst>
    <p:sldId id="258" r:id="rId3"/>
    <p:sldId id="330" r:id="rId4"/>
    <p:sldId id="331" r:id="rId5"/>
    <p:sldId id="332" r:id="rId6"/>
  </p:sldIdLst>
  <p:sldSz cx="10625138" cy="1440021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 varScale="1">
        <p:scale>
          <a:sx n="44" d="100"/>
          <a:sy n="44" d="100"/>
        </p:scale>
        <p:origin x="2376" y="72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8:28:31.7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0 107 24575,'118'11'0,"1"-6"0,166-13 0,-95 1 0,63 14 0,49-2 0,-107-15 0,296-22 0,-385 24 0,1 4 0,143 14 0,-133-4 0,230-19 0,-147-3 0,378-16 0,-310 22 0,0-1 0,-42 28 0,-181-11-1365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8:29:04.3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Qt </a:t>
            </a:r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主事件循环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3206711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GUI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1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279433" y="322680"/>
            <a:ext cx="2066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accent3"/>
                </a:solidFill>
              </a:rPr>
              <a:t>QCoreApplication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314CC24-0F8C-14C8-4F9A-1ED0975155D5}"/>
              </a:ext>
            </a:extLst>
          </p:cNvPr>
          <p:cNvSpPr txBox="1"/>
          <p:nvPr/>
        </p:nvSpPr>
        <p:spPr>
          <a:xfrm>
            <a:off x="7284720" y="3146021"/>
            <a:ext cx="305816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QApplication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1A30ED-61BB-29FA-82B8-3F59021E6739}"/>
              </a:ext>
            </a:extLst>
          </p:cNvPr>
          <p:cNvSpPr txBox="1"/>
          <p:nvPr/>
        </p:nvSpPr>
        <p:spPr>
          <a:xfrm>
            <a:off x="7611598" y="2384518"/>
            <a:ext cx="240440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QGuiApplication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D7B9C8-BA5D-B6E6-00A0-FDE7F958880B}"/>
              </a:ext>
            </a:extLst>
          </p:cNvPr>
          <p:cNvSpPr txBox="1"/>
          <p:nvPr/>
        </p:nvSpPr>
        <p:spPr>
          <a:xfrm>
            <a:off x="7894903" y="1504136"/>
            <a:ext cx="185928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>
                <a:highlight>
                  <a:srgbClr val="0000FF"/>
                </a:highlight>
              </a:rPr>
              <a:t>QCoreApplication</a:t>
            </a:r>
            <a:endParaRPr lang="zh-CN" altLang="en-US">
              <a:highlight>
                <a:srgbClr val="0000FF"/>
              </a:highlight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93690A-2186-1462-7BD8-2A19ECBE22E8}"/>
              </a:ext>
            </a:extLst>
          </p:cNvPr>
          <p:cNvSpPr txBox="1"/>
          <p:nvPr/>
        </p:nvSpPr>
        <p:spPr>
          <a:xfrm>
            <a:off x="621190" y="928541"/>
            <a:ext cx="6541610" cy="12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QCoreApplication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：为非</a:t>
            </a:r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GUI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应用程序提供</a:t>
            </a:r>
            <a:r>
              <a:rPr lang="zh-CN" altLang="en-US" b="1">
                <a:solidFill>
                  <a:srgbClr val="FFFF00"/>
                </a:solidFill>
                <a:highlight>
                  <a:srgbClr val="0000FF"/>
                </a:highlight>
              </a:rPr>
              <a:t>主事件循环</a:t>
            </a:r>
            <a:endParaRPr lang="en-US" altLang="zh-CN" b="1">
              <a:solidFill>
                <a:srgbClr val="FFFF00"/>
              </a:solidFill>
              <a:highlight>
                <a:srgbClr val="0000FF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QGuiApplication</a:t>
            </a:r>
            <a:r>
              <a:rPr lang="zh-CN" altLang="en-US">
                <a:solidFill>
                  <a:schemeClr val="bg1"/>
                </a:solidFill>
              </a:rPr>
              <a:t>：为</a:t>
            </a:r>
            <a:r>
              <a:rPr lang="en-US" altLang="zh-CN">
                <a:solidFill>
                  <a:schemeClr val="bg1"/>
                </a:solidFill>
              </a:rPr>
              <a:t>GUI</a:t>
            </a:r>
            <a:r>
              <a:rPr lang="zh-CN" altLang="en-US">
                <a:solidFill>
                  <a:schemeClr val="bg1"/>
                </a:solidFill>
              </a:rPr>
              <a:t>应用程序提供</a:t>
            </a:r>
            <a:r>
              <a:rPr lang="zh-CN" altLang="en-US" b="1">
                <a:solidFill>
                  <a:srgbClr val="FFFF00"/>
                </a:solidFill>
              </a:rPr>
              <a:t>主事件循环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QApplication：为</a:t>
            </a:r>
            <a:r>
              <a:rPr lang="en-US" altLang="zh-CN">
                <a:solidFill>
                  <a:schemeClr val="bg1"/>
                </a:solidFill>
              </a:rPr>
              <a:t>Qt Widgets</a:t>
            </a:r>
            <a:r>
              <a:rPr lang="zh-CN" altLang="en-US">
                <a:solidFill>
                  <a:schemeClr val="bg1"/>
                </a:solidFill>
              </a:rPr>
              <a:t>模块的应用程序提供</a:t>
            </a:r>
            <a:r>
              <a:rPr lang="zh-CN" altLang="en-US" b="1">
                <a:solidFill>
                  <a:srgbClr val="FFFF00"/>
                </a:solidFill>
              </a:rPr>
              <a:t>主事件循环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7103EA2-68A4-0A7A-B7F4-CD864F6BAC89}"/>
              </a:ext>
            </a:extLst>
          </p:cNvPr>
          <p:cNvSpPr txBox="1"/>
          <p:nvPr/>
        </p:nvSpPr>
        <p:spPr>
          <a:xfrm>
            <a:off x="2464418" y="1873468"/>
            <a:ext cx="3208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128E8D2-75E3-68EF-73B9-4C76C5EE2DBF}"/>
              </a:ext>
            </a:extLst>
          </p:cNvPr>
          <p:cNvCxnSpPr>
            <a:cxnSpLocks/>
            <a:stCxn id="19" idx="0"/>
            <a:endCxn id="21" idx="2"/>
          </p:cNvCxnSpPr>
          <p:nvPr/>
        </p:nvCxnSpPr>
        <p:spPr>
          <a:xfrm flipV="1">
            <a:off x="8813800" y="2753850"/>
            <a:ext cx="0" cy="392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CB163EB-A4E6-025B-48EC-F9A28FDB3F86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>
          <a:xfrm flipV="1">
            <a:off x="8813800" y="1873468"/>
            <a:ext cx="10743" cy="51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E2056501-42D5-95B3-38C6-DAF72DA98CFF}"/>
              </a:ext>
            </a:extLst>
          </p:cNvPr>
          <p:cNvSpPr txBox="1"/>
          <p:nvPr/>
        </p:nvSpPr>
        <p:spPr>
          <a:xfrm>
            <a:off x="965439" y="2495281"/>
            <a:ext cx="5670747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QCoreApplication包含</a:t>
            </a:r>
            <a:r>
              <a:rPr lang="zh-CN" altLang="en-US" b="1">
                <a:solidFill>
                  <a:srgbClr val="FFFF00"/>
                </a:solidFill>
                <a:highlight>
                  <a:srgbClr val="0000FF"/>
                </a:highlight>
              </a:rPr>
              <a:t>主事件循环</a:t>
            </a:r>
            <a:r>
              <a:rPr lang="zh-CN" altLang="en-US"/>
              <a:t>，处理和分发来自操作系统和其他源的所有事件。它还处理应用程序的初始化与终结，以及系统范围和应用程序范围的设置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8AE98C6-3D77-547D-09FF-2C7FB0F69C37}"/>
              </a:ext>
            </a:extLst>
          </p:cNvPr>
          <p:cNvSpPr txBox="1"/>
          <p:nvPr/>
        </p:nvSpPr>
        <p:spPr>
          <a:xfrm>
            <a:off x="1166933" y="4537276"/>
            <a:ext cx="857650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&lt;QCoreApplication&gt;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FF"/>
                </a:highlight>
              </a:rPr>
              <a:t>QCoreApplication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848BF22-8EEA-6671-6E60-BE08000E39FB}"/>
              </a:ext>
            </a:extLst>
          </p:cNvPr>
          <p:cNvSpPr txBox="1"/>
          <p:nvPr/>
        </p:nvSpPr>
        <p:spPr>
          <a:xfrm>
            <a:off x="965439" y="4137166"/>
            <a:ext cx="7633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通过</a:t>
            </a:r>
            <a:r>
              <a:rPr lang="en-US" altLang="zh-CN" sz="2000">
                <a:solidFill>
                  <a:schemeClr val="bg1"/>
                </a:solidFill>
              </a:rPr>
              <a:t>Creator</a:t>
            </a:r>
            <a:r>
              <a:rPr lang="zh-CN" altLang="en-US" sz="2000">
                <a:solidFill>
                  <a:schemeClr val="bg1"/>
                </a:solidFill>
              </a:rPr>
              <a:t>向导，生成一个控制台程序，将会自动生成以下代码：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DC06E31-ED2D-7A68-4157-A61FACDBC335}"/>
              </a:ext>
            </a:extLst>
          </p:cNvPr>
          <p:cNvSpPr txBox="1"/>
          <p:nvPr/>
        </p:nvSpPr>
        <p:spPr>
          <a:xfrm>
            <a:off x="5059680" y="5732194"/>
            <a:ext cx="4501741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进入主事件循环并等待，直到调用</a:t>
            </a:r>
            <a:r>
              <a:rPr lang="en-US" altLang="zh-CN"/>
              <a:t>exit()</a:t>
            </a:r>
            <a:r>
              <a:rPr lang="zh-CN" altLang="en-US"/>
              <a:t>。返回传递给</a:t>
            </a:r>
            <a:r>
              <a:rPr lang="en-US" altLang="zh-CN"/>
              <a:t>exit()</a:t>
            </a:r>
            <a:r>
              <a:rPr lang="zh-CN" altLang="en-US"/>
              <a:t>的值。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4A3DB8C-6DA2-B16B-4CA6-38177A467A72}"/>
              </a:ext>
            </a:extLst>
          </p:cNvPr>
          <p:cNvCxnSpPr/>
          <p:nvPr/>
        </p:nvCxnSpPr>
        <p:spPr>
          <a:xfrm>
            <a:off x="3241040" y="6055360"/>
            <a:ext cx="181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D69465D2-E040-1981-A267-9287E40AB197}"/>
              </a:ext>
            </a:extLst>
          </p:cNvPr>
          <p:cNvSpPr txBox="1"/>
          <p:nvPr/>
        </p:nvSpPr>
        <p:spPr>
          <a:xfrm>
            <a:off x="965439" y="6879082"/>
            <a:ext cx="4914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将</a:t>
            </a:r>
            <a:r>
              <a:rPr lang="en-US" altLang="zh-CN" sz="2000">
                <a:solidFill>
                  <a:schemeClr val="bg1"/>
                </a:solidFill>
              </a:rPr>
              <a:t>Creator</a:t>
            </a:r>
            <a:r>
              <a:rPr lang="zh-CN" altLang="en-US" sz="2000">
                <a:solidFill>
                  <a:schemeClr val="bg1"/>
                </a:solidFill>
              </a:rPr>
              <a:t>设置为在控制台运行，点击</a:t>
            </a:r>
            <a:r>
              <a:rPr lang="en-US" altLang="zh-CN" sz="2000">
                <a:solidFill>
                  <a:schemeClr val="bg1"/>
                </a:solidFill>
              </a:rPr>
              <a:t>run</a:t>
            </a:r>
            <a:r>
              <a:rPr lang="zh-CN" altLang="en-US" sz="2000">
                <a:solidFill>
                  <a:schemeClr val="bg1"/>
                </a:solidFill>
              </a:rPr>
              <a:t>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91ABBCF7-017E-93C9-FAE4-DFC16879C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828" y="6511438"/>
            <a:ext cx="4252172" cy="1535507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7EF618F3-D126-CB66-38DC-F9CDE0841B01}"/>
              </a:ext>
            </a:extLst>
          </p:cNvPr>
          <p:cNvSpPr txBox="1"/>
          <p:nvPr/>
        </p:nvSpPr>
        <p:spPr>
          <a:xfrm>
            <a:off x="1024314" y="8133525"/>
            <a:ext cx="8576507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&lt;QCoreApplication&gt;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FF"/>
                </a:highlight>
              </a:rPr>
              <a:t>QCoreApplication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qDebug</a:t>
            </a:r>
            <a:r>
              <a:rPr lang="en-US" altLang="zh-CN">
                <a:highlight>
                  <a:srgbClr val="FFFF00"/>
                </a:highlight>
              </a:rPr>
              <a:t>()&lt;&lt;</a:t>
            </a:r>
            <a:r>
              <a:rPr lang="en-US" altLang="zh-CN"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"</a:t>
            </a:r>
            <a:r>
              <a:rPr lang="zh-CN" altLang="en-US"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对象</a:t>
            </a:r>
            <a:r>
              <a:rPr lang="en-US" altLang="zh-CN"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a</a:t>
            </a:r>
            <a:r>
              <a:rPr lang="zh-CN" altLang="en-US"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的类名称：</a:t>
            </a:r>
            <a:r>
              <a:rPr lang="en-US" altLang="zh-CN"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"</a:t>
            </a:r>
            <a:r>
              <a:rPr lang="en-US" altLang="zh-CN">
                <a:highlight>
                  <a:srgbClr val="FFFF00"/>
                </a:highlight>
              </a:rPr>
              <a:t>&lt;&lt;</a:t>
            </a:r>
            <a:r>
              <a:rPr lang="en-US" altLang="zh-CN"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a</a:t>
            </a:r>
            <a:r>
              <a:rPr lang="en-US" altLang="zh-CN">
                <a:highlight>
                  <a:srgbClr val="FFFF00"/>
                </a:highlight>
              </a:rPr>
              <a:t>.</a:t>
            </a:r>
            <a:r>
              <a:rPr lang="en-US" altLang="zh-CN" i="1"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metaObject</a:t>
            </a:r>
            <a:r>
              <a:rPr lang="en-US" altLang="zh-CN">
                <a:highlight>
                  <a:srgbClr val="FFFF00"/>
                </a:highlight>
              </a:rPr>
              <a:t>()-&gt;</a:t>
            </a:r>
            <a:r>
              <a:rPr lang="en-US" altLang="zh-CN"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className</a:t>
            </a:r>
            <a:r>
              <a:rPr lang="en-US" altLang="zh-CN">
                <a:highlight>
                  <a:srgbClr val="FFFF00"/>
                </a:highlight>
              </a:rPr>
              <a:t>();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qDebug</a:t>
            </a:r>
            <a:r>
              <a:rPr lang="en-US" altLang="zh-CN">
                <a:highlight>
                  <a:srgbClr val="FFFF00"/>
                </a:highlight>
              </a:rPr>
              <a:t>()</a:t>
            </a:r>
            <a:r>
              <a:rPr lang="en-US" altLang="zh-CN"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&lt;&lt;</a:t>
            </a:r>
            <a:r>
              <a:rPr lang="en-US" altLang="zh-CN"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"</a:t>
            </a:r>
            <a:r>
              <a:rPr lang="zh-CN" altLang="en-US"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应用程序目录：</a:t>
            </a:r>
            <a:r>
              <a:rPr lang="en-US" altLang="zh-CN"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"</a:t>
            </a:r>
            <a:r>
              <a:rPr lang="en-US" altLang="zh-CN"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&lt;&lt;</a:t>
            </a:r>
            <a:r>
              <a:rPr lang="en-US" altLang="zh-CN"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a</a:t>
            </a:r>
            <a:r>
              <a:rPr lang="en-US" altLang="zh-CN">
                <a:highlight>
                  <a:srgbClr val="FFFF00"/>
                </a:highlight>
              </a:rPr>
              <a:t>.</a:t>
            </a:r>
            <a:r>
              <a:rPr lang="en-US" altLang="zh-CN"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applicationFilePath</a:t>
            </a:r>
            <a:r>
              <a:rPr lang="en-US" altLang="zh-CN">
                <a:highlight>
                  <a:srgbClr val="FFFF00"/>
                </a:highlight>
              </a:rPr>
              <a:t>();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dumpObjectTree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dumpObjectInfo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4B4FDDC-6471-98CD-1A7B-B01986433D83}"/>
              </a:ext>
            </a:extLst>
          </p:cNvPr>
          <p:cNvSpPr txBox="1"/>
          <p:nvPr/>
        </p:nvSpPr>
        <p:spPr>
          <a:xfrm>
            <a:off x="5091362" y="10493105"/>
            <a:ext cx="4501741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qDebug()</a:t>
            </a:r>
            <a:r>
              <a:rPr lang="zh-CN" altLang="en-US"/>
              <a:t>，在</a:t>
            </a:r>
            <a:r>
              <a:rPr lang="en-US" altLang="zh-CN"/>
              <a:t>Windows</a:t>
            </a:r>
            <a:r>
              <a:rPr lang="zh-CN" altLang="en-US"/>
              <a:t>下，如果是控制台应用程序，则将消息发送到控制台；否则，它将被发送到调试器。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236B179-2693-27A4-1742-013D6CE18822}"/>
              </a:ext>
            </a:extLst>
          </p:cNvPr>
          <p:cNvSpPr txBox="1"/>
          <p:nvPr/>
        </p:nvSpPr>
        <p:spPr>
          <a:xfrm>
            <a:off x="7894903" y="822015"/>
            <a:ext cx="185928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effectLst/>
              </a:rPr>
              <a:t>QObject</a:t>
            </a:r>
            <a:endParaRPr lang="zh-CN" altLang="en-US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DC0326F-824E-82F4-CFBE-39FA76BB2AA6}"/>
              </a:ext>
            </a:extLst>
          </p:cNvPr>
          <p:cNvCxnSpPr>
            <a:stCxn id="22" idx="0"/>
            <a:endCxn id="72" idx="2"/>
          </p:cNvCxnSpPr>
          <p:nvPr/>
        </p:nvCxnSpPr>
        <p:spPr>
          <a:xfrm flipV="1">
            <a:off x="8824543" y="1191347"/>
            <a:ext cx="0" cy="312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图片 78">
            <a:extLst>
              <a:ext uri="{FF2B5EF4-FFF2-40B4-BE49-F238E27FC236}">
                <a16:creationId xmlns:a16="http://schemas.microsoft.com/office/drawing/2014/main" id="{1D49C6FD-00EA-CD2C-C785-EA362B6CB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5754" y="11662118"/>
            <a:ext cx="9953625" cy="21145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6" name="墨迹 215">
                <a:extLst>
                  <a:ext uri="{FF2B5EF4-FFF2-40B4-BE49-F238E27FC236}">
                    <a16:creationId xmlns:a16="http://schemas.microsoft.com/office/drawing/2014/main" id="{3AB1B103-3789-C34A-7A46-CB167D55DFF7}"/>
                  </a:ext>
                </a:extLst>
              </p14:cNvPr>
              <p14:cNvContentPartPr/>
              <p14:nvPr/>
            </p14:nvContentPartPr>
            <p14:xfrm>
              <a:off x="4526040" y="738720"/>
              <a:ext cx="1607760" cy="44640"/>
            </p14:xfrm>
          </p:contentPart>
        </mc:Choice>
        <mc:Fallback xmlns="">
          <p:pic>
            <p:nvPicPr>
              <p:cNvPr id="216" name="墨迹 215">
                <a:extLst>
                  <a:ext uri="{FF2B5EF4-FFF2-40B4-BE49-F238E27FC236}">
                    <a16:creationId xmlns:a16="http://schemas.microsoft.com/office/drawing/2014/main" id="{3AB1B103-3789-C34A-7A46-CB167D55DF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17040" y="729720"/>
                <a:ext cx="16254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3" name="墨迹 222">
                <a:extLst>
                  <a:ext uri="{FF2B5EF4-FFF2-40B4-BE49-F238E27FC236}">
                    <a16:creationId xmlns:a16="http://schemas.microsoft.com/office/drawing/2014/main" id="{CF17DB23-BF29-CB9C-BB29-9827D417F821}"/>
                  </a:ext>
                </a:extLst>
              </p14:cNvPr>
              <p14:cNvContentPartPr/>
              <p14:nvPr/>
            </p14:nvContentPartPr>
            <p14:xfrm>
              <a:off x="5913120" y="2819160"/>
              <a:ext cx="360" cy="360"/>
            </p14:xfrm>
          </p:contentPart>
        </mc:Choice>
        <mc:Fallback xmlns="">
          <p:pic>
            <p:nvPicPr>
              <p:cNvPr id="223" name="墨迹 222">
                <a:extLst>
                  <a:ext uri="{FF2B5EF4-FFF2-40B4-BE49-F238E27FC236}">
                    <a16:creationId xmlns:a16="http://schemas.microsoft.com/office/drawing/2014/main" id="{CF17DB23-BF29-CB9C-BB29-9827D417F8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4120" y="281016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279433" y="322680"/>
            <a:ext cx="1937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accent3"/>
                </a:solidFill>
              </a:rPr>
              <a:t>QGuiApplication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314CC24-0F8C-14C8-4F9A-1ED0975155D5}"/>
              </a:ext>
            </a:extLst>
          </p:cNvPr>
          <p:cNvSpPr txBox="1"/>
          <p:nvPr/>
        </p:nvSpPr>
        <p:spPr>
          <a:xfrm>
            <a:off x="7284720" y="3146021"/>
            <a:ext cx="305816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QApplication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1A30ED-61BB-29FA-82B8-3F59021E6739}"/>
              </a:ext>
            </a:extLst>
          </p:cNvPr>
          <p:cNvSpPr txBox="1"/>
          <p:nvPr/>
        </p:nvSpPr>
        <p:spPr>
          <a:xfrm>
            <a:off x="7611598" y="2384518"/>
            <a:ext cx="240440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>
                <a:highlight>
                  <a:srgbClr val="0000FF"/>
                </a:highlight>
              </a:rPr>
              <a:t>QGuiApplication</a:t>
            </a:r>
            <a:endParaRPr lang="zh-CN" altLang="en-US">
              <a:highlight>
                <a:srgbClr val="0000FF"/>
              </a:highlight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D7B9C8-BA5D-B6E6-00A0-FDE7F958880B}"/>
              </a:ext>
            </a:extLst>
          </p:cNvPr>
          <p:cNvSpPr txBox="1"/>
          <p:nvPr/>
        </p:nvSpPr>
        <p:spPr>
          <a:xfrm>
            <a:off x="7894903" y="1504136"/>
            <a:ext cx="185928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QCoreApplication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93690A-2186-1462-7BD8-2A19ECBE22E8}"/>
              </a:ext>
            </a:extLst>
          </p:cNvPr>
          <p:cNvSpPr txBox="1"/>
          <p:nvPr/>
        </p:nvSpPr>
        <p:spPr>
          <a:xfrm>
            <a:off x="621189" y="928541"/>
            <a:ext cx="6389305" cy="12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QCoreApplication</a:t>
            </a:r>
            <a:r>
              <a:rPr lang="zh-CN" altLang="en-US">
                <a:solidFill>
                  <a:schemeClr val="bg1"/>
                </a:solidFill>
              </a:rPr>
              <a:t>：为非</a:t>
            </a:r>
            <a:r>
              <a:rPr lang="en-US" altLang="zh-CN">
                <a:solidFill>
                  <a:schemeClr val="bg1"/>
                </a:solidFill>
              </a:rPr>
              <a:t>GUI</a:t>
            </a:r>
            <a:r>
              <a:rPr lang="zh-CN" altLang="en-US">
                <a:solidFill>
                  <a:schemeClr val="bg1"/>
                </a:solidFill>
              </a:rPr>
              <a:t>应用程序提供主事件循环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QGuiApplication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：为</a:t>
            </a:r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GUI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应用程序提供主事件循环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QApplication：为</a:t>
            </a:r>
            <a:r>
              <a:rPr lang="en-US" altLang="zh-CN">
                <a:solidFill>
                  <a:schemeClr val="bg1"/>
                </a:solidFill>
              </a:rPr>
              <a:t>Qt Widgets</a:t>
            </a:r>
            <a:r>
              <a:rPr lang="zh-CN" altLang="en-US">
                <a:solidFill>
                  <a:schemeClr val="bg1"/>
                </a:solidFill>
              </a:rPr>
              <a:t>模块的应用程序提供主事件循环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128E8D2-75E3-68EF-73B9-4C76C5EE2DBF}"/>
              </a:ext>
            </a:extLst>
          </p:cNvPr>
          <p:cNvCxnSpPr>
            <a:cxnSpLocks/>
            <a:stCxn id="19" idx="0"/>
            <a:endCxn id="21" idx="2"/>
          </p:cNvCxnSpPr>
          <p:nvPr/>
        </p:nvCxnSpPr>
        <p:spPr>
          <a:xfrm flipV="1">
            <a:off x="8813800" y="2753850"/>
            <a:ext cx="0" cy="392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CB163EB-A4E6-025B-48EC-F9A28FDB3F86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>
          <a:xfrm flipV="1">
            <a:off x="8813800" y="1873468"/>
            <a:ext cx="10743" cy="51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B236B179-2693-27A4-1742-013D6CE18822}"/>
              </a:ext>
            </a:extLst>
          </p:cNvPr>
          <p:cNvSpPr txBox="1"/>
          <p:nvPr/>
        </p:nvSpPr>
        <p:spPr>
          <a:xfrm>
            <a:off x="7894903" y="822015"/>
            <a:ext cx="185928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effectLst/>
              </a:rPr>
              <a:t>QObject</a:t>
            </a:r>
            <a:endParaRPr lang="zh-CN" altLang="en-US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DC0326F-824E-82F4-CFBE-39FA76BB2AA6}"/>
              </a:ext>
            </a:extLst>
          </p:cNvPr>
          <p:cNvCxnSpPr>
            <a:stCxn id="22" idx="0"/>
            <a:endCxn id="72" idx="2"/>
          </p:cNvCxnSpPr>
          <p:nvPr/>
        </p:nvCxnSpPr>
        <p:spPr>
          <a:xfrm flipV="1">
            <a:off x="8824543" y="1191347"/>
            <a:ext cx="0" cy="312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551D733-A016-A501-62F5-508C1D43AAE8}"/>
              </a:ext>
            </a:extLst>
          </p:cNvPr>
          <p:cNvSpPr txBox="1"/>
          <p:nvPr/>
        </p:nvSpPr>
        <p:spPr>
          <a:xfrm>
            <a:off x="808530" y="2304245"/>
            <a:ext cx="6201967" cy="12913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除了继承</a:t>
            </a:r>
            <a:r>
              <a:rPr lang="en-US" altLang="zh-CN"/>
              <a:t>QCoreApplication</a:t>
            </a:r>
            <a:r>
              <a:rPr lang="zh-CN" altLang="en-US"/>
              <a:t>的功能以外，还需负责初始化</a:t>
            </a:r>
            <a:r>
              <a:rPr lang="en-US" altLang="zh-CN"/>
              <a:t>GUI</a:t>
            </a:r>
            <a:r>
              <a:rPr lang="zh-CN" altLang="en-US"/>
              <a:t>所需的资源；跟踪系统界面属性，保证</a:t>
            </a:r>
            <a:r>
              <a:rPr lang="en-US" altLang="zh-CN"/>
              <a:t>GUI</a:t>
            </a:r>
            <a:r>
              <a:rPr lang="zh-CN" altLang="en-US"/>
              <a:t>与系统设置保持一致；提供字符串本地化、剪贴板，鼠标光标处理等功能</a:t>
            </a:r>
            <a:endParaRPr lang="en-US" altLang="zh-CN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5534FA5-9B02-156F-B09B-FFC09061E12A}"/>
              </a:ext>
            </a:extLst>
          </p:cNvPr>
          <p:cNvSpPr txBox="1"/>
          <p:nvPr/>
        </p:nvSpPr>
        <p:spPr>
          <a:xfrm>
            <a:off x="1014221" y="3772490"/>
            <a:ext cx="846813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</a:t>
            </a:r>
            <a:r>
              <a:rPr lang="en-US" altLang="zh-CN">
                <a:solidFill>
                  <a:srgbClr val="008000"/>
                </a:solidFill>
                <a:effectLst/>
              </a:rPr>
              <a:t>QtGui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000080"/>
                </a:solidFill>
                <a:effectLst/>
              </a:rPr>
              <a:t>#include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&lt;QWindow&gt;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0080"/>
                </a:solidFill>
                <a:effectLst/>
              </a:rPr>
              <a:t>QGuiApplication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0080"/>
                </a:solidFill>
                <a:effectLst/>
              </a:rPr>
              <a:t>QWindow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b="1">
                <a:solidFill>
                  <a:srgbClr val="092E64"/>
                </a:solidFill>
                <a:effectLst/>
              </a:rPr>
              <a:t>w</a:t>
            </a:r>
            <a:r>
              <a:rPr lang="en-US" altLang="zh-CN"/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92E64"/>
                </a:solidFill>
                <a:effectLst/>
              </a:rPr>
              <a:t>w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show</a:t>
            </a:r>
            <a:r>
              <a:rPr lang="en-US" altLang="zh-CN"/>
              <a:t>();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dumpObjectTree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qGuiApp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dumpObjectInfo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B19D6D8-A170-BE5B-5362-257E697865B6}"/>
              </a:ext>
            </a:extLst>
          </p:cNvPr>
          <p:cNvSpPr txBox="1"/>
          <p:nvPr/>
        </p:nvSpPr>
        <p:spPr>
          <a:xfrm>
            <a:off x="1095744" y="8230043"/>
            <a:ext cx="8305087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QGuiApplication:: </a:t>
            </a:r>
          </a:p>
          <a:p>
            <a:r>
              <a:rPr lang="en-US" altLang="zh-CN"/>
              <a:t>    QWindowsGuiEventDispatcher::QWindowsGuiEventDispatcher </a:t>
            </a:r>
          </a:p>
          <a:p>
            <a:r>
              <a:rPr lang="en-US" altLang="zh-CN"/>
              <a:t>    QSessionManager:: </a:t>
            </a:r>
          </a:p>
          <a:p>
            <a:r>
              <a:rPr lang="en-US" altLang="zh-CN"/>
              <a:t>OBJECT QGuiApplication::unnamed</a:t>
            </a:r>
          </a:p>
          <a:p>
            <a:r>
              <a:rPr lang="en-US" altLang="zh-CN"/>
              <a:t>  SIGNALS OUT</a:t>
            </a:r>
          </a:p>
          <a:p>
            <a:r>
              <a:rPr lang="en-US" altLang="zh-CN"/>
              <a:t>        signal: applicationNameChanged()</a:t>
            </a:r>
          </a:p>
          <a:p>
            <a:r>
              <a:rPr lang="en-US" altLang="zh-CN"/>
              <a:t>          &lt;functor or function pointer&gt;</a:t>
            </a:r>
          </a:p>
          <a:p>
            <a:r>
              <a:rPr lang="en-US" altLang="zh-CN"/>
              <a:t>        signal: applicationStateChanged(Qt::ApplicationState)</a:t>
            </a:r>
          </a:p>
          <a:p>
            <a:r>
              <a:rPr lang="en-US" altLang="zh-CN"/>
              <a:t>          &lt;functor or function pointer&gt;</a:t>
            </a:r>
          </a:p>
          <a:p>
            <a:r>
              <a:rPr lang="en-US" altLang="zh-CN"/>
              <a:t>  SIGNALS IN</a:t>
            </a:r>
          </a:p>
          <a:p>
            <a:r>
              <a:rPr lang="en-US" altLang="zh-CN"/>
              <a:t>          &lt;-- QGuiApplication::unnamed &lt;unknown&gt;</a:t>
            </a:r>
          </a:p>
          <a:p>
            <a:r>
              <a:rPr lang="en-US" altLang="zh-CN"/>
              <a:t>          &lt;-- QGuiApplication::unnamed &lt;unknown&gt;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D6DF23E-CCB0-069C-523C-BC5462DED93E}"/>
              </a:ext>
            </a:extLst>
          </p:cNvPr>
          <p:cNvSpPr txBox="1"/>
          <p:nvPr/>
        </p:nvSpPr>
        <p:spPr>
          <a:xfrm>
            <a:off x="4886959" y="5179044"/>
            <a:ext cx="4595395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qGuiApp</a:t>
            </a:r>
            <a:r>
              <a:rPr lang="zh-CN" altLang="en-US"/>
              <a:t>：应用程序对象的全局指针。只有当应用程序对象是</a:t>
            </a:r>
            <a:r>
              <a:rPr lang="en-US" altLang="zh-CN">
                <a:solidFill>
                  <a:srgbClr val="800080"/>
                </a:solidFill>
                <a:effectLst/>
              </a:rPr>
              <a:t>QGuiApplication</a:t>
            </a:r>
            <a:r>
              <a:rPr lang="zh-CN" altLang="en-US"/>
              <a:t>时才有效。</a:t>
            </a:r>
          </a:p>
        </p:txBody>
      </p:sp>
    </p:spTree>
    <p:extLst>
      <p:ext uri="{BB962C8B-B14F-4D97-AF65-F5344CB8AC3E}">
        <p14:creationId xmlns:p14="http://schemas.microsoft.com/office/powerpoint/2010/main" val="115494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279433" y="322680"/>
            <a:ext cx="1573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accent3"/>
                </a:solidFill>
              </a:rPr>
              <a:t>QApplication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314CC24-0F8C-14C8-4F9A-1ED0975155D5}"/>
              </a:ext>
            </a:extLst>
          </p:cNvPr>
          <p:cNvSpPr txBox="1"/>
          <p:nvPr/>
        </p:nvSpPr>
        <p:spPr>
          <a:xfrm>
            <a:off x="7284720" y="3146021"/>
            <a:ext cx="305816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QApplication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1A30ED-61BB-29FA-82B8-3F59021E6739}"/>
              </a:ext>
            </a:extLst>
          </p:cNvPr>
          <p:cNvSpPr txBox="1"/>
          <p:nvPr/>
        </p:nvSpPr>
        <p:spPr>
          <a:xfrm>
            <a:off x="7611598" y="2384518"/>
            <a:ext cx="240440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QGuiApplication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D7B9C8-BA5D-B6E6-00A0-FDE7F958880B}"/>
              </a:ext>
            </a:extLst>
          </p:cNvPr>
          <p:cNvSpPr txBox="1"/>
          <p:nvPr/>
        </p:nvSpPr>
        <p:spPr>
          <a:xfrm>
            <a:off x="7894903" y="1504136"/>
            <a:ext cx="185928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QCoreApplication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93690A-2186-1462-7BD8-2A19ECBE22E8}"/>
              </a:ext>
            </a:extLst>
          </p:cNvPr>
          <p:cNvSpPr txBox="1"/>
          <p:nvPr/>
        </p:nvSpPr>
        <p:spPr>
          <a:xfrm>
            <a:off x="621190" y="928541"/>
            <a:ext cx="6201966" cy="12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QCoreApplication</a:t>
            </a:r>
            <a:r>
              <a:rPr lang="zh-CN" altLang="en-US">
                <a:solidFill>
                  <a:schemeClr val="bg1"/>
                </a:solidFill>
              </a:rPr>
              <a:t>：为非</a:t>
            </a:r>
            <a:r>
              <a:rPr lang="en-US" altLang="zh-CN">
                <a:solidFill>
                  <a:schemeClr val="bg1"/>
                </a:solidFill>
              </a:rPr>
              <a:t>GUI</a:t>
            </a:r>
            <a:r>
              <a:rPr lang="zh-CN" altLang="en-US">
                <a:solidFill>
                  <a:schemeClr val="bg1"/>
                </a:solidFill>
              </a:rPr>
              <a:t>应用程序提供事件循环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QGuiApplication</a:t>
            </a:r>
            <a:r>
              <a:rPr lang="zh-CN" altLang="en-US">
                <a:solidFill>
                  <a:schemeClr val="bg1"/>
                </a:solidFill>
              </a:rPr>
              <a:t>：为</a:t>
            </a:r>
            <a:r>
              <a:rPr lang="en-US" altLang="zh-CN">
                <a:solidFill>
                  <a:schemeClr val="bg1"/>
                </a:solidFill>
              </a:rPr>
              <a:t>GUI</a:t>
            </a:r>
            <a:r>
              <a:rPr lang="zh-CN" altLang="en-US">
                <a:solidFill>
                  <a:schemeClr val="bg1"/>
                </a:solidFill>
              </a:rPr>
              <a:t>应用程序提供事件循环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QApplication：为</a:t>
            </a:r>
            <a:r>
              <a:rPr lang="en-US" altLang="zh-CN">
                <a:solidFill>
                  <a:schemeClr val="bg1"/>
                </a:solidFill>
                <a:highlight>
                  <a:srgbClr val="0000FF"/>
                </a:highlight>
              </a:rPr>
              <a:t>Qt Widgets</a:t>
            </a:r>
            <a:r>
              <a:rPr lang="zh-CN" altLang="en-US">
                <a:solidFill>
                  <a:schemeClr val="bg1"/>
                </a:solidFill>
                <a:highlight>
                  <a:srgbClr val="0000FF"/>
                </a:highlight>
              </a:rPr>
              <a:t>模块的应用程序提供事件循环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128E8D2-75E3-68EF-73B9-4C76C5EE2DBF}"/>
              </a:ext>
            </a:extLst>
          </p:cNvPr>
          <p:cNvCxnSpPr>
            <a:cxnSpLocks/>
            <a:stCxn id="19" idx="0"/>
            <a:endCxn id="21" idx="2"/>
          </p:cNvCxnSpPr>
          <p:nvPr/>
        </p:nvCxnSpPr>
        <p:spPr>
          <a:xfrm flipV="1">
            <a:off x="8813800" y="2753850"/>
            <a:ext cx="0" cy="392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CB163EB-A4E6-025B-48EC-F9A28FDB3F86}"/>
              </a:ext>
            </a:extLst>
          </p:cNvPr>
          <p:cNvCxnSpPr>
            <a:cxnSpLocks/>
            <a:stCxn id="21" idx="0"/>
            <a:endCxn id="22" idx="2"/>
          </p:cNvCxnSpPr>
          <p:nvPr/>
        </p:nvCxnSpPr>
        <p:spPr>
          <a:xfrm flipV="1">
            <a:off x="8813800" y="1873468"/>
            <a:ext cx="10743" cy="51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B236B179-2693-27A4-1742-013D6CE18822}"/>
              </a:ext>
            </a:extLst>
          </p:cNvPr>
          <p:cNvSpPr txBox="1"/>
          <p:nvPr/>
        </p:nvSpPr>
        <p:spPr>
          <a:xfrm>
            <a:off x="7894903" y="822015"/>
            <a:ext cx="185928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effectLst/>
              </a:rPr>
              <a:t>QObject</a:t>
            </a:r>
            <a:endParaRPr lang="zh-CN" altLang="en-US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DC0326F-824E-82F4-CFBE-39FA76BB2AA6}"/>
              </a:ext>
            </a:extLst>
          </p:cNvPr>
          <p:cNvCxnSpPr>
            <a:stCxn id="22" idx="0"/>
            <a:endCxn id="72" idx="2"/>
          </p:cNvCxnSpPr>
          <p:nvPr/>
        </p:nvCxnSpPr>
        <p:spPr>
          <a:xfrm flipV="1">
            <a:off x="8824543" y="1191347"/>
            <a:ext cx="0" cy="312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551D733-A016-A501-62F5-508C1D43AAE8}"/>
              </a:ext>
            </a:extLst>
          </p:cNvPr>
          <p:cNvSpPr txBox="1"/>
          <p:nvPr/>
        </p:nvSpPr>
        <p:spPr>
          <a:xfrm>
            <a:off x="808530" y="2304245"/>
            <a:ext cx="6201967" cy="87588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除了继承</a:t>
            </a:r>
            <a:r>
              <a:rPr lang="en-US" altLang="zh-CN"/>
              <a:t>QGuiApplication</a:t>
            </a:r>
            <a:r>
              <a:rPr lang="zh-CN" altLang="en-US"/>
              <a:t>的功能以外，还需负责初始化</a:t>
            </a:r>
            <a:r>
              <a:rPr lang="en-US" altLang="zh-CN"/>
              <a:t>Qt Widgets</a:t>
            </a:r>
            <a:r>
              <a:rPr lang="zh-CN" altLang="en-US"/>
              <a:t>模块所需的资源，并提供更多的接口；</a:t>
            </a:r>
            <a:endParaRPr lang="en-US" altLang="zh-CN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5534FA5-9B02-156F-B09B-FFC09061E12A}"/>
              </a:ext>
            </a:extLst>
          </p:cNvPr>
          <p:cNvSpPr txBox="1"/>
          <p:nvPr/>
        </p:nvSpPr>
        <p:spPr>
          <a:xfrm>
            <a:off x="978369" y="3515353"/>
            <a:ext cx="846813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000080"/>
                </a:solidFill>
                <a:effectLst/>
              </a:rPr>
              <a:t>#include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&lt;QMainWindow&gt;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0080"/>
                </a:solidFill>
                <a:effectLst/>
              </a:rPr>
              <a:t>QMainWindow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b="1">
                <a:solidFill>
                  <a:srgbClr val="092E64"/>
                </a:solidFill>
                <a:effectLst/>
              </a:rPr>
              <a:t>w</a:t>
            </a:r>
            <a:r>
              <a:rPr lang="en-US" altLang="zh-CN"/>
              <a:t>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92E64"/>
                </a:solidFill>
                <a:effectLst/>
              </a:rPr>
              <a:t>w</a:t>
            </a:r>
            <a:r>
              <a:rPr lang="en-US" altLang="zh-CN"/>
              <a:t>.</a:t>
            </a:r>
            <a:r>
              <a:rPr lang="en-US" altLang="zh-CN">
                <a:solidFill>
                  <a:srgbClr val="00677C"/>
                </a:solidFill>
                <a:effectLst/>
              </a:rPr>
              <a:t>show</a:t>
            </a:r>
            <a:r>
              <a:rPr lang="en-US" altLang="zh-CN"/>
              <a:t>();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dumpObjectTree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dumpObjectInfo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4F0D24-FE74-67C3-53F7-BBE5AA18CC66}"/>
              </a:ext>
            </a:extLst>
          </p:cNvPr>
          <p:cNvSpPr txBox="1"/>
          <p:nvPr/>
        </p:nvSpPr>
        <p:spPr>
          <a:xfrm>
            <a:off x="1082752" y="7680019"/>
            <a:ext cx="8305087" cy="36933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QApplication:: </a:t>
            </a:r>
          </a:p>
          <a:p>
            <a:r>
              <a:rPr lang="en-US" altLang="zh-CN"/>
              <a:t>    QWindowsGuiEventDispatcher::QWindowsGuiEventDispatcher </a:t>
            </a:r>
          </a:p>
          <a:p>
            <a:r>
              <a:rPr lang="en-US" altLang="zh-CN"/>
              <a:t>    QSessionManager:: </a:t>
            </a:r>
          </a:p>
          <a:p>
            <a:r>
              <a:rPr lang="en-US" altLang="zh-CN"/>
              <a:t>    QWindowsVistaStyle::windowsvista </a:t>
            </a:r>
          </a:p>
          <a:p>
            <a:r>
              <a:rPr lang="en-US" altLang="zh-CN"/>
              <a:t>OBJECT QApplication::unnamed</a:t>
            </a:r>
          </a:p>
          <a:p>
            <a:r>
              <a:rPr lang="en-US" altLang="zh-CN"/>
              <a:t>  SIGNALS OUT</a:t>
            </a:r>
          </a:p>
          <a:p>
            <a:r>
              <a:rPr lang="en-US" altLang="zh-CN"/>
              <a:t>        signal: applicationNameChanged()</a:t>
            </a:r>
          </a:p>
          <a:p>
            <a:r>
              <a:rPr lang="en-US" altLang="zh-CN"/>
              <a:t>          &lt;functor or function pointer&gt;</a:t>
            </a:r>
          </a:p>
          <a:p>
            <a:r>
              <a:rPr lang="en-US" altLang="zh-CN"/>
              <a:t>        signal: applicationStateChanged(Qt::ApplicationState)</a:t>
            </a:r>
          </a:p>
          <a:p>
            <a:r>
              <a:rPr lang="en-US" altLang="zh-CN"/>
              <a:t>          &lt;functor or function pointer&gt;</a:t>
            </a:r>
          </a:p>
          <a:p>
            <a:r>
              <a:rPr lang="en-US" altLang="zh-CN"/>
              <a:t>  SIGNALS IN</a:t>
            </a:r>
          </a:p>
          <a:p>
            <a:r>
              <a:rPr lang="en-US" altLang="zh-CN"/>
              <a:t>          &lt;-- QApplication::unnamed &lt;unknown&gt;</a:t>
            </a:r>
          </a:p>
          <a:p>
            <a:r>
              <a:rPr lang="en-US" altLang="zh-CN"/>
              <a:t>          &lt;-- QApplication::unnamed &lt;unknown&gt;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274085-32F4-6B53-AC50-16E482402A8A}"/>
              </a:ext>
            </a:extLst>
          </p:cNvPr>
          <p:cNvSpPr txBox="1"/>
          <p:nvPr/>
        </p:nvSpPr>
        <p:spPr>
          <a:xfrm>
            <a:off x="5059680" y="5179044"/>
            <a:ext cx="415544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highlight>
                  <a:srgbClr val="FFFF00"/>
                </a:highlight>
              </a:rPr>
              <a:t>qApp</a:t>
            </a:r>
            <a:r>
              <a:rPr lang="zh-CN" altLang="en-US"/>
              <a:t>：应用程序对象的全局指针。只有当应用程序对象是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lang="zh-CN" altLang="en-US"/>
              <a:t>时才有效。</a:t>
            </a:r>
          </a:p>
        </p:txBody>
      </p:sp>
    </p:spTree>
    <p:extLst>
      <p:ext uri="{BB962C8B-B14F-4D97-AF65-F5344CB8AC3E}">
        <p14:creationId xmlns:p14="http://schemas.microsoft.com/office/powerpoint/2010/main" val="16444879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1340</TotalTime>
  <Words>676</Words>
  <Application>Microsoft Office PowerPoint</Application>
  <PresentationFormat>自定义</PresentationFormat>
  <Paragraphs>99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乐</cp:lastModifiedBy>
  <cp:revision>1448</cp:revision>
  <dcterms:created xsi:type="dcterms:W3CDTF">2020-06-26T01:00:00Z</dcterms:created>
  <dcterms:modified xsi:type="dcterms:W3CDTF">2022-07-08T01:27:49Z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