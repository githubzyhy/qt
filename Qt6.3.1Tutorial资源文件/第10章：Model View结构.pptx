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8" r:id="rId2"/>
    <p:sldId id="338" r:id="rId3"/>
    <p:sldId id="339" r:id="rId4"/>
    <p:sldId id="340" r:id="rId5"/>
    <p:sldId id="341" r:id="rId6"/>
    <p:sldId id="342" r:id="rId7"/>
    <p:sldId id="343" r:id="rId8"/>
    <p:sldId id="345" r:id="rId9"/>
    <p:sldId id="344" r:id="rId10"/>
    <p:sldId id="346" r:id="rId11"/>
  </p:sldIdLst>
  <p:sldSz cx="10625138" cy="14400213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">
          <p15:clr>
            <a:srgbClr val="A4A3A4"/>
          </p15:clr>
        </p15:guide>
        <p15:guide id="2" orient="horz" pos="45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3" autoAdjust="0"/>
    <p:restoredTop sz="95244" autoAdjust="0"/>
  </p:normalViewPr>
  <p:slideViewPr>
    <p:cSldViewPr snapToGrid="0" showGuides="1">
      <p:cViewPr>
        <p:scale>
          <a:sx n="100" d="100"/>
          <a:sy n="100" d="100"/>
        </p:scale>
        <p:origin x="912" y="-4108"/>
      </p:cViewPr>
      <p:guideLst>
        <p:guide pos="412"/>
        <p:guide orient="horz" pos="45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227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54208-A716-42FF-80CF-57B00CE66560}" type="datetimeFigureOut">
              <a:rPr lang="zh-CN" altLang="en-US" smtClean="0"/>
              <a:t>2023/8/2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B86B2-45FA-46FD-932F-E74808AB18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23T08:58:39.5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24575,'0'4'0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13B3F-2B31-4A61-B985-2117CDAFE2AD}" type="datetimeFigureOut">
              <a:rPr lang="zh-CN" altLang="en-US" smtClean="0"/>
              <a:t>2023/8/2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1143000"/>
            <a:ext cx="2276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0FF05-BDD8-42F0-BA90-04AD6ABB1C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1143000"/>
            <a:ext cx="22764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0FF05-BDD8-42F0-BA90-04AD6ABB1C0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0FF05-BDD8-42F0-BA90-04AD6ABB1C0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57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0FF05-BDD8-42F0-BA90-04AD6ABB1C0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72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2023/8/2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657" y="160559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59041" y="213096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screen"/>
          <a:srcRect l="3265" t="6325" r="4323" b="12927"/>
          <a:stretch>
            <a:fillRect/>
          </a:stretch>
        </p:blipFill>
        <p:spPr>
          <a:xfrm>
            <a:off x="2191043" y="1088639"/>
            <a:ext cx="6429671" cy="180741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41524" y="1358360"/>
            <a:ext cx="617022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>
                <a:solidFill>
                  <a:schemeClr val="bg1"/>
                </a:solidFill>
                <a:cs typeface="+mn-ea"/>
                <a:sym typeface="+mn-lt"/>
              </a:rPr>
              <a:t>Model/View</a:t>
            </a:r>
            <a:r>
              <a:rPr lang="zh-CN" altLang="en-US" sz="4000" b="1">
                <a:solidFill>
                  <a:schemeClr val="bg1"/>
                </a:solidFill>
                <a:cs typeface="+mn-ea"/>
                <a:sym typeface="+mn-lt"/>
              </a:rPr>
              <a:t>结构</a:t>
            </a:r>
          </a:p>
        </p:txBody>
      </p:sp>
      <p:grpSp>
        <p:nvGrpSpPr>
          <p:cNvPr id="60" name="组合 1274"/>
          <p:cNvGrpSpPr/>
          <p:nvPr/>
        </p:nvGrpSpPr>
        <p:grpSpPr>
          <a:xfrm>
            <a:off x="2441526" y="3237675"/>
            <a:ext cx="338686" cy="261779"/>
            <a:chOff x="5248276" y="1095375"/>
            <a:chExt cx="727075" cy="561976"/>
          </a:xfrm>
        </p:grpSpPr>
        <p:sp>
          <p:nvSpPr>
            <p:cNvPr id="61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2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3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4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5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6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7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8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9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0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1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2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3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4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5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6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7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8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9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0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1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2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3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5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6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7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8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9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0" name="文本框 89"/>
          <p:cNvSpPr txBox="1"/>
          <p:nvPr/>
        </p:nvSpPr>
        <p:spPr>
          <a:xfrm>
            <a:off x="2833453" y="3140572"/>
            <a:ext cx="2994875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40">
                <a:solidFill>
                  <a:schemeClr val="bg1"/>
                </a:solidFill>
                <a:cs typeface="+mn-ea"/>
                <a:sym typeface="+mn-lt"/>
              </a:rPr>
              <a:t>QT6 C++ 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开发教程</a:t>
            </a:r>
          </a:p>
        </p:txBody>
      </p:sp>
      <p:grpSp>
        <p:nvGrpSpPr>
          <p:cNvPr id="160" name="组合 1274"/>
          <p:cNvGrpSpPr/>
          <p:nvPr/>
        </p:nvGrpSpPr>
        <p:grpSpPr>
          <a:xfrm>
            <a:off x="6245741" y="3237675"/>
            <a:ext cx="338686" cy="261779"/>
            <a:chOff x="5248276" y="1095375"/>
            <a:chExt cx="727075" cy="561976"/>
          </a:xfrm>
        </p:grpSpPr>
        <p:sp>
          <p:nvSpPr>
            <p:cNvPr id="162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5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0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1" name="文本框 160"/>
          <p:cNvSpPr txBox="1"/>
          <p:nvPr/>
        </p:nvSpPr>
        <p:spPr>
          <a:xfrm>
            <a:off x="6637671" y="3140572"/>
            <a:ext cx="1553157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第</a:t>
            </a:r>
            <a:r>
              <a:rPr lang="en-US" altLang="zh-CN" sz="2440">
                <a:solidFill>
                  <a:schemeClr val="bg1"/>
                </a:solidFill>
                <a:cs typeface="+mn-ea"/>
                <a:sym typeface="+mn-lt"/>
              </a:rPr>
              <a:t>9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章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0" grpId="0"/>
      <p:bldP spid="1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6740" y="337820"/>
            <a:ext cx="91744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chemeClr val="accent3"/>
                </a:solidFill>
              </a:rPr>
              <a:t>Model/View</a:t>
            </a:r>
            <a:r>
              <a:rPr lang="zh-CN" altLang="en-US" sz="2000" b="1">
                <a:solidFill>
                  <a:schemeClr val="accent3"/>
                </a:solidFill>
              </a:rPr>
              <a:t>结构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0473DE-8EC4-4F62-8CC1-E201B0A7D29F}"/>
              </a:ext>
            </a:extLst>
          </p:cNvPr>
          <p:cNvSpPr/>
          <p:nvPr/>
        </p:nvSpPr>
        <p:spPr>
          <a:xfrm>
            <a:off x="7528560" y="812800"/>
            <a:ext cx="782320" cy="707886"/>
          </a:xfrm>
          <a:prstGeom prst="rect">
            <a:avLst/>
          </a:prstGeom>
          <a:ln>
            <a:prstDash val="sysDot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数据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C14764-31CF-45CA-A9E5-798A15DD160D}"/>
              </a:ext>
            </a:extLst>
          </p:cNvPr>
          <p:cNvSpPr/>
          <p:nvPr/>
        </p:nvSpPr>
        <p:spPr>
          <a:xfrm>
            <a:off x="7294880" y="2438400"/>
            <a:ext cx="1270000" cy="8331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Model</a:t>
            </a:r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797B4DA-B8BD-47D4-862E-33AB1AFB249C}"/>
              </a:ext>
            </a:extLst>
          </p:cNvPr>
          <p:cNvSpPr/>
          <p:nvPr/>
        </p:nvSpPr>
        <p:spPr>
          <a:xfrm>
            <a:off x="7294880" y="4084320"/>
            <a:ext cx="1270000" cy="8331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View</a:t>
            </a:r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1BADAE5-7A18-415E-ADB8-4F8D8011277D}"/>
              </a:ext>
            </a:extLst>
          </p:cNvPr>
          <p:cNvSpPr/>
          <p:nvPr/>
        </p:nvSpPr>
        <p:spPr>
          <a:xfrm>
            <a:off x="9164320" y="3271520"/>
            <a:ext cx="792480" cy="812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代理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88793FE-947A-4C08-965A-A0054382CE41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7919720" y="1520686"/>
            <a:ext cx="10160" cy="9177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110F035-93BD-4D8D-82B0-2C2A042C5EE4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7929880" y="3271520"/>
            <a:ext cx="0" cy="812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</p:cxn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73B21AF6-A04C-487A-8C6D-72A0B389DFFE}"/>
              </a:ext>
            </a:extLst>
          </p:cNvPr>
          <p:cNvCxnSpPr>
            <a:stCxn id="5" idx="3"/>
            <a:endCxn id="7" idx="0"/>
          </p:cNvCxnSpPr>
          <p:nvPr/>
        </p:nvCxnSpPr>
        <p:spPr>
          <a:xfrm>
            <a:off x="8564880" y="2854960"/>
            <a:ext cx="995680" cy="416560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</p:cxnSp>
      <p:cxnSp>
        <p:nvCxnSpPr>
          <p:cNvPr id="17" name="连接符: 曲线 16">
            <a:extLst>
              <a:ext uri="{FF2B5EF4-FFF2-40B4-BE49-F238E27FC236}">
                <a16:creationId xmlns:a16="http://schemas.microsoft.com/office/drawing/2014/main" id="{4C8725FD-61B5-4D73-82F0-820016902F91}"/>
              </a:ext>
            </a:extLst>
          </p:cNvPr>
          <p:cNvCxnSpPr>
            <a:stCxn id="6" idx="3"/>
            <a:endCxn id="7" idx="4"/>
          </p:cNvCxnSpPr>
          <p:nvPr/>
        </p:nvCxnSpPr>
        <p:spPr>
          <a:xfrm flipV="1">
            <a:off x="8564880" y="4084320"/>
            <a:ext cx="995680" cy="416560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069D753C-67FE-4C22-A650-511FEC50D323}"/>
              </a:ext>
            </a:extLst>
          </p:cNvPr>
          <p:cNvSpPr txBox="1"/>
          <p:nvPr/>
        </p:nvSpPr>
        <p:spPr>
          <a:xfrm>
            <a:off x="7294880" y="348802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显示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8861886-8186-48F9-BB64-AC1FD86A0A42}"/>
              </a:ext>
            </a:extLst>
          </p:cNvPr>
          <p:cNvSpPr txBox="1"/>
          <p:nvPr/>
        </p:nvSpPr>
        <p:spPr>
          <a:xfrm>
            <a:off x="9061053" y="439226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显示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DF63643-F30C-4A7D-B5A0-AEA0AEEB5A6B}"/>
              </a:ext>
            </a:extLst>
          </p:cNvPr>
          <p:cNvSpPr txBox="1"/>
          <p:nvPr/>
        </p:nvSpPr>
        <p:spPr>
          <a:xfrm>
            <a:off x="8911193" y="2534558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编辑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24E6602-A308-4703-827E-AB8743DDDD00}"/>
              </a:ext>
            </a:extLst>
          </p:cNvPr>
          <p:cNvSpPr/>
          <p:nvPr/>
        </p:nvSpPr>
        <p:spPr>
          <a:xfrm>
            <a:off x="600273" y="1358910"/>
            <a:ext cx="6108700" cy="347715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chemeClr val="bg1"/>
                </a:solidFill>
                <a:effectLst/>
                <a:highlight>
                  <a:srgbClr val="800000"/>
                </a:highlight>
                <a:latin typeface="Helvetica Neue"/>
              </a:rPr>
              <a:t>数据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：如数据库的一个数据表或</a:t>
            </a:r>
            <a:r>
              <a:rPr lang="en-US" altLang="zh-CN" b="0" i="0">
                <a:solidFill>
                  <a:schemeClr val="bg1"/>
                </a:solidFill>
                <a:effectLst/>
                <a:latin typeface="Helvetica Neue"/>
              </a:rPr>
              <a:t>SQL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查询结果，内存中的一个 </a:t>
            </a:r>
            <a:r>
              <a:rPr lang="en-US" altLang="zh-CN" b="0" i="0">
                <a:solidFill>
                  <a:schemeClr val="bg1"/>
                </a:solidFill>
                <a:effectLst/>
                <a:latin typeface="Helvetica Neue"/>
              </a:rPr>
              <a:t>StringList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，或磁盘文件结构等。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chemeClr val="bg1"/>
                </a:solidFill>
                <a:effectLst/>
                <a:highlight>
                  <a:srgbClr val="800000"/>
                </a:highlight>
                <a:latin typeface="Helvetica Neue"/>
              </a:rPr>
              <a:t>Model</a:t>
            </a:r>
            <a:r>
              <a:rPr lang="zh-CN" altLang="en-US">
                <a:solidFill>
                  <a:schemeClr val="bg1"/>
                </a:solidFill>
                <a:latin typeface="Helvetica Neue"/>
              </a:rPr>
              <a:t>：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与数据通信，并为视图组件提供数据接口。</a:t>
            </a:r>
            <a:endParaRPr lang="en-US" altLang="zh-CN" b="0" i="0">
              <a:solidFill>
                <a:schemeClr val="bg1"/>
              </a:solidFill>
              <a:effectLst/>
              <a:latin typeface="Helvetica Neue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chemeClr val="bg1"/>
                </a:solidFill>
                <a:effectLst/>
                <a:highlight>
                  <a:srgbClr val="800000"/>
                </a:highlight>
                <a:latin typeface="Helvetica Neue"/>
              </a:rPr>
              <a:t>View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：是屏幕上的界面组件，视图从数据模型获得每个数据项的</a:t>
            </a:r>
            <a:r>
              <a:rPr lang="zh-CN" altLang="en-US" b="0" i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Helvetica Neue"/>
              </a:rPr>
              <a:t>模型索引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（</a:t>
            </a:r>
            <a:r>
              <a:rPr lang="en-US" altLang="zh-CN" b="0" i="0">
                <a:solidFill>
                  <a:schemeClr val="bg1"/>
                </a:solidFill>
                <a:effectLst/>
                <a:latin typeface="Helvetica Neue"/>
              </a:rPr>
              <a:t>model index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），通过</a:t>
            </a:r>
            <a:r>
              <a:rPr lang="zh-CN" altLang="en-US" b="0" i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Helvetica Neue"/>
              </a:rPr>
              <a:t>模型索引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获取数据</a:t>
            </a:r>
            <a:endParaRPr lang="en-US" altLang="zh-CN" b="0" i="0">
              <a:solidFill>
                <a:schemeClr val="bg1"/>
              </a:solidFill>
              <a:effectLst/>
              <a:latin typeface="Helvetica Neue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chemeClr val="bg1"/>
                </a:solidFill>
                <a:effectLst/>
                <a:highlight>
                  <a:srgbClr val="800000"/>
                </a:highlight>
                <a:latin typeface="Helvetica Neue"/>
              </a:rPr>
              <a:t>代理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：定制数据的界面显示和编辑方式。在标准的视图组件中，代理功能显示一个数据，当数据被编辑时，提供一个编辑器，一般是</a:t>
            </a:r>
            <a:r>
              <a:rPr lang="en-US" altLang="zh-CN" b="0" i="0">
                <a:solidFill>
                  <a:schemeClr val="bg1"/>
                </a:solidFill>
                <a:effectLst/>
                <a:latin typeface="Helvetica Neue"/>
              </a:rPr>
              <a:t>QLineEdit 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35273CE-32B3-41EE-940B-801CF5879B6C}"/>
              </a:ext>
            </a:extLst>
          </p:cNvPr>
          <p:cNvSpPr txBox="1"/>
          <p:nvPr/>
        </p:nvSpPr>
        <p:spPr>
          <a:xfrm>
            <a:off x="5262880" y="5168654"/>
            <a:ext cx="469392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模型、视图和代理之间使用信号和槽通信。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C5EF584-7AAE-455B-92E4-F35E826E55AC}"/>
              </a:ext>
            </a:extLst>
          </p:cNvPr>
          <p:cNvSpPr txBox="1"/>
          <p:nvPr/>
        </p:nvSpPr>
        <p:spPr>
          <a:xfrm>
            <a:off x="751840" y="580136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数据模型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graphicFrame>
        <p:nvGraphicFramePr>
          <p:cNvPr id="25" name="表格 25">
            <a:extLst>
              <a:ext uri="{FF2B5EF4-FFF2-40B4-BE49-F238E27FC236}">
                <a16:creationId xmlns:a16="http://schemas.microsoft.com/office/drawing/2014/main" id="{DBD62171-B4E6-4DA4-8A81-C0173D74D627}"/>
              </a:ext>
            </a:extLst>
          </p:cNvPr>
          <p:cNvGraphicFramePr>
            <a:graphicFrameLocks noGrp="1"/>
          </p:cNvGraphicFramePr>
          <p:nvPr/>
        </p:nvGraphicFramePr>
        <p:xfrm>
          <a:off x="1977626" y="5815767"/>
          <a:ext cx="7781054" cy="3125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534">
                  <a:extLst>
                    <a:ext uri="{9D8B030D-6E8A-4147-A177-3AD203B41FA5}">
                      <a16:colId xmlns:a16="http://schemas.microsoft.com/office/drawing/2014/main" val="49392001"/>
                    </a:ext>
                  </a:extLst>
                </a:gridCol>
                <a:gridCol w="5430520">
                  <a:extLst>
                    <a:ext uri="{9D8B030D-6E8A-4147-A177-3AD203B41FA5}">
                      <a16:colId xmlns:a16="http://schemas.microsoft.com/office/drawing/2014/main" val="34240400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Model </a:t>
                      </a: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</a:rPr>
                        <a:t>类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</a:rPr>
                        <a:t>用途</a:t>
                      </a:r>
                    </a:p>
                  </a:txBody>
                  <a:tcPr marL="38100" marR="38100" marT="53340" marB="53340" anchor="ctr"/>
                </a:tc>
                <a:extLst>
                  <a:ext uri="{0D108BD9-81ED-4DB2-BD59-A6C34878D82A}">
                    <a16:rowId xmlns:a16="http://schemas.microsoft.com/office/drawing/2014/main" val="1212407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QStringListModel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用于处理字符串列表数据的数据模型类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60238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QS</a:t>
                      </a:r>
                      <a:r>
                        <a:rPr lang="en-US" altLang="zh-CN">
                          <a:effectLst/>
                        </a:rPr>
                        <a:t>tan</a:t>
                      </a:r>
                      <a:r>
                        <a:rPr lang="en-US">
                          <a:effectLst/>
                        </a:rPr>
                        <a:t>dardltemModel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标准的基于项数据的数据模型类，每个项数据可以是任何数据类型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539948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QFileSystemModel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计算机上文件系统的数据模型类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50234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QSortFilterProxyModel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与其他数据模型结合，提供排序和过滤功能的数据模型类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701020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QSqlQueryModel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用于数据库</a:t>
                      </a:r>
                      <a:r>
                        <a:rPr lang="en-US" altLang="zh-CN">
                          <a:effectLst/>
                        </a:rPr>
                        <a:t>SQL</a:t>
                      </a:r>
                      <a:r>
                        <a:rPr lang="zh-CN" altLang="en-US">
                          <a:effectLst/>
                        </a:rPr>
                        <a:t>查询结果的数据模型类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376185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QSqlTableModel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用于数据库的一个数据表的数据模型类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11880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QSqlRelationalTableModel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用于关系型数据表的数据模型类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823652557"/>
                  </a:ext>
                </a:extLst>
              </a:tr>
            </a:tbl>
          </a:graphicData>
        </a:graphic>
      </p:graphicFrame>
      <p:sp>
        <p:nvSpPr>
          <p:cNvPr id="30" name="文本框 29">
            <a:extLst>
              <a:ext uri="{FF2B5EF4-FFF2-40B4-BE49-F238E27FC236}">
                <a16:creationId xmlns:a16="http://schemas.microsoft.com/office/drawing/2014/main" id="{1E11C64D-7385-4650-ABA5-80FAA20FFB4C}"/>
              </a:ext>
            </a:extLst>
          </p:cNvPr>
          <p:cNvSpPr txBox="1"/>
          <p:nvPr/>
        </p:nvSpPr>
        <p:spPr>
          <a:xfrm rot="10800000">
            <a:off x="586740" y="9751459"/>
            <a:ext cx="492443" cy="239776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eaVert" wrap="squar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QAbstractItemmodel</a:t>
            </a:r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DC7FA8C-0573-48DA-988A-4980AD45B80A}"/>
              </a:ext>
            </a:extLst>
          </p:cNvPr>
          <p:cNvSpPr/>
          <p:nvPr/>
        </p:nvSpPr>
        <p:spPr>
          <a:xfrm>
            <a:off x="1478280" y="9488231"/>
            <a:ext cx="2159000" cy="4267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QAbstractListModel</a:t>
            </a:r>
            <a:endParaRPr lang="zh-CN" altLang="en-US" sz="160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3FD134D-9E8A-45FE-8008-DC08F52C61C1}"/>
              </a:ext>
            </a:extLst>
          </p:cNvPr>
          <p:cNvSpPr/>
          <p:nvPr/>
        </p:nvSpPr>
        <p:spPr>
          <a:xfrm>
            <a:off x="1478280" y="10143551"/>
            <a:ext cx="2159000" cy="4267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QAbstractProxyModel</a:t>
            </a:r>
            <a:endParaRPr lang="zh-CN" altLang="en-US" sz="16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87B34A8-E0E6-4446-82E4-2DBA09FB9CA2}"/>
              </a:ext>
            </a:extLst>
          </p:cNvPr>
          <p:cNvSpPr/>
          <p:nvPr/>
        </p:nvSpPr>
        <p:spPr>
          <a:xfrm>
            <a:off x="1478280" y="10798871"/>
            <a:ext cx="2159000" cy="4267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QAbstractTableModel</a:t>
            </a:r>
            <a:endParaRPr lang="zh-CN" altLang="en-US" sz="160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620EAB0-C238-484B-B690-2FA96E6165CB}"/>
              </a:ext>
            </a:extLst>
          </p:cNvPr>
          <p:cNvSpPr/>
          <p:nvPr/>
        </p:nvSpPr>
        <p:spPr>
          <a:xfrm>
            <a:off x="1478280" y="11454191"/>
            <a:ext cx="2159000" cy="4267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QStandardItemModel</a:t>
            </a:r>
            <a:endParaRPr lang="zh-CN" altLang="en-US" sz="160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DFEA66C-A50B-446F-914F-B65ED71BF030}"/>
              </a:ext>
            </a:extLst>
          </p:cNvPr>
          <p:cNvSpPr/>
          <p:nvPr/>
        </p:nvSpPr>
        <p:spPr>
          <a:xfrm>
            <a:off x="1478280" y="12109511"/>
            <a:ext cx="2159000" cy="4267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effectLst/>
              </a:rPr>
              <a:t>QFileSystemModel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91C8F68-8C60-488F-857F-4CD4A1576E7E}"/>
              </a:ext>
            </a:extLst>
          </p:cNvPr>
          <p:cNvSpPr/>
          <p:nvPr/>
        </p:nvSpPr>
        <p:spPr>
          <a:xfrm>
            <a:off x="3912818" y="9490104"/>
            <a:ext cx="2114985" cy="4267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QStringListModel</a:t>
            </a:r>
            <a:endParaRPr lang="zh-CN" altLang="en-US" sz="16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706D00F-FFD2-4CDE-ABD0-AFDEBDBD49A1}"/>
              </a:ext>
            </a:extLst>
          </p:cNvPr>
          <p:cNvSpPr/>
          <p:nvPr/>
        </p:nvSpPr>
        <p:spPr>
          <a:xfrm>
            <a:off x="3912818" y="10138153"/>
            <a:ext cx="2114985" cy="4267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QSortFilterProxyModel</a:t>
            </a:r>
            <a:endParaRPr lang="zh-CN" altLang="en-US" sz="160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78082D2-03F8-4090-9803-8934819935B6}"/>
              </a:ext>
            </a:extLst>
          </p:cNvPr>
          <p:cNvSpPr/>
          <p:nvPr/>
        </p:nvSpPr>
        <p:spPr>
          <a:xfrm>
            <a:off x="3912818" y="10798394"/>
            <a:ext cx="2088152" cy="4267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QSqlQueryModel</a:t>
            </a:r>
            <a:endParaRPr lang="zh-CN" altLang="en-US" sz="160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A18E692-3BB8-4045-81F4-DBE472261476}"/>
              </a:ext>
            </a:extLst>
          </p:cNvPr>
          <p:cNvSpPr/>
          <p:nvPr/>
        </p:nvSpPr>
        <p:spPr>
          <a:xfrm>
            <a:off x="6216698" y="10798394"/>
            <a:ext cx="1805383" cy="4267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QSqlTableModel</a:t>
            </a:r>
            <a:endParaRPr lang="zh-CN" altLang="en-US" sz="160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42D47F2-C9D5-48AF-B747-AC1213BECFC0}"/>
              </a:ext>
            </a:extLst>
          </p:cNvPr>
          <p:cNvSpPr/>
          <p:nvPr/>
        </p:nvSpPr>
        <p:spPr>
          <a:xfrm>
            <a:off x="8199555" y="10798394"/>
            <a:ext cx="2120902" cy="4267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effectLst/>
              </a:rPr>
              <a:t>QSqlRelationalTableModel</a:t>
            </a:r>
            <a:endParaRPr lang="zh-CN" altLang="en-US" sz="1600"/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8075C1E-A42A-453E-A2DB-3FB55993FD0E}"/>
              </a:ext>
            </a:extLst>
          </p:cNvPr>
          <p:cNvCxnSpPr>
            <a:cxnSpLocks/>
          </p:cNvCxnSpPr>
          <p:nvPr/>
        </p:nvCxnSpPr>
        <p:spPr>
          <a:xfrm>
            <a:off x="1270000" y="9701591"/>
            <a:ext cx="0" cy="2621280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D291F383-B875-4978-900C-487C8262958B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1270000" y="9691272"/>
            <a:ext cx="208280" cy="10319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43165EA8-3AFA-484D-AA84-9268514CDF45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1270000" y="12322871"/>
            <a:ext cx="208280" cy="10319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DC83B4BE-B40E-469D-98BC-5125C7BD70D6}"/>
              </a:ext>
            </a:extLst>
          </p:cNvPr>
          <p:cNvCxnSpPr>
            <a:endCxn id="33" idx="1"/>
          </p:cNvCxnSpPr>
          <p:nvPr/>
        </p:nvCxnSpPr>
        <p:spPr>
          <a:xfrm>
            <a:off x="1270000" y="10351513"/>
            <a:ext cx="208280" cy="5398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36BEC357-D618-4A95-98A9-A2DDF75C9920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1270000" y="11011754"/>
            <a:ext cx="208280" cy="477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1958DB3C-55DA-4A4C-8E13-335CC46B6B30}"/>
              </a:ext>
            </a:extLst>
          </p:cNvPr>
          <p:cNvCxnSpPr>
            <a:endCxn id="35" idx="1"/>
          </p:cNvCxnSpPr>
          <p:nvPr/>
        </p:nvCxnSpPr>
        <p:spPr>
          <a:xfrm>
            <a:off x="1270000" y="11667551"/>
            <a:ext cx="208280" cy="0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A6E9C5C8-B025-4B59-B60F-510E6E5DE360}"/>
              </a:ext>
            </a:extLst>
          </p:cNvPr>
          <p:cNvCxnSpPr>
            <a:cxnSpLocks/>
            <a:stCxn id="31" idx="3"/>
            <a:endCxn id="37" idx="1"/>
          </p:cNvCxnSpPr>
          <p:nvPr/>
        </p:nvCxnSpPr>
        <p:spPr>
          <a:xfrm>
            <a:off x="3637280" y="9701591"/>
            <a:ext cx="275538" cy="1873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3C8C8CF7-7C27-4BE4-A603-050C02729E08}"/>
              </a:ext>
            </a:extLst>
          </p:cNvPr>
          <p:cNvCxnSpPr>
            <a:stCxn id="33" idx="3"/>
            <a:endCxn id="38" idx="1"/>
          </p:cNvCxnSpPr>
          <p:nvPr/>
        </p:nvCxnSpPr>
        <p:spPr>
          <a:xfrm flipV="1">
            <a:off x="3637280" y="10351513"/>
            <a:ext cx="275538" cy="5398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1028" name="直接连接符 1027">
            <a:extLst>
              <a:ext uri="{FF2B5EF4-FFF2-40B4-BE49-F238E27FC236}">
                <a16:creationId xmlns:a16="http://schemas.microsoft.com/office/drawing/2014/main" id="{A03B936B-38F2-4BA1-998C-B88C82A578E3}"/>
              </a:ext>
            </a:extLst>
          </p:cNvPr>
          <p:cNvCxnSpPr>
            <a:cxnSpLocks/>
            <a:stCxn id="34" idx="3"/>
            <a:endCxn id="39" idx="1"/>
          </p:cNvCxnSpPr>
          <p:nvPr/>
        </p:nvCxnSpPr>
        <p:spPr>
          <a:xfrm flipV="1">
            <a:off x="3637280" y="11011754"/>
            <a:ext cx="275538" cy="477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1030" name="直接连接符 1029">
            <a:extLst>
              <a:ext uri="{FF2B5EF4-FFF2-40B4-BE49-F238E27FC236}">
                <a16:creationId xmlns:a16="http://schemas.microsoft.com/office/drawing/2014/main" id="{6C9F3D5D-1878-4A60-B47C-0289CC60EA29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6000970" y="11011754"/>
            <a:ext cx="215728" cy="0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</p:cxnSp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3241AADD-1160-4AE3-B745-C7312B9E9E72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8022081" y="11011754"/>
            <a:ext cx="177474" cy="0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3D216FB6-FE4B-4ACD-84B4-5B99FDB7739D}"/>
              </a:ext>
            </a:extLst>
          </p:cNvPr>
          <p:cNvCxnSpPr>
            <a:cxnSpLocks/>
            <a:stCxn id="30" idx="1"/>
          </p:cNvCxnSpPr>
          <p:nvPr/>
        </p:nvCxnSpPr>
        <p:spPr>
          <a:xfrm flipV="1">
            <a:off x="1079183" y="10940020"/>
            <a:ext cx="199549" cy="10319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CE01C964-4E2B-93EB-2E74-5FB406115E80}"/>
              </a:ext>
            </a:extLst>
          </p:cNvPr>
          <p:cNvSpPr txBox="1"/>
          <p:nvPr/>
        </p:nvSpPr>
        <p:spPr>
          <a:xfrm>
            <a:off x="7294879" y="174014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索引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4E782D0-E7EF-D7E8-95BA-FEB803674903}"/>
              </a:ext>
            </a:extLst>
          </p:cNvPr>
          <p:cNvSpPr txBox="1"/>
          <p:nvPr/>
        </p:nvSpPr>
        <p:spPr>
          <a:xfrm>
            <a:off x="600273" y="905772"/>
            <a:ext cx="5311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类似</a:t>
            </a:r>
            <a:r>
              <a:rPr lang="zh-CN" altLang="en-US">
                <a:solidFill>
                  <a:schemeClr val="bg1"/>
                </a:solidFill>
                <a:highlight>
                  <a:srgbClr val="FF0000"/>
                </a:highlight>
              </a:rPr>
              <a:t>Model</a:t>
            </a:r>
            <a:r>
              <a:rPr lang="zh-CN" altLang="en-US">
                <a:solidFill>
                  <a:schemeClr val="bg1"/>
                </a:solidFill>
              </a:rPr>
              <a:t>-</a:t>
            </a:r>
            <a:r>
              <a:rPr lang="zh-CN" altLang="en-US">
                <a:solidFill>
                  <a:schemeClr val="bg1"/>
                </a:solidFill>
                <a:highlight>
                  <a:srgbClr val="FF00FF"/>
                </a:highlight>
              </a:rPr>
              <a:t>View-Controller </a:t>
            </a:r>
            <a:r>
              <a:rPr lang="zh-CN" altLang="en-US">
                <a:solidFill>
                  <a:schemeClr val="bg1"/>
                </a:solidFill>
              </a:rPr>
              <a:t>(MVC)设计模式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2C5EF584-7AAE-455B-92E4-F35E826E55AC}"/>
              </a:ext>
            </a:extLst>
          </p:cNvPr>
          <p:cNvSpPr txBox="1"/>
          <p:nvPr/>
        </p:nvSpPr>
        <p:spPr>
          <a:xfrm>
            <a:off x="751840" y="990818"/>
            <a:ext cx="69301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b="1" i="0">
                <a:solidFill>
                  <a:schemeClr val="bg1"/>
                </a:solidFill>
                <a:effectLst/>
                <a:latin typeface="Helvetica Neue"/>
              </a:rPr>
              <a:t>视图组件：</a:t>
            </a:r>
            <a:r>
              <a:rPr lang="zh-CN" altLang="en-US" sz="2000" b="0" i="0">
                <a:solidFill>
                  <a:schemeClr val="bg1"/>
                </a:solidFill>
                <a:effectLst/>
                <a:latin typeface="Helvetica Neue"/>
              </a:rPr>
              <a:t>显示数据时，只需调用视图类的 </a:t>
            </a:r>
            <a:r>
              <a:rPr lang="en-US" altLang="zh-CN" sz="2000" b="0" i="0">
                <a:solidFill>
                  <a:schemeClr val="bg1"/>
                </a:solidFill>
                <a:effectLst/>
                <a:latin typeface="Helvetica Neue"/>
              </a:rPr>
              <a:t>setModel() </a:t>
            </a:r>
            <a:r>
              <a:rPr lang="zh-CN" altLang="en-US" sz="2000" b="0" i="0">
                <a:solidFill>
                  <a:schemeClr val="bg1"/>
                </a:solidFill>
                <a:effectLst/>
                <a:latin typeface="Helvetica Neue"/>
              </a:rPr>
              <a:t>函数</a:t>
            </a:r>
            <a:endParaRPr lang="zh-CN" altLang="en-US" sz="2000" b="1" i="0">
              <a:solidFill>
                <a:schemeClr val="bg1"/>
              </a:solidFill>
              <a:effectLst/>
              <a:latin typeface="Helvetica Neue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E11C64D-7385-4650-ABA5-80FAA20FFB4C}"/>
              </a:ext>
            </a:extLst>
          </p:cNvPr>
          <p:cNvSpPr txBox="1"/>
          <p:nvPr/>
        </p:nvSpPr>
        <p:spPr>
          <a:xfrm rot="10800000">
            <a:off x="857015" y="1875485"/>
            <a:ext cx="492443" cy="239776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eaVert" wrap="square" rtlCol="0">
            <a:spAutoFit/>
          </a:bodyPr>
          <a:lstStyle/>
          <a:p>
            <a:r>
              <a:rPr lang="en-US" altLang="zh-CN" sz="2000" b="0" i="0">
                <a:solidFill>
                  <a:schemeClr val="bg1"/>
                </a:solidFill>
                <a:effectLst/>
                <a:latin typeface="Helvetica Neue"/>
              </a:rPr>
              <a:t> QAbstractItemView</a:t>
            </a:r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DC7FA8C-0573-48DA-988A-4980AD45B80A}"/>
              </a:ext>
            </a:extLst>
          </p:cNvPr>
          <p:cNvSpPr/>
          <p:nvPr/>
        </p:nvSpPr>
        <p:spPr>
          <a:xfrm>
            <a:off x="1748555" y="1612257"/>
            <a:ext cx="2159000" cy="4267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highlight>
                  <a:srgbClr val="800000"/>
                </a:highlight>
              </a:rPr>
              <a:t>QListView</a:t>
            </a:r>
            <a:endParaRPr lang="zh-CN" altLang="en-US" sz="2000">
              <a:highlight>
                <a:srgbClr val="800000"/>
              </a:highlight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3FD134D-9E8A-45FE-8008-DC08F52C61C1}"/>
              </a:ext>
            </a:extLst>
          </p:cNvPr>
          <p:cNvSpPr/>
          <p:nvPr/>
        </p:nvSpPr>
        <p:spPr>
          <a:xfrm>
            <a:off x="1748555" y="2267577"/>
            <a:ext cx="2159000" cy="4267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highlight>
                  <a:srgbClr val="800000"/>
                </a:highlight>
              </a:rPr>
              <a:t>QTableView</a:t>
            </a:r>
            <a:endParaRPr lang="zh-CN" altLang="en-US" sz="2000">
              <a:highlight>
                <a:srgbClr val="800000"/>
              </a:highlight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87B34A8-E0E6-4446-82E4-2DBA09FB9CA2}"/>
              </a:ext>
            </a:extLst>
          </p:cNvPr>
          <p:cNvSpPr/>
          <p:nvPr/>
        </p:nvSpPr>
        <p:spPr>
          <a:xfrm>
            <a:off x="1748555" y="2922897"/>
            <a:ext cx="2159000" cy="4267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highlight>
                  <a:srgbClr val="800000"/>
                </a:highlight>
              </a:rPr>
              <a:t>QTreeView</a:t>
            </a:r>
            <a:endParaRPr lang="zh-CN" altLang="en-US" sz="2000">
              <a:highlight>
                <a:srgbClr val="800000"/>
              </a:highlight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620EAB0-C238-484B-B690-2FA96E6165CB}"/>
              </a:ext>
            </a:extLst>
          </p:cNvPr>
          <p:cNvSpPr/>
          <p:nvPr/>
        </p:nvSpPr>
        <p:spPr>
          <a:xfrm>
            <a:off x="1748555" y="3578217"/>
            <a:ext cx="2159000" cy="4267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highlight>
                  <a:srgbClr val="800000"/>
                </a:highlight>
              </a:rPr>
              <a:t>QColumnView</a:t>
            </a:r>
            <a:endParaRPr lang="zh-CN" altLang="en-US" sz="2000">
              <a:highlight>
                <a:srgbClr val="800000"/>
              </a:highlight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DFEA66C-A50B-446F-914F-B65ED71BF030}"/>
              </a:ext>
            </a:extLst>
          </p:cNvPr>
          <p:cNvSpPr/>
          <p:nvPr/>
        </p:nvSpPr>
        <p:spPr>
          <a:xfrm>
            <a:off x="1748555" y="4233537"/>
            <a:ext cx="2159000" cy="4267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effectLst/>
                <a:highlight>
                  <a:srgbClr val="800000"/>
                </a:highlight>
              </a:rPr>
              <a:t>QHeaderView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91C8F68-8C60-488F-857F-4CD4A1576E7E}"/>
              </a:ext>
            </a:extLst>
          </p:cNvPr>
          <p:cNvSpPr/>
          <p:nvPr/>
        </p:nvSpPr>
        <p:spPr>
          <a:xfrm>
            <a:off x="4183093" y="1614130"/>
            <a:ext cx="2114985" cy="4267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highlight>
                  <a:srgbClr val="000080"/>
                </a:highlight>
              </a:rPr>
              <a:t>QListWidget</a:t>
            </a:r>
            <a:endParaRPr lang="zh-CN" altLang="en-US" sz="2000">
              <a:highlight>
                <a:srgbClr val="000080"/>
              </a:highlight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706D00F-FFD2-4CDE-ABD0-AFDEBDBD49A1}"/>
              </a:ext>
            </a:extLst>
          </p:cNvPr>
          <p:cNvSpPr/>
          <p:nvPr/>
        </p:nvSpPr>
        <p:spPr>
          <a:xfrm>
            <a:off x="4183093" y="2262179"/>
            <a:ext cx="2114985" cy="4267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highlight>
                  <a:srgbClr val="000080"/>
                </a:highlight>
              </a:rPr>
              <a:t>QTableWidget</a:t>
            </a:r>
            <a:endParaRPr lang="zh-CN" altLang="en-US" sz="2000">
              <a:highlight>
                <a:srgbClr val="000080"/>
              </a:highlight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78082D2-03F8-4090-9803-8934819935B6}"/>
              </a:ext>
            </a:extLst>
          </p:cNvPr>
          <p:cNvSpPr/>
          <p:nvPr/>
        </p:nvSpPr>
        <p:spPr>
          <a:xfrm>
            <a:off x="4183093" y="2922420"/>
            <a:ext cx="2088152" cy="4267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highlight>
                  <a:srgbClr val="000080"/>
                </a:highlight>
              </a:rPr>
              <a:t>QTreeWidget</a:t>
            </a:r>
            <a:endParaRPr lang="zh-CN" altLang="en-US" sz="2000">
              <a:highlight>
                <a:srgbClr val="000080"/>
              </a:highlight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8075C1E-A42A-453E-A2DB-3FB55993FD0E}"/>
              </a:ext>
            </a:extLst>
          </p:cNvPr>
          <p:cNvCxnSpPr>
            <a:cxnSpLocks/>
          </p:cNvCxnSpPr>
          <p:nvPr/>
        </p:nvCxnSpPr>
        <p:spPr>
          <a:xfrm>
            <a:off x="1540275" y="1825617"/>
            <a:ext cx="0" cy="2621280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D291F383-B875-4978-900C-487C8262958B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1540275" y="1815298"/>
            <a:ext cx="208280" cy="10319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43165EA8-3AFA-484D-AA84-9268514CDF45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1540275" y="4446897"/>
            <a:ext cx="208280" cy="10319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DC83B4BE-B40E-469D-98BC-5125C7BD70D6}"/>
              </a:ext>
            </a:extLst>
          </p:cNvPr>
          <p:cNvCxnSpPr>
            <a:endCxn id="33" idx="1"/>
          </p:cNvCxnSpPr>
          <p:nvPr/>
        </p:nvCxnSpPr>
        <p:spPr>
          <a:xfrm>
            <a:off x="1540275" y="2475539"/>
            <a:ext cx="208280" cy="5398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36BEC357-D618-4A95-98A9-A2DDF75C9920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1540275" y="3135780"/>
            <a:ext cx="208280" cy="477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1958DB3C-55DA-4A4C-8E13-335CC46B6B30}"/>
              </a:ext>
            </a:extLst>
          </p:cNvPr>
          <p:cNvCxnSpPr>
            <a:endCxn id="35" idx="1"/>
          </p:cNvCxnSpPr>
          <p:nvPr/>
        </p:nvCxnSpPr>
        <p:spPr>
          <a:xfrm>
            <a:off x="1540275" y="3791577"/>
            <a:ext cx="208280" cy="0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A6E9C5C8-B025-4B59-B60F-510E6E5DE360}"/>
              </a:ext>
            </a:extLst>
          </p:cNvPr>
          <p:cNvCxnSpPr>
            <a:cxnSpLocks/>
            <a:stCxn id="31" idx="3"/>
            <a:endCxn id="37" idx="1"/>
          </p:cNvCxnSpPr>
          <p:nvPr/>
        </p:nvCxnSpPr>
        <p:spPr>
          <a:xfrm>
            <a:off x="3907555" y="1825617"/>
            <a:ext cx="275538" cy="1873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3C8C8CF7-7C27-4BE4-A603-050C02729E08}"/>
              </a:ext>
            </a:extLst>
          </p:cNvPr>
          <p:cNvCxnSpPr>
            <a:stCxn id="33" idx="3"/>
            <a:endCxn id="38" idx="1"/>
          </p:cNvCxnSpPr>
          <p:nvPr/>
        </p:nvCxnSpPr>
        <p:spPr>
          <a:xfrm flipV="1">
            <a:off x="3907555" y="2475539"/>
            <a:ext cx="275538" cy="5398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</p:cxnSp>
      <p:cxnSp>
        <p:nvCxnSpPr>
          <p:cNvPr id="1028" name="直接连接符 1027">
            <a:extLst>
              <a:ext uri="{FF2B5EF4-FFF2-40B4-BE49-F238E27FC236}">
                <a16:creationId xmlns:a16="http://schemas.microsoft.com/office/drawing/2014/main" id="{A03B936B-38F2-4BA1-998C-B88C82A578E3}"/>
              </a:ext>
            </a:extLst>
          </p:cNvPr>
          <p:cNvCxnSpPr>
            <a:cxnSpLocks/>
            <a:stCxn id="34" idx="3"/>
            <a:endCxn id="39" idx="1"/>
          </p:cNvCxnSpPr>
          <p:nvPr/>
        </p:nvCxnSpPr>
        <p:spPr>
          <a:xfrm flipV="1">
            <a:off x="3907555" y="3135780"/>
            <a:ext cx="275538" cy="477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3D216FB6-FE4B-4ACD-84B4-5B99FDB7739D}"/>
              </a:ext>
            </a:extLst>
          </p:cNvPr>
          <p:cNvCxnSpPr>
            <a:cxnSpLocks/>
            <a:stCxn id="30" idx="1"/>
          </p:cNvCxnSpPr>
          <p:nvPr/>
        </p:nvCxnSpPr>
        <p:spPr>
          <a:xfrm flipV="1">
            <a:off x="1349458" y="3064047"/>
            <a:ext cx="199549" cy="10318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F55B65EE-7BEF-4BA5-8163-639FFB3DEB59}"/>
              </a:ext>
            </a:extLst>
          </p:cNvPr>
          <p:cNvSpPr/>
          <p:nvPr/>
        </p:nvSpPr>
        <p:spPr>
          <a:xfrm>
            <a:off x="6499285" y="1612256"/>
            <a:ext cx="3599725" cy="239268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chemeClr val="bg1"/>
                </a:solidFill>
                <a:effectLst/>
                <a:highlight>
                  <a:srgbClr val="800000"/>
                </a:highlight>
                <a:latin typeface="Helvetica Neue"/>
              </a:rPr>
              <a:t>视图类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组件不存储数据。</a:t>
            </a:r>
            <a:endParaRPr lang="en-US" altLang="zh-CN" b="0" i="0">
              <a:solidFill>
                <a:schemeClr val="bg1"/>
              </a:solidFill>
              <a:effectLst/>
              <a:latin typeface="Helvetica Neue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chemeClr val="bg1"/>
                </a:solidFill>
                <a:effectLst/>
                <a:highlight>
                  <a:srgbClr val="000080"/>
                </a:highlight>
                <a:latin typeface="Helvetica Neue"/>
              </a:rPr>
              <a:t>便利类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则为组件的每个节点或单元格创建一个项（</a:t>
            </a:r>
            <a:r>
              <a:rPr lang="en-US" altLang="zh-CN" b="0" i="0">
                <a:solidFill>
                  <a:schemeClr val="bg1"/>
                </a:solidFill>
                <a:effectLst/>
                <a:latin typeface="Helvetica Neue"/>
              </a:rPr>
              <a:t>item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），用项存储数据、格式设置等。</a:t>
            </a:r>
            <a:endParaRPr lang="en-US" altLang="zh-CN" b="0" i="0">
              <a:solidFill>
                <a:schemeClr val="bg1"/>
              </a:solidFill>
              <a:effectLst/>
              <a:latin typeface="Helvetica Neue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i="0">
                <a:solidFill>
                  <a:schemeClr val="bg1"/>
                </a:solidFill>
                <a:effectLst/>
                <a:highlight>
                  <a:srgbClr val="000080"/>
                </a:highlight>
                <a:latin typeface="Helvetica Neue"/>
              </a:rPr>
              <a:t>便利类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没有数据模型，将界面与数据绑定了。</a:t>
            </a:r>
            <a:endParaRPr lang="en-US" altLang="zh-CN" b="0" i="0">
              <a:solidFill>
                <a:schemeClr val="bg1"/>
              </a:solidFill>
              <a:effectLst/>
              <a:latin typeface="Helvetica Neue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2F8738-17E5-47D9-B676-9F47A1C7987B}"/>
              </a:ext>
            </a:extLst>
          </p:cNvPr>
          <p:cNvSpPr/>
          <p:nvPr/>
        </p:nvSpPr>
        <p:spPr>
          <a:xfrm>
            <a:off x="4216891" y="4114364"/>
            <a:ext cx="5915917" cy="68570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i="0">
                <a:solidFill>
                  <a:schemeClr val="bg1"/>
                </a:solidFill>
                <a:effectLst/>
                <a:highlight>
                  <a:srgbClr val="000080"/>
                </a:highlight>
                <a:latin typeface="Helvetica Neue"/>
              </a:rPr>
              <a:t>便利类</a:t>
            </a:r>
            <a:r>
              <a:rPr lang="zh-CN" altLang="en-US" sz="2000" b="1" i="0">
                <a:solidFill>
                  <a:schemeClr val="bg1"/>
                </a:solidFill>
                <a:effectLst/>
                <a:latin typeface="Helvetica Neue"/>
              </a:rPr>
              <a:t>缺乏对大型数据源进行灵活处理的能力，适用于小型数据的显示和编辑。</a:t>
            </a:r>
            <a:endParaRPr lang="zh-CN" altLang="en-US" sz="2000" b="1">
              <a:solidFill>
                <a:schemeClr val="bg1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33B2C3C-5720-4A3E-9D03-74C4A1278688}"/>
              </a:ext>
            </a:extLst>
          </p:cNvPr>
          <p:cNvSpPr txBox="1"/>
          <p:nvPr/>
        </p:nvSpPr>
        <p:spPr>
          <a:xfrm>
            <a:off x="751840" y="5255332"/>
            <a:ext cx="70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i="0">
                <a:solidFill>
                  <a:schemeClr val="bg1"/>
                </a:solidFill>
                <a:effectLst/>
                <a:latin typeface="Helvetica Neue"/>
              </a:rPr>
              <a:t>代理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6BF1052-BE3B-4234-9BD6-FA71F8EC24DA}"/>
              </a:ext>
            </a:extLst>
          </p:cNvPr>
          <p:cNvSpPr/>
          <p:nvPr/>
        </p:nvSpPr>
        <p:spPr>
          <a:xfrm>
            <a:off x="857015" y="5748343"/>
            <a:ext cx="9241995" cy="212099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代理就是在视图组件上为编辑数据提供编辑器</a:t>
            </a:r>
            <a:endParaRPr lang="en-US" altLang="zh-CN" b="0" i="0">
              <a:solidFill>
                <a:schemeClr val="bg1"/>
              </a:solidFill>
              <a:effectLst/>
              <a:latin typeface="Helvetica Neue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如在表格组件中编辑一个单元格的数据时，缺省是使用一个 </a:t>
            </a:r>
            <a:r>
              <a:rPr lang="en-US" altLang="zh-CN" b="0" i="0">
                <a:solidFill>
                  <a:schemeClr val="bg1"/>
                </a:solidFill>
                <a:effectLst/>
                <a:latin typeface="Helvetica Neue"/>
              </a:rPr>
              <a:t>QLineEdit 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编辑框。代理负责从数据模型获取相应的数据，然后显示在编辑器里，修改数据后，又将其保存到数据模型中。</a:t>
            </a:r>
            <a:endParaRPr lang="en-US" altLang="zh-CN" b="0" i="0">
              <a:solidFill>
                <a:schemeClr val="bg1"/>
              </a:solidFill>
              <a:effectLst/>
              <a:latin typeface="Helvetica Neue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chemeClr val="bg1"/>
                </a:solidFill>
                <a:effectLst/>
                <a:latin typeface="Helvetica Neue"/>
              </a:rPr>
              <a:t>QAbstractltemDelegate 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是所有代理类的基类，</a:t>
            </a:r>
            <a:endParaRPr lang="en-US" altLang="zh-CN" b="0" i="0">
              <a:solidFill>
                <a:schemeClr val="bg1"/>
              </a:solidFill>
              <a:effectLst/>
              <a:latin typeface="Helvetica Neue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1F4FCBF2-CA69-4D33-9855-DCDF58AC0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977" y="8359375"/>
            <a:ext cx="4248150" cy="26860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9D23EF7-B655-D71E-0359-173BF23B0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256" y="8359375"/>
            <a:ext cx="4219575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594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2C5EF584-7AAE-455B-92E4-F35E826E55AC}"/>
              </a:ext>
            </a:extLst>
          </p:cNvPr>
          <p:cNvSpPr txBox="1"/>
          <p:nvPr/>
        </p:nvSpPr>
        <p:spPr>
          <a:xfrm>
            <a:off x="751840" y="650931"/>
            <a:ext cx="33812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i="0">
                <a:solidFill>
                  <a:schemeClr val="bg1"/>
                </a:solidFill>
                <a:effectLst/>
                <a:latin typeface="Helvetica Neue"/>
              </a:rPr>
              <a:t>Model/View</a:t>
            </a:r>
            <a:r>
              <a:rPr lang="zh-CN" altLang="en-US" sz="2000" b="1" i="0">
                <a:solidFill>
                  <a:schemeClr val="bg1"/>
                </a:solidFill>
                <a:effectLst/>
                <a:latin typeface="Helvetica Neue"/>
              </a:rPr>
              <a:t>结构的一些概念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1A46BF4-A614-4DE7-9A49-2AD16F3D10E7}"/>
              </a:ext>
            </a:extLst>
          </p:cNvPr>
          <p:cNvSpPr/>
          <p:nvPr/>
        </p:nvSpPr>
        <p:spPr>
          <a:xfrm>
            <a:off x="1307027" y="1173088"/>
            <a:ext cx="8484243" cy="82180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0" i="0">
                <a:solidFill>
                  <a:schemeClr val="bg1"/>
                </a:solidFill>
                <a:effectLst/>
                <a:latin typeface="Helvetica Neue"/>
              </a:rPr>
              <a:t>数据模型中存储数据的基本单元都是项（</a:t>
            </a:r>
            <a:r>
              <a:rPr lang="en-US" altLang="zh-CN" sz="2000" b="0" i="0">
                <a:solidFill>
                  <a:schemeClr val="bg1"/>
                </a:solidFill>
                <a:effectLst/>
                <a:latin typeface="Helvetica Neue"/>
              </a:rPr>
              <a:t>item</a:t>
            </a:r>
            <a:r>
              <a:rPr lang="zh-CN" altLang="en-US" sz="2000" b="0" i="0">
                <a:solidFill>
                  <a:schemeClr val="bg1"/>
                </a:solidFill>
                <a:effectLst/>
                <a:latin typeface="Helvetica Neue"/>
              </a:rPr>
              <a:t>），每个项有一个行号、一个列号，还有一个父项</a:t>
            </a:r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24C3F87-2A4A-46E1-A6C4-A2FA48D76592}"/>
              </a:ext>
            </a:extLst>
          </p:cNvPr>
          <p:cNvSpPr txBox="1"/>
          <p:nvPr/>
        </p:nvSpPr>
        <p:spPr>
          <a:xfrm>
            <a:off x="1468258" y="6352500"/>
            <a:ext cx="816177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0" i="0">
                <a:solidFill>
                  <a:schemeClr val="bg1"/>
                </a:solidFill>
                <a:effectLst/>
                <a:latin typeface="Helvetica Neue"/>
              </a:rPr>
              <a:t>QModelIndex 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表示模型索引的类。模型索引提供数据存取的一个</a:t>
            </a:r>
            <a:r>
              <a:rPr lang="zh-CN" altLang="en-US" b="0" i="0">
                <a:solidFill>
                  <a:schemeClr val="bg1"/>
                </a:solidFill>
                <a:effectLst/>
                <a:highlight>
                  <a:srgbClr val="0000FF"/>
                </a:highlight>
                <a:latin typeface="Helvetica Neue"/>
              </a:rPr>
              <a:t>临时</a:t>
            </a:r>
            <a:r>
              <a:rPr lang="zh-CN" altLang="en-US" b="0" i="0" u="none" strike="noStrike">
                <a:solidFill>
                  <a:schemeClr val="bg1"/>
                </a:solidFill>
                <a:effectLst/>
                <a:highlight>
                  <a:srgbClr val="0000FF"/>
                </a:highlight>
                <a:latin typeface="Helvetica Neue"/>
              </a:rPr>
              <a:t>指针</a:t>
            </a:r>
            <a:r>
              <a:rPr lang="zh-CN" altLang="en-US" u="none" strike="noStrike">
                <a:solidFill>
                  <a:schemeClr val="bg1"/>
                </a:solidFill>
                <a:latin typeface="Helvetica Neue"/>
              </a:rPr>
              <a:t>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1D522EE-7972-4F3B-A961-99BE5AFC4FD7}"/>
              </a:ext>
            </a:extLst>
          </p:cNvPr>
          <p:cNvSpPr/>
          <p:nvPr/>
        </p:nvSpPr>
        <p:spPr>
          <a:xfrm>
            <a:off x="1532503" y="7359649"/>
            <a:ext cx="8258767" cy="164360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sz="2000">
                <a:solidFill>
                  <a:srgbClr val="008000"/>
                </a:solidFill>
              </a:rPr>
              <a:t>// </a:t>
            </a:r>
            <a:r>
              <a:rPr lang="en-US" altLang="zh-CN" sz="2000">
                <a:solidFill>
                  <a:srgbClr val="008000"/>
                </a:solidFill>
              </a:rPr>
              <a:t>Table Model</a:t>
            </a:r>
          </a:p>
          <a:p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QModelIndex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indexA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model-&gt;index(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QModelIndex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());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QModelIndex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indexC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model-&gt;index(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QModelIndex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());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lang="zh-CN" altLang="zh-CN" sz="2000">
                <a:solidFill>
                  <a:srgbClr val="008000"/>
                </a:solidFill>
              </a:rPr>
              <a:t>// </a:t>
            </a:r>
            <a:r>
              <a:rPr lang="en-US" altLang="zh-CN" sz="2000">
                <a:solidFill>
                  <a:srgbClr val="008000"/>
                </a:solidFill>
              </a:rPr>
              <a:t>Tree Model</a:t>
            </a:r>
            <a:endParaRPr lang="zh-CN" altLang="zh-CN" sz="2000">
              <a:solidFill>
                <a:srgbClr val="008000"/>
              </a:solidFill>
            </a:endParaRPr>
          </a:p>
          <a:p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QModelIndex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indexB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model-&gt;index(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indexA);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64859B8-4166-4AE9-BB4C-1CC5CDA73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657" y="2116939"/>
            <a:ext cx="8429625" cy="4276725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831694A9-BDEE-4C84-90D4-0E7C285C0D5B}"/>
              </a:ext>
            </a:extLst>
          </p:cNvPr>
          <p:cNvSpPr txBox="1"/>
          <p:nvPr/>
        </p:nvSpPr>
        <p:spPr>
          <a:xfrm>
            <a:off x="937034" y="9177229"/>
            <a:ext cx="9425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b="1" i="0">
                <a:solidFill>
                  <a:schemeClr val="bg1"/>
                </a:solidFill>
                <a:effectLst/>
                <a:latin typeface="Helvetica Neue"/>
              </a:rPr>
              <a:t>项的角色：</a:t>
            </a:r>
            <a:r>
              <a:rPr lang="zh-CN" altLang="en-US" sz="2000" b="0" i="0">
                <a:solidFill>
                  <a:schemeClr val="bg1"/>
                </a:solidFill>
                <a:effectLst/>
                <a:latin typeface="Helvetica Neue"/>
              </a:rPr>
              <a:t>在为数据模型的一个项设置数据时，可以赋予其不同项的角色的数据。</a:t>
            </a:r>
            <a:endParaRPr lang="zh-CN" altLang="en-US" sz="2000" b="1" i="0">
              <a:solidFill>
                <a:schemeClr val="bg1"/>
              </a:solidFill>
              <a:effectLst/>
              <a:latin typeface="Helvetica Neue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A31CB35-65CF-4EB1-9320-8BF6A4D6C332}"/>
              </a:ext>
            </a:extLst>
          </p:cNvPr>
          <p:cNvSpPr txBox="1"/>
          <p:nvPr/>
        </p:nvSpPr>
        <p:spPr>
          <a:xfrm>
            <a:off x="5798299" y="11146973"/>
            <a:ext cx="3831737" cy="18792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zh-CN" altLang="en-US" sz="2000" b="0" i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模型中的每个项都有一组与其关联的数据元素，每个元素都有自己的角色。视图使用这些角色向模型指示它需要哪种类型的数据。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4ECC089-79A7-4FA0-9A3B-30713FF5B0E8}"/>
              </a:ext>
            </a:extLst>
          </p:cNvPr>
          <p:cNvSpPr/>
          <p:nvPr/>
        </p:nvSpPr>
        <p:spPr>
          <a:xfrm>
            <a:off x="937034" y="9641071"/>
            <a:ext cx="9109791" cy="100714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>
                <a:solidFill>
                  <a:srgbClr val="808000"/>
                </a:solidFill>
                <a:effectLst/>
              </a:rPr>
              <a:t>void</a:t>
            </a:r>
            <a:r>
              <a:rPr lang="en-US" altLang="zh-CN" sz="2000">
                <a:solidFill>
                  <a:srgbClr val="C0C0C0"/>
                </a:solidFill>
                <a:effectLst/>
              </a:rPr>
              <a:t> </a:t>
            </a:r>
            <a:r>
              <a:rPr lang="en-US" altLang="zh-CN" sz="2000"/>
              <a:t>QStandardItem::setData(</a:t>
            </a:r>
            <a:r>
              <a:rPr lang="en-US" altLang="zh-CN" sz="2000">
                <a:solidFill>
                  <a:srgbClr val="808000"/>
                </a:solidFill>
                <a:effectLst/>
              </a:rPr>
              <a:t>const</a:t>
            </a:r>
            <a:r>
              <a:rPr lang="en-US" altLang="zh-CN" sz="2000">
                <a:solidFill>
                  <a:srgbClr val="C0C0C0"/>
                </a:solidFill>
                <a:effectLst/>
              </a:rPr>
              <a:t> </a:t>
            </a:r>
            <a:r>
              <a:rPr lang="en-US" altLang="zh-CN" sz="2000">
                <a:solidFill>
                  <a:srgbClr val="800080"/>
                </a:solidFill>
                <a:effectLst/>
              </a:rPr>
              <a:t>QVariant</a:t>
            </a:r>
            <a:r>
              <a:rPr lang="en-US" altLang="zh-CN" sz="2000">
                <a:solidFill>
                  <a:srgbClr val="C0C0C0"/>
                </a:solidFill>
                <a:effectLst/>
              </a:rPr>
              <a:t> </a:t>
            </a:r>
            <a:r>
              <a:rPr lang="en-US" altLang="zh-CN" sz="2000"/>
              <a:t>&amp;value,</a:t>
            </a:r>
            <a:r>
              <a:rPr lang="en-US" altLang="zh-CN" sz="2000">
                <a:solidFill>
                  <a:srgbClr val="C0C0C0"/>
                </a:solidFill>
                <a:effectLst/>
              </a:rPr>
              <a:t> </a:t>
            </a:r>
            <a:r>
              <a:rPr lang="en-US" altLang="zh-CN" sz="2000">
                <a:solidFill>
                  <a:srgbClr val="808000"/>
                </a:solidFill>
                <a:effectLst/>
              </a:rPr>
              <a:t>int</a:t>
            </a:r>
            <a:r>
              <a:rPr lang="en-US" altLang="zh-CN" sz="2000">
                <a:solidFill>
                  <a:srgbClr val="C0C0C0"/>
                </a:solidFill>
                <a:effectLst/>
              </a:rPr>
              <a:t> </a:t>
            </a:r>
            <a:r>
              <a:rPr lang="en-US" altLang="zh-CN" sz="2000"/>
              <a:t>role=</a:t>
            </a:r>
            <a:r>
              <a:rPr lang="en-US" altLang="zh-CN" sz="2000">
                <a:solidFill>
                  <a:srgbClr val="C0C0C0"/>
                </a:solidFill>
                <a:effectLst/>
              </a:rPr>
              <a:t> </a:t>
            </a:r>
            <a:r>
              <a:rPr lang="en-US" altLang="zh-CN" sz="2000"/>
              <a:t>Qt::UserRole</a:t>
            </a:r>
            <a:r>
              <a:rPr lang="en-US" altLang="zh-CN" sz="2000">
                <a:solidFill>
                  <a:srgbClr val="C0C0C0"/>
                </a:solidFill>
                <a:effectLst/>
              </a:rPr>
              <a:t> </a:t>
            </a:r>
            <a:r>
              <a:rPr lang="en-US" altLang="zh-CN" sz="2000"/>
              <a:t>+</a:t>
            </a:r>
            <a:r>
              <a:rPr lang="en-US" altLang="zh-CN" sz="2000">
                <a:solidFill>
                  <a:srgbClr val="C0C0C0"/>
                </a:solidFill>
                <a:effectLst/>
              </a:rPr>
              <a:t> </a:t>
            </a:r>
            <a:r>
              <a:rPr lang="en-US" altLang="zh-CN" sz="2000">
                <a:solidFill>
                  <a:srgbClr val="000080"/>
                </a:solidFill>
                <a:effectLst/>
              </a:rPr>
              <a:t>1</a:t>
            </a:r>
            <a:r>
              <a:rPr lang="en-US" altLang="zh-CN" sz="2000"/>
              <a:t>)</a:t>
            </a:r>
          </a:p>
          <a:p>
            <a:endParaRPr lang="en-US" altLang="zh-CN" sz="2000"/>
          </a:p>
          <a:p>
            <a:r>
              <a:rPr lang="en-US" altLang="zh-CN" sz="2000"/>
              <a:t>QVariant</a:t>
            </a:r>
            <a:r>
              <a:rPr lang="en-US" altLang="zh-CN" sz="2000">
                <a:solidFill>
                  <a:srgbClr val="C0C0C0"/>
                </a:solidFill>
                <a:effectLst/>
              </a:rPr>
              <a:t> </a:t>
            </a:r>
            <a:r>
              <a:rPr lang="en-US" altLang="zh-CN" sz="2000"/>
              <a:t>QStandardItem::data(</a:t>
            </a:r>
            <a:r>
              <a:rPr lang="en-US" altLang="zh-CN" sz="2000">
                <a:solidFill>
                  <a:srgbClr val="808000"/>
                </a:solidFill>
                <a:effectLst/>
              </a:rPr>
              <a:t>int</a:t>
            </a:r>
            <a:r>
              <a:rPr lang="en-US" altLang="zh-CN" sz="2000">
                <a:solidFill>
                  <a:srgbClr val="C0C0C0"/>
                </a:solidFill>
                <a:effectLst/>
              </a:rPr>
              <a:t> </a:t>
            </a:r>
            <a:r>
              <a:rPr lang="en-US" altLang="zh-CN" sz="2000"/>
              <a:t>role</a:t>
            </a:r>
            <a:r>
              <a:rPr lang="en-US" altLang="zh-CN" sz="2000">
                <a:solidFill>
                  <a:srgbClr val="C0C0C0"/>
                </a:solidFill>
                <a:effectLst/>
              </a:rPr>
              <a:t> </a:t>
            </a:r>
            <a:r>
              <a:rPr lang="en-US" altLang="zh-CN" sz="2000"/>
              <a:t>=</a:t>
            </a:r>
            <a:r>
              <a:rPr lang="en-US" altLang="zh-CN" sz="2000">
                <a:solidFill>
                  <a:srgbClr val="C0C0C0"/>
                </a:solidFill>
                <a:effectLst/>
              </a:rPr>
              <a:t> </a:t>
            </a:r>
            <a:r>
              <a:rPr lang="en-US" altLang="zh-CN" sz="2000"/>
              <a:t>Qt::UserRole</a:t>
            </a:r>
            <a:r>
              <a:rPr lang="en-US" altLang="zh-CN" sz="2000">
                <a:solidFill>
                  <a:srgbClr val="C0C0C0"/>
                </a:solidFill>
                <a:effectLst/>
              </a:rPr>
              <a:t> </a:t>
            </a:r>
            <a:r>
              <a:rPr lang="en-US" altLang="zh-CN" sz="2000"/>
              <a:t>+</a:t>
            </a:r>
            <a:r>
              <a:rPr lang="en-US" altLang="zh-CN" sz="2000">
                <a:solidFill>
                  <a:srgbClr val="C0C0C0"/>
                </a:solidFill>
                <a:effectLst/>
              </a:rPr>
              <a:t> </a:t>
            </a:r>
            <a:r>
              <a:rPr lang="en-US" altLang="zh-CN" sz="2000">
                <a:solidFill>
                  <a:srgbClr val="000080"/>
                </a:solidFill>
                <a:effectLst/>
              </a:rPr>
              <a:t>1</a:t>
            </a:r>
            <a:r>
              <a:rPr lang="en-US" altLang="zh-CN" sz="2000"/>
              <a:t>)</a:t>
            </a:r>
            <a:r>
              <a:rPr lang="en-US" altLang="zh-CN" sz="2000">
                <a:solidFill>
                  <a:srgbClr val="C0C0C0"/>
                </a:solidFill>
                <a:effectLst/>
              </a:rPr>
              <a:t> </a:t>
            </a:r>
            <a:r>
              <a:rPr lang="en-US" altLang="zh-CN" sz="2000">
                <a:solidFill>
                  <a:srgbClr val="808000"/>
                </a:solidFill>
                <a:effectLst/>
              </a:rPr>
              <a:t>const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6EFD56E-3607-0341-68B5-BEC9EF213859}"/>
              </a:ext>
            </a:extLst>
          </p:cNvPr>
          <p:cNvSpPr txBox="1"/>
          <p:nvPr/>
        </p:nvSpPr>
        <p:spPr>
          <a:xfrm>
            <a:off x="1468257" y="6773845"/>
            <a:ext cx="816177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0" i="0">
                <a:solidFill>
                  <a:schemeClr val="bg1"/>
                </a:solidFill>
                <a:effectLst/>
                <a:highlight>
                  <a:srgbClr val="0000FF"/>
                </a:highlight>
                <a:latin typeface="Helvetica Neue"/>
              </a:rPr>
              <a:t>持久模型索引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由</a:t>
            </a:r>
            <a:r>
              <a:rPr lang="en-US" altLang="zh-CN" b="0" i="0">
                <a:solidFill>
                  <a:schemeClr val="bg1"/>
                </a:solidFill>
                <a:effectLst/>
                <a:latin typeface="Helvetica Neue"/>
              </a:rPr>
              <a:t>QPersistentModelIndex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类提供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521D99-EAE4-43B6-FFF6-174DC6899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930" y="10915224"/>
            <a:ext cx="3831737" cy="259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179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25329" y="270370"/>
            <a:ext cx="91744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0" i="0">
                <a:solidFill>
                  <a:schemeClr val="accent3"/>
                </a:solidFill>
                <a:effectLst/>
                <a:latin typeface="Helvetica Neue"/>
              </a:rPr>
              <a:t>QFileSystemModel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CBCCE9-9797-46C9-9C1F-490FAAD83FC7}"/>
              </a:ext>
            </a:extLst>
          </p:cNvPr>
          <p:cNvSpPr/>
          <p:nvPr/>
        </p:nvSpPr>
        <p:spPr>
          <a:xfrm>
            <a:off x="542925" y="935173"/>
            <a:ext cx="3432885" cy="201376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如同 </a:t>
            </a:r>
            <a:r>
              <a:rPr lang="en-US" altLang="zh-CN" b="0" i="0">
                <a:solidFill>
                  <a:schemeClr val="bg1"/>
                </a:solidFill>
                <a:effectLst/>
                <a:latin typeface="Helvetica Neue"/>
              </a:rPr>
              <a:t>Widnows 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的资源管理器。使用 </a:t>
            </a:r>
            <a:r>
              <a:rPr lang="en-US" altLang="zh-CN" b="0" i="0">
                <a:solidFill>
                  <a:schemeClr val="bg1"/>
                </a:solidFill>
                <a:effectLst/>
                <a:latin typeface="Helvetica Neue"/>
              </a:rPr>
              <a:t>QFileSystemModel 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提供的接口函数，可以创建、删除、重命名目录，可以获得文件名称、目录名称、文件大小等参数，还可以获得文件的详细信息。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4E7942-561C-4922-83AE-067A1FA7F69B}"/>
              </a:ext>
            </a:extLst>
          </p:cNvPr>
          <p:cNvSpPr/>
          <p:nvPr/>
        </p:nvSpPr>
        <p:spPr>
          <a:xfrm>
            <a:off x="1045702" y="3321933"/>
            <a:ext cx="8148320" cy="971373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"filesystem.h"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"./ui_filesystem.h"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FileSystem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FileSystem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FileSystem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setWindowIcon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QIcon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"../images/ball.png"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setupUi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QFileSystemModel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setRootPath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currentPath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treeView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listView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//信号与槽关联，treeView与listView根节点一起变化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connect(ui-&gt;treeView,SIGNAL(clicked(QModelIndex)),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ui-&gt;listView,SLOT(setRootIndex(QModelIndex)));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treeView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QTreeView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clicked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listView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QListView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setRootIndex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FileSystem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::~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FileSystem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delete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FileSystem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on_treeView_clicked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QModelIndex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status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filePath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(!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isDir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status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size:"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1024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1024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status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+=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"%1 KB"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arg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status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+=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asprintf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"%.2f MB"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1024.0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statusBar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showMessage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status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B2DE900-8F7A-1721-81EA-1ABC1C3A0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730" y="767533"/>
            <a:ext cx="5741595" cy="25544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C754F8B-CF62-5603-8E57-FF06382BD525}"/>
              </a:ext>
            </a:extLst>
          </p:cNvPr>
          <p:cNvSpPr/>
          <p:nvPr/>
        </p:nvSpPr>
        <p:spPr>
          <a:xfrm>
            <a:off x="7048500" y="4953000"/>
            <a:ext cx="203454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QFileSystemModel</a:t>
            </a:r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FD421B-3EA7-7490-A52B-300975BA2FC0}"/>
              </a:ext>
            </a:extLst>
          </p:cNvPr>
          <p:cNvSpPr/>
          <p:nvPr/>
        </p:nvSpPr>
        <p:spPr>
          <a:xfrm>
            <a:off x="6591300" y="6205642"/>
            <a:ext cx="1333500" cy="53805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TreeView</a:t>
            </a:r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A960B1-AB6A-4554-2180-AA4B06170177}"/>
              </a:ext>
            </a:extLst>
          </p:cNvPr>
          <p:cNvSpPr/>
          <p:nvPr/>
        </p:nvSpPr>
        <p:spPr>
          <a:xfrm>
            <a:off x="8313420" y="6205642"/>
            <a:ext cx="1333500" cy="53805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ListView</a:t>
            </a:r>
            <a:endParaRPr lang="zh-CN" altLang="en-US"/>
          </a:p>
        </p:txBody>
      </p: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2161B161-2DB1-10C9-D989-4E38A0094D2F}"/>
              </a:ext>
            </a:extLst>
          </p:cNvPr>
          <p:cNvCxnSpPr>
            <a:stCxn id="13" idx="0"/>
            <a:endCxn id="7" idx="2"/>
          </p:cNvCxnSpPr>
          <p:nvPr/>
        </p:nvCxnSpPr>
        <p:spPr>
          <a:xfrm rot="5400000" flipH="1" flipV="1">
            <a:off x="7264189" y="5404061"/>
            <a:ext cx="795442" cy="80772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5CA9A2BA-41E5-6E08-7C7F-2EF9FAB194F4}"/>
              </a:ext>
            </a:extLst>
          </p:cNvPr>
          <p:cNvCxnSpPr>
            <a:cxnSpLocks/>
            <a:stCxn id="14" idx="0"/>
            <a:endCxn id="7" idx="2"/>
          </p:cNvCxnSpPr>
          <p:nvPr/>
        </p:nvCxnSpPr>
        <p:spPr>
          <a:xfrm rot="16200000" flipV="1">
            <a:off x="8125249" y="5350721"/>
            <a:ext cx="795442" cy="9144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50C204C6-3AAC-E57B-BD17-52E24CC41BEC}"/>
              </a:ext>
            </a:extLst>
          </p:cNvPr>
          <p:cNvSpPr txBox="1"/>
          <p:nvPr/>
        </p:nvSpPr>
        <p:spPr>
          <a:xfrm>
            <a:off x="6928783" y="5420781"/>
            <a:ext cx="1175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zh-CN" altLang="zh-CN" sz="2000" b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setModel</a:t>
            </a:r>
            <a:endParaRPr lang="zh-CN" altLang="en-US" sz="2000" dirty="0">
              <a:solidFill>
                <a:schemeClr val="tx2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5AB5B7D-8DC2-9689-B8DE-E5A3C3817BE8}"/>
              </a:ext>
            </a:extLst>
          </p:cNvPr>
          <p:cNvSpPr/>
          <p:nvPr/>
        </p:nvSpPr>
        <p:spPr>
          <a:xfrm>
            <a:off x="7048500" y="3796230"/>
            <a:ext cx="203454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FileSystem</a:t>
            </a:r>
            <a:endParaRPr lang="zh-CN" altLang="en-US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0D181CF6-D223-13FF-EE54-0CAD066C9014}"/>
              </a:ext>
            </a:extLst>
          </p:cNvPr>
          <p:cNvCxnSpPr>
            <a:cxnSpLocks/>
            <a:stCxn id="27" idx="2"/>
            <a:endCxn id="7" idx="0"/>
          </p:cNvCxnSpPr>
          <p:nvPr/>
        </p:nvCxnSpPr>
        <p:spPr>
          <a:xfrm>
            <a:off x="8065770" y="4253430"/>
            <a:ext cx="0" cy="699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2BD9C615-555D-DFBB-821E-93F0E2B600AB}"/>
              </a:ext>
            </a:extLst>
          </p:cNvPr>
          <p:cNvSpPr txBox="1"/>
          <p:nvPr/>
        </p:nvSpPr>
        <p:spPr>
          <a:xfrm>
            <a:off x="6645372" y="4318874"/>
            <a:ext cx="14589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setRootPath</a:t>
            </a:r>
            <a:endParaRPr lang="zh-CN" altLang="en-US" sz="20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1C4FC5F0-C88A-9F1A-2A34-69E775C0432D}"/>
                  </a:ext>
                </a:extLst>
              </p14:cNvPr>
              <p14:cNvContentPartPr/>
              <p14:nvPr/>
            </p14:nvContentPartPr>
            <p14:xfrm>
              <a:off x="6019680" y="3825000"/>
              <a:ext cx="360" cy="180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1C4FC5F0-C88A-9F1A-2A34-69E775C043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10680" y="3816000"/>
                <a:ext cx="18000" cy="1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1344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69620" y="152048"/>
            <a:ext cx="91744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0" i="0">
                <a:solidFill>
                  <a:schemeClr val="accent3"/>
                </a:solidFill>
                <a:effectLst/>
                <a:latin typeface="Helvetica Neue"/>
              </a:rPr>
              <a:t>QStringListModel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7663FC-8671-487C-AC5D-78BF72B3ED6D}"/>
              </a:ext>
            </a:extLst>
          </p:cNvPr>
          <p:cNvSpPr txBox="1"/>
          <p:nvPr/>
        </p:nvSpPr>
        <p:spPr>
          <a:xfrm>
            <a:off x="769620" y="653118"/>
            <a:ext cx="9552940" cy="87588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chemeClr val="bg1"/>
                </a:solidFill>
                <a:effectLst/>
                <a:latin typeface="Helvetica Neue"/>
              </a:rPr>
              <a:t>setStringList() 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函数可以初始化数据模型的字符串列表的内容</a:t>
            </a:r>
            <a:endParaRPr lang="en-US" altLang="zh-CN" b="0" i="0">
              <a:solidFill>
                <a:schemeClr val="bg1"/>
              </a:solidFill>
              <a:effectLst/>
              <a:latin typeface="Helvetica Neue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提供编辑和修改字符串列表数据的函数，如 </a:t>
            </a:r>
            <a:r>
              <a:rPr lang="en-US" altLang="zh-CN" b="0" i="0">
                <a:solidFill>
                  <a:schemeClr val="bg1"/>
                </a:solidFill>
                <a:effectLst/>
                <a:latin typeface="Helvetica Neue"/>
              </a:rPr>
              <a:t>insertRows()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、</a:t>
            </a:r>
            <a:r>
              <a:rPr lang="en-US" altLang="zh-CN" b="0" i="0">
                <a:solidFill>
                  <a:schemeClr val="bg1"/>
                </a:solidFill>
                <a:effectLst/>
                <a:latin typeface="Helvetica Neue"/>
              </a:rPr>
              <a:t>removeRows()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、</a:t>
            </a:r>
            <a:r>
              <a:rPr lang="en-US" altLang="zh-CN" b="0" i="0">
                <a:solidFill>
                  <a:schemeClr val="bg1"/>
                </a:solidFill>
                <a:effectLst/>
                <a:latin typeface="Helvetica Neue"/>
              </a:rPr>
              <a:t>setData() 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等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DBF720-D1A7-44E5-ACA1-F3B671F2B98D}"/>
              </a:ext>
            </a:extLst>
          </p:cNvPr>
          <p:cNvSpPr/>
          <p:nvPr/>
        </p:nvSpPr>
        <p:spPr>
          <a:xfrm>
            <a:off x="654130" y="1697934"/>
            <a:ext cx="9668430" cy="1200755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"mainwindow.h"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"./ui_mainwindow.h"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setFixedSize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300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200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setWindowIcon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QIcon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"../images/ball.png"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setupUi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setWindowTitle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"QStringListModel"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QStringListModel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QStringList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cities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"北京"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"上海"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"广州"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"深圳"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setStringList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cities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listView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listView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setEditTriggers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QAbstractItemView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NoEditTriggers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::~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delete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on_pushButton_clear_clicked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removeRows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rowCount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()); 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on_pushButton_delete_clicked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QModelIndex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listView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currentIndex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//获取当前索引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removeRow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//删除当前行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on_pushButton_add_clicked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insertRow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rowCount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//在尾部插入一空行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QModelIndex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rowCount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//获取最后一行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setData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"new item"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DisplayRole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//设置显示文字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listView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edit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on_pushButton_edit_clicked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QModelIndex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listView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currentIndex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//获取当前索引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listView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edit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on_listView_clicked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QModelIndex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status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"当前是第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status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+=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"%1 行"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arg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statusBar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showMessage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status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773A01-6CF4-408A-102B-9A1F0D5BD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641" y="1763015"/>
            <a:ext cx="3154204" cy="246287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D48AB4E-E5EF-A1A6-49D7-F6193D5EA277}"/>
              </a:ext>
            </a:extLst>
          </p:cNvPr>
          <p:cNvSpPr/>
          <p:nvPr/>
        </p:nvSpPr>
        <p:spPr>
          <a:xfrm>
            <a:off x="7490460" y="4945380"/>
            <a:ext cx="203454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QStringListModel</a:t>
            </a: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C1E16C-9034-FA9A-AE73-A2DAFBFE6BF1}"/>
              </a:ext>
            </a:extLst>
          </p:cNvPr>
          <p:cNvSpPr/>
          <p:nvPr/>
        </p:nvSpPr>
        <p:spPr>
          <a:xfrm>
            <a:off x="7586566" y="5999770"/>
            <a:ext cx="1846994" cy="53805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ListView</a:t>
            </a:r>
            <a:endParaRPr lang="zh-CN" altLang="en-US"/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E86A27E7-B1E6-BFDF-1E1A-7AEB53DFDC38}"/>
              </a:ext>
            </a:extLst>
          </p:cNvPr>
          <p:cNvCxnSpPr>
            <a:cxnSpLocks/>
            <a:stCxn id="9" idx="0"/>
            <a:endCxn id="6" idx="2"/>
          </p:cNvCxnSpPr>
          <p:nvPr/>
        </p:nvCxnSpPr>
        <p:spPr>
          <a:xfrm rot="16200000" flipV="1">
            <a:off x="8210302" y="5700008"/>
            <a:ext cx="597190" cy="233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86F790E-7304-12E7-ECF4-C03D156DC6D5}"/>
              </a:ext>
            </a:extLst>
          </p:cNvPr>
          <p:cNvSpPr txBox="1"/>
          <p:nvPr/>
        </p:nvSpPr>
        <p:spPr>
          <a:xfrm>
            <a:off x="7370743" y="5413161"/>
            <a:ext cx="1175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zh-CN" altLang="zh-CN" sz="2000" b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setModel</a:t>
            </a:r>
            <a:endParaRPr lang="zh-CN" altLang="en-US" sz="2000" dirty="0">
              <a:solidFill>
                <a:schemeClr val="tx2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881CC8-DDF9-A4AF-F764-8815D4D3A7C2}"/>
              </a:ext>
            </a:extLst>
          </p:cNvPr>
          <p:cNvSpPr/>
          <p:nvPr/>
        </p:nvSpPr>
        <p:spPr>
          <a:xfrm>
            <a:off x="7490460" y="3788610"/>
            <a:ext cx="203454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QStringList</a:t>
            </a:r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A09A798-CA7B-353F-BDA5-21D9E541A592}"/>
              </a:ext>
            </a:extLst>
          </p:cNvPr>
          <p:cNvCxnSpPr>
            <a:cxnSpLocks/>
            <a:stCxn id="13" idx="2"/>
            <a:endCxn id="6" idx="0"/>
          </p:cNvCxnSpPr>
          <p:nvPr/>
        </p:nvCxnSpPr>
        <p:spPr>
          <a:xfrm>
            <a:off x="8507730" y="4245810"/>
            <a:ext cx="0" cy="699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593D05F5-9137-FCB1-8BA9-8A0BFB6FE9DF}"/>
              </a:ext>
            </a:extLst>
          </p:cNvPr>
          <p:cNvSpPr txBox="1"/>
          <p:nvPr/>
        </p:nvSpPr>
        <p:spPr>
          <a:xfrm>
            <a:off x="7087332" y="4311254"/>
            <a:ext cx="1459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StringList</a:t>
            </a:r>
            <a:endParaRPr lang="zh-CN" alt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931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6740" y="337820"/>
            <a:ext cx="91744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0" i="0">
                <a:solidFill>
                  <a:schemeClr val="accent3"/>
                </a:solidFill>
                <a:effectLst/>
                <a:latin typeface="Helvetica Neue"/>
              </a:rPr>
              <a:t>QStandardItemModel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C300CCE-280F-421A-9DF7-A5FFED16AAA2}"/>
              </a:ext>
            </a:extLst>
          </p:cNvPr>
          <p:cNvSpPr txBox="1"/>
          <p:nvPr/>
        </p:nvSpPr>
        <p:spPr>
          <a:xfrm>
            <a:off x="485139" y="635026"/>
            <a:ext cx="5203510" cy="3271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chemeClr val="bg1"/>
                </a:solidFill>
                <a:effectLst/>
                <a:latin typeface="Helvetica Neue"/>
              </a:rPr>
              <a:t>以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Helvetica Neue"/>
              </a:rPr>
              <a:t>item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Helvetica Neue"/>
              </a:rPr>
              <a:t>数据为基础的标准数据模型类，通常与 </a:t>
            </a:r>
            <a:r>
              <a:rPr lang="en-US" altLang="zh-CN" sz="2000" b="0" i="0" dirty="0" err="1">
                <a:solidFill>
                  <a:schemeClr val="bg1"/>
                </a:solidFill>
                <a:effectLst/>
                <a:latin typeface="Helvetica Neue"/>
              </a:rPr>
              <a:t>QTableView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Helvetica Neue"/>
              </a:rPr>
              <a:t> 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Helvetica Neue"/>
              </a:rPr>
              <a:t>组合成 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Helvetica Neue"/>
              </a:rPr>
              <a:t>Model/View 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Helvetica Neue"/>
              </a:rPr>
              <a:t>结构，实现通用的二维数据的管理功能。</a:t>
            </a:r>
            <a:endParaRPr lang="en-US" altLang="zh-CN" sz="2000" dirty="0">
              <a:solidFill>
                <a:schemeClr val="bg1"/>
              </a:solidFill>
              <a:latin typeface="Helvetica Neue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>
                <a:solidFill>
                  <a:schemeClr val="bg1"/>
                </a:solidFill>
              </a:rPr>
              <a:t>QDataWidgetMapper</a:t>
            </a:r>
            <a:r>
              <a:rPr lang="zh-CN" altLang="en-US" sz="2000" dirty="0">
                <a:solidFill>
                  <a:schemeClr val="bg1"/>
                </a:solidFill>
              </a:rPr>
              <a:t>类允许在</a:t>
            </a:r>
            <a:r>
              <a:rPr lang="en-US" altLang="zh-CN" sz="2000" dirty="0">
                <a:solidFill>
                  <a:schemeClr val="bg1"/>
                </a:solidFill>
              </a:rPr>
              <a:t>widget</a:t>
            </a:r>
            <a:r>
              <a:rPr lang="zh-CN" altLang="en-US" sz="2000" dirty="0">
                <a:solidFill>
                  <a:schemeClr val="bg1"/>
                </a:solidFill>
              </a:rPr>
              <a:t>集合中查看和编辑从模型获得的信息，从</a:t>
            </a:r>
            <a:r>
              <a:rPr lang="en-US" altLang="zh-CN" sz="2000" dirty="0" err="1">
                <a:solidFill>
                  <a:schemeClr val="bg1"/>
                </a:solidFill>
              </a:rPr>
              <a:t>QabstractItemModel</a:t>
            </a:r>
            <a:r>
              <a:rPr lang="zh-CN" altLang="en-US" sz="2000" dirty="0">
                <a:solidFill>
                  <a:schemeClr val="bg1"/>
                </a:solidFill>
              </a:rPr>
              <a:t>派生的任何模型都可以用作数据源。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13DBB0E-BEBD-FAD7-CBD3-0DB5F42FA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289" y="978428"/>
            <a:ext cx="4248150" cy="268605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28ABD99-27AD-280A-07CC-8F17F0469123}"/>
              </a:ext>
            </a:extLst>
          </p:cNvPr>
          <p:cNvSpPr txBox="1"/>
          <p:nvPr/>
        </p:nvSpPr>
        <p:spPr>
          <a:xfrm>
            <a:off x="485139" y="4148134"/>
            <a:ext cx="9644381" cy="8402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QMainWindow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setFixedSize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365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200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setWindowIcon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QIcon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"../images/ball.png"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setupUi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setWindowTitle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"QStandardItemModel"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setupModel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tableView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setModel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tableView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horizontalHeader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setSectionResizeMode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QHeaderView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ResizeToContents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solidFill>
                <a:schemeClr val="tx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QStringList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headers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={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"姓名"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"电话"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"年龄"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setHorizontalHeaderLabels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headers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mapper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QDataWidgetMapper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mapper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setModel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mapper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addMapping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nameEdit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mapper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addMapping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phoneEdit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mapper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addMapping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ageSpinBox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2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connect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previousButton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QAbstractButton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clicked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		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mapper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QDataWidgetMapper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toPrevious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connect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nextButton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QAbstractButton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clicked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		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mapper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QDataWidgetMapper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toNext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connect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mapper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QDataWidgetMapper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currentIndexChanged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		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updateButtons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800000"/>
                </a:solidFill>
                <a:effectLst/>
              </a:rPr>
              <a:t>mapper</a:t>
            </a:r>
            <a:r>
              <a:rPr lang="en-US" altLang="zh-CN" dirty="0"/>
              <a:t>-&gt;</a:t>
            </a:r>
            <a:r>
              <a:rPr lang="en-US" altLang="zh-CN" dirty="0" err="1">
                <a:solidFill>
                  <a:srgbClr val="00677C"/>
                </a:solidFill>
                <a:effectLst/>
              </a:rPr>
              <a:t>toFirst</a:t>
            </a:r>
            <a:r>
              <a:rPr lang="en-US" altLang="zh-CN" dirty="0"/>
              <a:t>();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825A24-5AC4-C8E5-6227-91044E2BC702}"/>
              </a:ext>
            </a:extLst>
          </p:cNvPr>
          <p:cNvSpPr txBox="1"/>
          <p:nvPr/>
        </p:nvSpPr>
        <p:spPr>
          <a:xfrm>
            <a:off x="5620069" y="8308948"/>
            <a:ext cx="3707131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widget</a:t>
            </a:r>
            <a:r>
              <a:rPr lang="zh-CN" altLang="en-US" dirty="0"/>
              <a:t>和</a:t>
            </a:r>
            <a:r>
              <a:rPr lang="en-US" altLang="zh-CN" dirty="0"/>
              <a:t>model</a:t>
            </a:r>
            <a:r>
              <a:rPr lang="zh-CN" altLang="en-US" dirty="0"/>
              <a:t>中之间添加映射。如果方向为水平（默认），则第二个参数为模型中的列，否则为行。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DFC7084-0EB7-0E68-02B8-135BF5AE9E76}"/>
              </a:ext>
            </a:extLst>
          </p:cNvPr>
          <p:cNvCxnSpPr/>
          <p:nvPr/>
        </p:nvCxnSpPr>
        <p:spPr>
          <a:xfrm>
            <a:off x="4663440" y="8349284"/>
            <a:ext cx="960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62DFFE7E-DA81-2018-3A34-7484634778BC}"/>
              </a:ext>
            </a:extLst>
          </p:cNvPr>
          <p:cNvSpPr/>
          <p:nvPr/>
        </p:nvSpPr>
        <p:spPr>
          <a:xfrm>
            <a:off x="6730524" y="4106238"/>
            <a:ext cx="244602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0" i="0">
                <a:solidFill>
                  <a:schemeClr val="bg1"/>
                </a:solidFill>
                <a:effectLst/>
                <a:latin typeface="Helvetica Neue"/>
              </a:rPr>
              <a:t>QStandardItemModel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6AEE5B-399C-11B3-039A-4FA0A8BA6506}"/>
              </a:ext>
            </a:extLst>
          </p:cNvPr>
          <p:cNvSpPr/>
          <p:nvPr/>
        </p:nvSpPr>
        <p:spPr>
          <a:xfrm>
            <a:off x="5620069" y="6091264"/>
            <a:ext cx="2220911" cy="53805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0" i="0">
                <a:solidFill>
                  <a:schemeClr val="bg1"/>
                </a:solidFill>
                <a:effectLst/>
                <a:latin typeface="Helvetica Neue"/>
              </a:rPr>
              <a:t>QTableView</a:t>
            </a:r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EF1F00-4CEA-2125-87D2-DBA522F1EBFD}"/>
              </a:ext>
            </a:extLst>
          </p:cNvPr>
          <p:cNvSpPr/>
          <p:nvPr/>
        </p:nvSpPr>
        <p:spPr>
          <a:xfrm>
            <a:off x="8107364" y="6091184"/>
            <a:ext cx="2342659" cy="53805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>
                <a:solidFill>
                  <a:schemeClr val="bg1"/>
                </a:solidFill>
              </a:rPr>
              <a:t>QDataWidgetMapper</a:t>
            </a:r>
            <a:endParaRPr lang="zh-CN" altLang="en-US"/>
          </a:p>
        </p:txBody>
      </p: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FEE5522D-9B50-6FD3-AB03-31C036B8592D}"/>
              </a:ext>
            </a:extLst>
          </p:cNvPr>
          <p:cNvCxnSpPr>
            <a:cxnSpLocks/>
            <a:stCxn id="11" idx="0"/>
            <a:endCxn id="10" idx="2"/>
          </p:cNvCxnSpPr>
          <p:nvPr/>
        </p:nvCxnSpPr>
        <p:spPr>
          <a:xfrm rot="5400000" flipH="1" flipV="1">
            <a:off x="6578116" y="4715847"/>
            <a:ext cx="1527826" cy="122300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08A1AEFE-54C9-4F51-D960-A79A299C15AF}"/>
              </a:ext>
            </a:extLst>
          </p:cNvPr>
          <p:cNvCxnSpPr>
            <a:cxnSpLocks/>
            <a:stCxn id="12" idx="0"/>
            <a:endCxn id="10" idx="2"/>
          </p:cNvCxnSpPr>
          <p:nvPr/>
        </p:nvCxnSpPr>
        <p:spPr>
          <a:xfrm rot="16200000" flipV="1">
            <a:off x="7852241" y="4664731"/>
            <a:ext cx="1527746" cy="132516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D4F0894-98BA-33EE-CEC8-176BA4CE4988}"/>
              </a:ext>
            </a:extLst>
          </p:cNvPr>
          <p:cNvSpPr txBox="1"/>
          <p:nvPr/>
        </p:nvSpPr>
        <p:spPr>
          <a:xfrm>
            <a:off x="6844963" y="4677816"/>
            <a:ext cx="1175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zh-CN" altLang="zh-CN" sz="2000" b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setModel</a:t>
            </a:r>
            <a:endParaRPr lang="zh-CN" altLang="en-US" sz="2000" dirty="0">
              <a:solidFill>
                <a:schemeClr val="tx2"/>
              </a:solidFill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B26EA13B-2D06-F3E3-C4F4-A1485D7BD6D8}"/>
              </a:ext>
            </a:extLst>
          </p:cNvPr>
          <p:cNvCxnSpPr>
            <a:cxnSpLocks/>
          </p:cNvCxnSpPr>
          <p:nvPr/>
        </p:nvCxnSpPr>
        <p:spPr>
          <a:xfrm flipH="1">
            <a:off x="9327200" y="6650189"/>
            <a:ext cx="655000" cy="1658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E04ABC77-B6B2-5DC2-F475-F2231155B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5124" y="12664812"/>
            <a:ext cx="4087190" cy="1107996"/>
          </a:xfrm>
          <a:prstGeom prst="rect">
            <a:avLst/>
          </a:prstGeom>
          <a:solidFill>
            <a:srgbClr val="44465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Söhne Mono"/>
              </a:rPr>
              <a:t>QDataWidgetMapper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D1D5DB"/>
                </a:solidFill>
                <a:effectLst/>
                <a:ea typeface="Söhne"/>
              </a:rPr>
              <a:t>是Qt中的一个类，它用于将数据模型中的数据映射到用户界面上的控件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D1D5DB"/>
              </a:solidFill>
              <a:effectLst/>
              <a:ea typeface="Söhn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D1D5DB"/>
                </a:solidFill>
                <a:effectLst/>
                <a:ea typeface="Söhne"/>
              </a:rPr>
              <a:t>，同时也可以将用户界面上的数据更新回数据模型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D1D5DB"/>
              </a:solidFill>
              <a:effectLst/>
              <a:ea typeface="Söhn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D1D5DB"/>
                </a:solidFill>
                <a:effectLst/>
                <a:ea typeface="Söhne"/>
              </a:rPr>
              <a:t>。它是Qt的Model/View编程框架中的一部分，用于实现模型-视图之间的数据交互。</a:t>
            </a:r>
            <a:r>
              <a:rPr kumimoji="0" lang="zh-CN" altLang="zh-CN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044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528ABD99-27AD-280A-07CC-8F17F0469123}"/>
              </a:ext>
            </a:extLst>
          </p:cNvPr>
          <p:cNvSpPr txBox="1"/>
          <p:nvPr/>
        </p:nvSpPr>
        <p:spPr>
          <a:xfrm>
            <a:off x="853440" y="678103"/>
            <a:ext cx="9487095" cy="89562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setupModel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QStandardItemModel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QStringList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names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names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"张三"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"李四"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"王五"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"丁一"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"刘二"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QStringList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phones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phones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"18111111111"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"18111111112"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"18111111113"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"18111111114"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"18111111115"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QStringList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ages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ages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"20"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"31"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"32"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"19"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"26"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row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row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row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QStandardItem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QStandardItem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names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row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row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QStandardItem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phones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row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row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QStandardItem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ages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row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row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updateButtons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row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previousButton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setEnabled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row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nextButton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setEnabled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row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rowCount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QModelIndex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row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tableView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setCurrentIndex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58815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2320" y="211013"/>
            <a:ext cx="91744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i="0">
                <a:solidFill>
                  <a:schemeClr val="accent3"/>
                </a:solidFill>
                <a:effectLst/>
                <a:latin typeface="Helvetica Neue"/>
              </a:rPr>
              <a:t>自定义代理</a:t>
            </a:r>
            <a:endParaRPr lang="en-US" altLang="zh-CN" sz="2000" b="1" i="0">
              <a:solidFill>
                <a:schemeClr val="accent3"/>
              </a:solidFill>
              <a:effectLst/>
              <a:latin typeface="Helvetica Neue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0E9AC4-4702-48AA-AEE6-0BDC10880BB6}"/>
              </a:ext>
            </a:extLst>
          </p:cNvPr>
          <p:cNvSpPr/>
          <p:nvPr/>
        </p:nvSpPr>
        <p:spPr>
          <a:xfrm>
            <a:off x="556114" y="5391084"/>
            <a:ext cx="9412025" cy="147938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/>
              <a:t>QAbstractItemDelegate</a:t>
            </a:r>
            <a:r>
              <a:rPr lang="zh-CN" altLang="en-US" sz="2000"/>
              <a:t>是所有代理类的抽象基类。</a:t>
            </a:r>
            <a:endParaRPr lang="en-US" altLang="zh-CN" sz="2000"/>
          </a:p>
          <a:p>
            <a:r>
              <a:rPr lang="en-US" altLang="zh-CN" sz="2000"/>
              <a:t>QStyledItemDelegate</a:t>
            </a:r>
            <a:r>
              <a:rPr lang="zh-CN" altLang="en-US" sz="2000"/>
              <a:t>是视图组件使用的缺省的代理类，</a:t>
            </a:r>
            <a:r>
              <a:rPr lang="en-US" altLang="zh-CN" sz="2000"/>
              <a:t>QItemDelegate</a:t>
            </a:r>
            <a:r>
              <a:rPr lang="zh-CN" altLang="en-US" sz="2000"/>
              <a:t>也是类似功能的类。区别在于，</a:t>
            </a:r>
            <a:r>
              <a:rPr lang="en-US" altLang="zh-CN" sz="2000"/>
              <a:t>QStyledItemDelegate</a:t>
            </a:r>
            <a:r>
              <a:rPr lang="zh-CN" altLang="en-US" sz="2000"/>
              <a:t>可以使用当前的样式表设置来绘制组件，因此建议使用</a:t>
            </a:r>
            <a:r>
              <a:rPr lang="en-US" altLang="zh-CN" sz="2000"/>
              <a:t>QStyledItemDelegate</a:t>
            </a:r>
            <a:r>
              <a:rPr lang="zh-CN" altLang="en-US" sz="2000"/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2390B2-20C2-482A-ACE8-858044568D2C}"/>
              </a:ext>
            </a:extLst>
          </p:cNvPr>
          <p:cNvSpPr/>
          <p:nvPr/>
        </p:nvSpPr>
        <p:spPr>
          <a:xfrm>
            <a:off x="4064980" y="7055336"/>
            <a:ext cx="3009900" cy="5791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/>
              <a:t>QAbstractItemDelegate</a:t>
            </a:r>
            <a:endParaRPr lang="zh-CN" altLang="en-US" sz="2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CF638B-C4DA-44A6-BA79-D21B0D7E20B6}"/>
              </a:ext>
            </a:extLst>
          </p:cNvPr>
          <p:cNvSpPr/>
          <p:nvPr/>
        </p:nvSpPr>
        <p:spPr>
          <a:xfrm>
            <a:off x="1941540" y="8315176"/>
            <a:ext cx="3009900" cy="5791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/>
              <a:t>QItemDelegate</a:t>
            </a:r>
            <a:endParaRPr lang="zh-CN" altLang="en-US" sz="20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BD87C0-1036-4B53-B2B2-CB5E615802A7}"/>
              </a:ext>
            </a:extLst>
          </p:cNvPr>
          <p:cNvSpPr/>
          <p:nvPr/>
        </p:nvSpPr>
        <p:spPr>
          <a:xfrm>
            <a:off x="1941540" y="9502792"/>
            <a:ext cx="3009900" cy="5791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/>
              <a:t>QSqlRelationalDelegate</a:t>
            </a:r>
            <a:endParaRPr lang="zh-CN" altLang="en-US" sz="20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C1BFC7-8717-4199-98E0-B217CF57E685}"/>
              </a:ext>
            </a:extLst>
          </p:cNvPr>
          <p:cNvSpPr/>
          <p:nvPr/>
        </p:nvSpPr>
        <p:spPr>
          <a:xfrm>
            <a:off x="6188422" y="8315176"/>
            <a:ext cx="3009900" cy="5791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/>
              <a:t>QStyledItemDelegate</a:t>
            </a:r>
            <a:endParaRPr lang="zh-CN" altLang="en-US" sz="200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B4FFD89-2317-4C8F-8AB6-B9692FE2146B}"/>
              </a:ext>
            </a:extLst>
          </p:cNvPr>
          <p:cNvCxnSpPr/>
          <p:nvPr/>
        </p:nvCxnSpPr>
        <p:spPr>
          <a:xfrm>
            <a:off x="3446490" y="7959576"/>
            <a:ext cx="4593431" cy="0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E45A27B-11AB-48D4-A57E-09FFFAA26DC4}"/>
              </a:ext>
            </a:extLst>
          </p:cNvPr>
          <p:cNvCxnSpPr>
            <a:stCxn id="5" idx="2"/>
          </p:cNvCxnSpPr>
          <p:nvPr/>
        </p:nvCxnSpPr>
        <p:spPr>
          <a:xfrm>
            <a:off x="5569930" y="7634456"/>
            <a:ext cx="0" cy="325120"/>
          </a:xfrm>
          <a:prstGeom prst="lin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D7FD436-52D2-493E-97B3-F3A2968FAB0F}"/>
              </a:ext>
            </a:extLst>
          </p:cNvPr>
          <p:cNvCxnSpPr>
            <a:cxnSpLocks/>
          </p:cNvCxnSpPr>
          <p:nvPr/>
        </p:nvCxnSpPr>
        <p:spPr>
          <a:xfrm>
            <a:off x="3446490" y="7959576"/>
            <a:ext cx="0" cy="3251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8B045CA-5DDA-402A-8FD8-62EAE724A1D4}"/>
              </a:ext>
            </a:extLst>
          </p:cNvPr>
          <p:cNvCxnSpPr>
            <a:cxnSpLocks/>
          </p:cNvCxnSpPr>
          <p:nvPr/>
        </p:nvCxnSpPr>
        <p:spPr>
          <a:xfrm>
            <a:off x="7977850" y="7990055"/>
            <a:ext cx="0" cy="3251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F74FF8F6-DE8E-4D9A-84F1-D023166F013F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446490" y="8894296"/>
            <a:ext cx="0" cy="6084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05647377-C6D6-4737-9AE9-404DF5313E3E}"/>
              </a:ext>
            </a:extLst>
          </p:cNvPr>
          <p:cNvSpPr txBox="1"/>
          <p:nvPr/>
        </p:nvSpPr>
        <p:spPr>
          <a:xfrm>
            <a:off x="1385121" y="10809457"/>
            <a:ext cx="457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4B5E775-D881-404D-9D4E-9FF3BA98E742}"/>
              </a:ext>
            </a:extLst>
          </p:cNvPr>
          <p:cNvSpPr txBox="1"/>
          <p:nvPr/>
        </p:nvSpPr>
        <p:spPr>
          <a:xfrm>
            <a:off x="729801" y="10290054"/>
            <a:ext cx="9174480" cy="163121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必须实现以下几个函数</a:t>
            </a:r>
            <a:r>
              <a:rPr lang="en-US" altLang="zh-CN" sz="2000">
                <a:solidFill>
                  <a:schemeClr val="bg1"/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bg1"/>
                </a:solidFill>
                <a:highlight>
                  <a:srgbClr val="800000"/>
                </a:highlight>
              </a:rPr>
              <a:t>createEditor</a:t>
            </a:r>
            <a:r>
              <a:rPr lang="en-US" altLang="zh-CN" sz="2000">
                <a:solidFill>
                  <a:schemeClr val="bg1"/>
                </a:solidFill>
              </a:rPr>
              <a:t>():</a:t>
            </a:r>
            <a:r>
              <a:rPr lang="zh-CN" altLang="en-US" sz="2000">
                <a:solidFill>
                  <a:schemeClr val="bg1"/>
                </a:solidFill>
              </a:rPr>
              <a:t>创建用于编辑模型数据的</a:t>
            </a:r>
            <a:r>
              <a:rPr lang="en-US" altLang="zh-CN" sz="2000">
                <a:solidFill>
                  <a:schemeClr val="bg1"/>
                </a:solidFill>
              </a:rPr>
              <a:t>widget</a:t>
            </a:r>
            <a:r>
              <a:rPr lang="zh-CN" altLang="en-US" sz="2000">
                <a:solidFill>
                  <a:schemeClr val="bg1"/>
                </a:solidFill>
              </a:rPr>
              <a:t>组件，如</a:t>
            </a:r>
            <a:r>
              <a:rPr lang="en-US" altLang="zh-CN" sz="2000">
                <a:solidFill>
                  <a:schemeClr val="bg1"/>
                </a:solidFill>
              </a:rPr>
              <a:t>QSpinBox,QComboBox</a:t>
            </a:r>
            <a:r>
              <a:rPr lang="zh-CN" altLang="en-US" sz="2000">
                <a:solidFill>
                  <a:schemeClr val="bg1"/>
                </a:solidFill>
              </a:rPr>
              <a:t>。</a:t>
            </a:r>
            <a:endParaRPr lang="en-US" altLang="zh-CN" sz="20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bg1"/>
                </a:solidFill>
                <a:highlight>
                  <a:srgbClr val="800000"/>
                </a:highlight>
              </a:rPr>
              <a:t>setEditorData</a:t>
            </a:r>
            <a:r>
              <a:rPr lang="en-US" altLang="zh-CN" sz="2000">
                <a:solidFill>
                  <a:schemeClr val="bg1"/>
                </a:solidFill>
              </a:rPr>
              <a:t>():</a:t>
            </a:r>
            <a:r>
              <a:rPr lang="zh-CN" altLang="en-US" sz="2000">
                <a:solidFill>
                  <a:schemeClr val="bg1"/>
                </a:solidFill>
              </a:rPr>
              <a:t>从数据模型获取数据，供</a:t>
            </a:r>
            <a:r>
              <a:rPr lang="en-US" altLang="zh-CN" sz="2000">
                <a:solidFill>
                  <a:schemeClr val="bg1"/>
                </a:solidFill>
              </a:rPr>
              <a:t>widget</a:t>
            </a:r>
            <a:r>
              <a:rPr lang="zh-CN" altLang="en-US" sz="2000">
                <a:solidFill>
                  <a:schemeClr val="bg1"/>
                </a:solidFill>
              </a:rPr>
              <a:t>组件进行编辑 。 </a:t>
            </a:r>
            <a:endParaRPr lang="en-US" altLang="zh-CN" sz="20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bg1"/>
                </a:solidFill>
                <a:highlight>
                  <a:srgbClr val="800000"/>
                </a:highlight>
              </a:rPr>
              <a:t>setModelData</a:t>
            </a:r>
            <a:r>
              <a:rPr lang="en-US" altLang="zh-CN" sz="2000">
                <a:solidFill>
                  <a:schemeClr val="bg1"/>
                </a:solidFill>
              </a:rPr>
              <a:t>():</a:t>
            </a:r>
            <a:r>
              <a:rPr lang="zh-CN" altLang="en-US" sz="2000">
                <a:solidFill>
                  <a:schemeClr val="bg1"/>
                </a:solidFill>
              </a:rPr>
              <a:t>将</a:t>
            </a:r>
            <a:r>
              <a:rPr lang="en-US" altLang="zh-CN" sz="2000">
                <a:solidFill>
                  <a:schemeClr val="bg1"/>
                </a:solidFill>
              </a:rPr>
              <a:t>widget</a:t>
            </a:r>
            <a:r>
              <a:rPr lang="zh-CN" altLang="en-US" sz="2000">
                <a:solidFill>
                  <a:schemeClr val="bg1"/>
                </a:solidFill>
              </a:rPr>
              <a:t>上的数据更新到数据模型。</a:t>
            </a:r>
            <a:endParaRPr lang="en-US" altLang="zh-CN" sz="20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bg1"/>
                </a:solidFill>
                <a:highlight>
                  <a:srgbClr val="800000"/>
                </a:highlight>
              </a:rPr>
              <a:t>updateEditorGeometry</a:t>
            </a:r>
            <a:r>
              <a:rPr lang="en-US" altLang="zh-CN" sz="2000">
                <a:solidFill>
                  <a:schemeClr val="bg1"/>
                </a:solidFill>
              </a:rPr>
              <a:t>():</a:t>
            </a:r>
            <a:r>
              <a:rPr lang="zh-CN" altLang="en-US" sz="2000">
                <a:solidFill>
                  <a:schemeClr val="bg1"/>
                </a:solidFill>
              </a:rPr>
              <a:t>用于给</a:t>
            </a:r>
            <a:r>
              <a:rPr lang="en-US" altLang="zh-CN" sz="2000">
                <a:solidFill>
                  <a:schemeClr val="bg1"/>
                </a:solidFill>
              </a:rPr>
              <a:t>widget</a:t>
            </a:r>
            <a:r>
              <a:rPr lang="zh-CN" altLang="en-US" sz="2000">
                <a:solidFill>
                  <a:schemeClr val="bg1"/>
                </a:solidFill>
              </a:rPr>
              <a:t>组件设置一个合适的大小。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4426312-198B-4556-8685-E939295E3AE0}"/>
              </a:ext>
            </a:extLst>
          </p:cNvPr>
          <p:cNvSpPr txBox="1"/>
          <p:nvPr/>
        </p:nvSpPr>
        <p:spPr>
          <a:xfrm>
            <a:off x="609164" y="4069449"/>
            <a:ext cx="6095999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在标准的视图组件中，代理功能显示一个数据，当数据被编辑时，提供一个编辑器，一般是</a:t>
            </a:r>
            <a:r>
              <a:rPr lang="en-US" altLang="zh-CN" b="0" i="0">
                <a:solidFill>
                  <a:schemeClr val="bg1"/>
                </a:solidFill>
                <a:effectLst/>
                <a:latin typeface="Helvetica Neue"/>
              </a:rPr>
              <a:t>QLineEdit </a:t>
            </a:r>
            <a:r>
              <a:rPr lang="zh-CN" altLang="en-US" b="0" i="0">
                <a:solidFill>
                  <a:schemeClr val="bg1"/>
                </a:solidFill>
                <a:effectLst/>
                <a:latin typeface="Helvetica Neue"/>
              </a:rPr>
              <a:t>。</a:t>
            </a:r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CEBFE0-CD05-476A-B6A4-2964AD0677F6}"/>
              </a:ext>
            </a:extLst>
          </p:cNvPr>
          <p:cNvSpPr/>
          <p:nvPr/>
        </p:nvSpPr>
        <p:spPr>
          <a:xfrm>
            <a:off x="7308560" y="927654"/>
            <a:ext cx="782320" cy="707886"/>
          </a:xfrm>
          <a:prstGeom prst="rect">
            <a:avLst/>
          </a:prstGeom>
          <a:ln>
            <a:prstDash val="sysDot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数据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6D9730C-4C3D-4DAD-9C98-D188EF972853}"/>
              </a:ext>
            </a:extLst>
          </p:cNvPr>
          <p:cNvSpPr/>
          <p:nvPr/>
        </p:nvSpPr>
        <p:spPr>
          <a:xfrm>
            <a:off x="7074880" y="2553254"/>
            <a:ext cx="1270000" cy="8331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Model</a:t>
            </a:r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E0D86D-4463-4A4B-A616-DC25AF75F9BA}"/>
              </a:ext>
            </a:extLst>
          </p:cNvPr>
          <p:cNvSpPr/>
          <p:nvPr/>
        </p:nvSpPr>
        <p:spPr>
          <a:xfrm>
            <a:off x="7074880" y="4199174"/>
            <a:ext cx="1270000" cy="8331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View</a:t>
            </a:r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411FFA9-6CD8-42B6-AF93-29897EA7FAD9}"/>
              </a:ext>
            </a:extLst>
          </p:cNvPr>
          <p:cNvSpPr/>
          <p:nvPr/>
        </p:nvSpPr>
        <p:spPr>
          <a:xfrm>
            <a:off x="8944320" y="3386374"/>
            <a:ext cx="792480" cy="812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代理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0880BD4-DD07-4090-AFA6-B67F97238738}"/>
              </a:ext>
            </a:extLst>
          </p:cNvPr>
          <p:cNvCxnSpPr>
            <a:cxnSpLocks/>
            <a:stCxn id="18" idx="2"/>
            <a:endCxn id="21" idx="0"/>
          </p:cNvCxnSpPr>
          <p:nvPr/>
        </p:nvCxnSpPr>
        <p:spPr>
          <a:xfrm>
            <a:off x="7699720" y="1635540"/>
            <a:ext cx="10160" cy="9177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AEF6DE92-1C6B-4797-873C-D13AC63A67FB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>
            <a:off x="7709880" y="3386374"/>
            <a:ext cx="0" cy="812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</p:cxnSp>
      <p:cxnSp>
        <p:nvCxnSpPr>
          <p:cNvPr id="29" name="连接符: 曲线 28">
            <a:extLst>
              <a:ext uri="{FF2B5EF4-FFF2-40B4-BE49-F238E27FC236}">
                <a16:creationId xmlns:a16="http://schemas.microsoft.com/office/drawing/2014/main" id="{942E8E84-97FE-43BC-BA45-7A13D018C6E8}"/>
              </a:ext>
            </a:extLst>
          </p:cNvPr>
          <p:cNvCxnSpPr>
            <a:stCxn id="21" idx="3"/>
            <a:endCxn id="25" idx="0"/>
          </p:cNvCxnSpPr>
          <p:nvPr/>
        </p:nvCxnSpPr>
        <p:spPr>
          <a:xfrm>
            <a:off x="8344880" y="2969814"/>
            <a:ext cx="995680" cy="416560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</p:cxn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84EE0BBB-3107-4512-8D76-FEF08D258181}"/>
              </a:ext>
            </a:extLst>
          </p:cNvPr>
          <p:cNvCxnSpPr>
            <a:stCxn id="22" idx="3"/>
            <a:endCxn id="25" idx="4"/>
          </p:cNvCxnSpPr>
          <p:nvPr/>
        </p:nvCxnSpPr>
        <p:spPr>
          <a:xfrm flipV="1">
            <a:off x="8344880" y="4199174"/>
            <a:ext cx="995680" cy="416560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2D2888C6-FECF-48CB-BAF9-A0181776A482}"/>
              </a:ext>
            </a:extLst>
          </p:cNvPr>
          <p:cNvSpPr txBox="1"/>
          <p:nvPr/>
        </p:nvSpPr>
        <p:spPr>
          <a:xfrm>
            <a:off x="7074880" y="360287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显示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069EF65-3715-4EEE-8D8C-8A0A5C7FFBD4}"/>
              </a:ext>
            </a:extLst>
          </p:cNvPr>
          <p:cNvSpPr txBox="1"/>
          <p:nvPr/>
        </p:nvSpPr>
        <p:spPr>
          <a:xfrm>
            <a:off x="8841053" y="450711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显示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172398F-C246-4048-B7BF-16D8E97C53F3}"/>
              </a:ext>
            </a:extLst>
          </p:cNvPr>
          <p:cNvSpPr txBox="1"/>
          <p:nvPr/>
        </p:nvSpPr>
        <p:spPr>
          <a:xfrm>
            <a:off x="8691193" y="264941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编辑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B085F59-1DA5-03E1-7CA7-A63DC0074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789" y="1046871"/>
            <a:ext cx="4248150" cy="2686050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2848AEAD-6319-51CD-8FEC-99DC6C3D8722}"/>
              </a:ext>
            </a:extLst>
          </p:cNvPr>
          <p:cNvSpPr txBox="1"/>
          <p:nvPr/>
        </p:nvSpPr>
        <p:spPr>
          <a:xfrm>
            <a:off x="729801" y="12500390"/>
            <a:ext cx="940308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>
                <a:solidFill>
                  <a:srgbClr val="800080"/>
                </a:solidFill>
                <a:effectLst/>
              </a:rPr>
              <a:t>IntSpinDelegate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 b="1">
                <a:solidFill>
                  <a:srgbClr val="800000"/>
                </a:solidFill>
                <a:effectLst/>
              </a:rPr>
              <a:t>intSpinDelegate</a:t>
            </a:r>
            <a:r>
              <a:rPr lang="en-US" altLang="zh-CN"/>
              <a:t>;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endParaRPr lang="en-US" altLang="zh-CN">
              <a:solidFill>
                <a:srgbClr val="008000"/>
              </a:solidFill>
            </a:endParaRPr>
          </a:p>
          <a:p>
            <a:endParaRPr lang="en-US" altLang="zh-CN">
              <a:solidFill>
                <a:srgbClr val="008000"/>
              </a:solidFill>
            </a:endParaRPr>
          </a:p>
          <a:p>
            <a:r>
              <a:rPr lang="en-US" altLang="zh-CN">
                <a:solidFill>
                  <a:srgbClr val="800000"/>
                </a:solidFill>
                <a:effectLst/>
              </a:rPr>
              <a:t>ui</a:t>
            </a:r>
            <a:r>
              <a:rPr lang="en-US" altLang="zh-CN"/>
              <a:t>-&gt;</a:t>
            </a:r>
            <a:r>
              <a:rPr lang="en-US" altLang="zh-CN">
                <a:solidFill>
                  <a:srgbClr val="800000"/>
                </a:solidFill>
                <a:effectLst/>
              </a:rPr>
              <a:t>tableView</a:t>
            </a:r>
            <a:r>
              <a:rPr lang="en-US" altLang="zh-CN"/>
              <a:t>-&gt;</a:t>
            </a:r>
            <a:r>
              <a:rPr lang="en-US" altLang="zh-CN">
                <a:solidFill>
                  <a:srgbClr val="00677C"/>
                </a:solidFill>
                <a:effectLst/>
              </a:rPr>
              <a:t>setItemDelegateForColumn</a:t>
            </a:r>
            <a:r>
              <a:rPr lang="en-US" altLang="zh-CN"/>
              <a:t>(</a:t>
            </a:r>
            <a:r>
              <a:rPr lang="en-US" altLang="zh-CN">
                <a:solidFill>
                  <a:srgbClr val="000080"/>
                </a:solidFill>
                <a:effectLst/>
              </a:rPr>
              <a:t>2</a:t>
            </a:r>
            <a:r>
              <a:rPr lang="en-US" altLang="zh-CN"/>
              <a:t>,&amp;</a:t>
            </a:r>
            <a:r>
              <a:rPr lang="en-US" altLang="zh-CN" i="1">
                <a:solidFill>
                  <a:srgbClr val="800000"/>
                </a:solidFill>
                <a:effectLst/>
              </a:rPr>
              <a:t>intSpinDelegate</a:t>
            </a:r>
            <a:r>
              <a:rPr lang="en-US" altLang="zh-CN"/>
              <a:t>);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//</a:t>
            </a:r>
            <a:r>
              <a:rPr lang="zh-CN" altLang="en-US">
                <a:solidFill>
                  <a:srgbClr val="008000"/>
                </a:solidFill>
                <a:effectLst/>
              </a:rPr>
              <a:t>在主窗口构造函数中添加</a:t>
            </a:r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CB37E13-1E5B-17CF-E7AF-318E539F0D9E}"/>
              </a:ext>
            </a:extLst>
          </p:cNvPr>
          <p:cNvSpPr txBox="1"/>
          <p:nvPr/>
        </p:nvSpPr>
        <p:spPr>
          <a:xfrm>
            <a:off x="626534" y="12122886"/>
            <a:ext cx="8214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基于</a:t>
            </a:r>
            <a:r>
              <a:rPr lang="en-US" altLang="zh-CN">
                <a:solidFill>
                  <a:schemeClr val="bg1"/>
                </a:solidFill>
              </a:rPr>
              <a:t>QStyledItemDelegate</a:t>
            </a:r>
            <a:r>
              <a:rPr lang="zh-CN" altLang="en-US">
                <a:solidFill>
                  <a:schemeClr val="bg1"/>
                </a:solidFill>
              </a:rPr>
              <a:t>构造一个新的类型</a:t>
            </a:r>
            <a:r>
              <a:rPr lang="en-US" altLang="zh-CN">
                <a:solidFill>
                  <a:schemeClr val="bg1"/>
                </a:solidFill>
              </a:rPr>
              <a:t>IntSpinDelegate</a:t>
            </a:r>
            <a:r>
              <a:rPr lang="zh-CN" altLang="en-US">
                <a:solidFill>
                  <a:schemeClr val="bg1"/>
                </a:solidFill>
              </a:rPr>
              <a:t>，完成以上函数：</a:t>
            </a:r>
            <a:endParaRPr lang="en-US" altLang="zh-C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859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CA39B15-5B73-F50D-3759-4D3AEE851AE0}"/>
              </a:ext>
            </a:extLst>
          </p:cNvPr>
          <p:cNvSpPr txBox="1"/>
          <p:nvPr/>
        </p:nvSpPr>
        <p:spPr>
          <a:xfrm>
            <a:off x="777240" y="704076"/>
            <a:ext cx="9484360" cy="117262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IntSpinDelegate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createEditor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QStyleOptionViewItem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option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QModelIndex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//创建代理编辑组件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Q_UNUSED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option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Q_UNUSED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QSpinBox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editor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QSpinBox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//创建一个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00800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editor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setMinimum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editor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setMaximum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99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editor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//返回此编辑器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IntSpinDelegate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setEditorData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editor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QModelIndex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//从数据模型获取数据，显示到代理组件中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//获取数据模型的模型索引指向的单元的数据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data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EditRole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QSpinBox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spinBox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static_cast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QSpinBox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*&gt;(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editor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spinBox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//设置编辑器的数值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IntSpinDelegate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setModelData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editor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QAbstractItemModel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QModelIndex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//将代理组件的数据，保存到数据模型中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QSpinBox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spinBox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static_cast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QSpinBox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*&gt;(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editor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00800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spinBox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interpretText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//解释数据，如果数据被修改后，就触发信号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spinBox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//获取spinBox的值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model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setData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EditRole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//更新到数据模型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IntSpinDelegate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updateEditorGeometry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editor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QStyleOptionViewItem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option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QModelIndex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//设置组件大小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Q_UNUSED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editor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setGeometry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option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73791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FjYTU0NWJkMWQ1YTMwMTViZThhYTk5YTFlZGRhMzgifQ=="/>
</p:tagLst>
</file>

<file path=ppt/theme/theme1.xml><?xml version="1.0" encoding="utf-8"?>
<a:theme xmlns:a="http://schemas.openxmlformats.org/drawingml/2006/main" name="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第4章：程序流程之循环</Template>
  <TotalTime>4947</TotalTime>
  <Words>2441</Words>
  <Application>Microsoft Office PowerPoint</Application>
  <PresentationFormat>自定义</PresentationFormat>
  <Paragraphs>278</Paragraphs>
  <Slides>10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 Unicode MS</vt:lpstr>
      <vt:lpstr>Helvetica Neue</vt:lpstr>
      <vt:lpstr>等线</vt:lpstr>
      <vt:lpstr>华文琥珀</vt:lpstr>
      <vt:lpstr>Arial</vt:lpstr>
      <vt:lpstr>Calibri</vt:lpstr>
      <vt:lpstr>Cambria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蔡乐</dc:creator>
  <cp:lastModifiedBy>宇恒 张</cp:lastModifiedBy>
  <cp:revision>1463</cp:revision>
  <dcterms:created xsi:type="dcterms:W3CDTF">2020-06-26T01:00:00Z</dcterms:created>
  <dcterms:modified xsi:type="dcterms:W3CDTF">2023-08-02T07:11:16Z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2052-11.1.0.11744</vt:lpwstr>
  </property>
  <property fmtid="{D5CDD505-2E9C-101B-9397-08002B2CF9AE}" pid="3" name="ICV">
    <vt:lpwstr>35C8A0B9FA4B4BC7B03E97E74C2317FB</vt:lpwstr>
  </property>
</Properties>
</file>