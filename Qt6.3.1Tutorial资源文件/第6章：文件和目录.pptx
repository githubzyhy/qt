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0"/>
  </p:notesMasterIdLst>
  <p:handoutMasterIdLst>
    <p:handoutMasterId r:id="rId11"/>
  </p:handoutMasterIdLst>
  <p:sldIdLst>
    <p:sldId id="258" r:id="rId3"/>
    <p:sldId id="330" r:id="rId4"/>
    <p:sldId id="331" r:id="rId5"/>
    <p:sldId id="332" r:id="rId6"/>
    <p:sldId id="333" r:id="rId7"/>
    <p:sldId id="336" r:id="rId8"/>
    <p:sldId id="335" r:id="rId9"/>
  </p:sldIdLst>
  <p:sldSz cx="10625138" cy="14400213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">
          <p15:clr>
            <a:srgbClr val="A4A3A4"/>
          </p15:clr>
        </p15:guide>
        <p15:guide id="2" orient="horz" pos="45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56" autoAdjust="0"/>
    <p:restoredTop sz="95244" autoAdjust="0"/>
  </p:normalViewPr>
  <p:slideViewPr>
    <p:cSldViewPr snapToGrid="0" showGuides="1">
      <p:cViewPr>
        <p:scale>
          <a:sx n="100" d="100"/>
          <a:sy n="100" d="100"/>
        </p:scale>
        <p:origin x="499" y="-518"/>
      </p:cViewPr>
      <p:guideLst>
        <p:guide pos="412"/>
        <p:guide orient="horz" pos="45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227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54208-A716-42FF-80CF-57B00CE66560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B86B2-45FA-46FD-932F-E74808AB18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13B3F-2B31-4A61-B985-2117CDAFE2AD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1143000"/>
            <a:ext cx="2276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0FF05-BDD8-42F0-BA90-04AD6ABB1C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1143000"/>
            <a:ext cx="22764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0FF05-BDD8-42F0-BA90-04AD6ABB1C0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657" y="160559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59041" y="213096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2022/7/17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317" y="253896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05701" y="306433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dir.html#SortFlag-enum" TargetMode="External"/><Relationship Id="rId2" Type="http://schemas.openxmlformats.org/officeDocument/2006/relationships/hyperlink" Target="https://doc.qt.io/qt-6/qdir.html#Filter-enum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screen"/>
          <a:srcRect l="3265" t="6325" r="4323" b="12927"/>
          <a:stretch>
            <a:fillRect/>
          </a:stretch>
        </p:blipFill>
        <p:spPr>
          <a:xfrm>
            <a:off x="2191043" y="1088639"/>
            <a:ext cx="6429671" cy="180741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41524" y="1358360"/>
            <a:ext cx="617022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cs typeface="+mn-ea"/>
                <a:sym typeface="+mn-lt"/>
              </a:rPr>
              <a:t>文件和目录</a:t>
            </a:r>
          </a:p>
        </p:txBody>
      </p:sp>
      <p:grpSp>
        <p:nvGrpSpPr>
          <p:cNvPr id="60" name="组合 1274"/>
          <p:cNvGrpSpPr/>
          <p:nvPr/>
        </p:nvGrpSpPr>
        <p:grpSpPr>
          <a:xfrm>
            <a:off x="2441526" y="3237675"/>
            <a:ext cx="338686" cy="261779"/>
            <a:chOff x="5248276" y="1095375"/>
            <a:chExt cx="727075" cy="561976"/>
          </a:xfrm>
        </p:grpSpPr>
        <p:sp>
          <p:nvSpPr>
            <p:cNvPr id="61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2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3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4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5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6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7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8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9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0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1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2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3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4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5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6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7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8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9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0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1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2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3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5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6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7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8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9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0" name="文本框 89"/>
          <p:cNvSpPr txBox="1"/>
          <p:nvPr/>
        </p:nvSpPr>
        <p:spPr>
          <a:xfrm>
            <a:off x="2833453" y="3140572"/>
            <a:ext cx="2994875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40">
                <a:solidFill>
                  <a:schemeClr val="bg1"/>
                </a:solidFill>
                <a:cs typeface="+mn-ea"/>
                <a:sym typeface="+mn-lt"/>
              </a:rPr>
              <a:t>QT6 C++ 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开发教程</a:t>
            </a:r>
          </a:p>
        </p:txBody>
      </p:sp>
      <p:grpSp>
        <p:nvGrpSpPr>
          <p:cNvPr id="160" name="组合 1274"/>
          <p:cNvGrpSpPr/>
          <p:nvPr/>
        </p:nvGrpSpPr>
        <p:grpSpPr>
          <a:xfrm>
            <a:off x="6245741" y="3237675"/>
            <a:ext cx="338686" cy="261779"/>
            <a:chOff x="5248276" y="1095375"/>
            <a:chExt cx="727075" cy="561976"/>
          </a:xfrm>
        </p:grpSpPr>
        <p:sp>
          <p:nvSpPr>
            <p:cNvPr id="162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5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0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1" name="文本框 160"/>
          <p:cNvSpPr txBox="1"/>
          <p:nvPr/>
        </p:nvSpPr>
        <p:spPr>
          <a:xfrm>
            <a:off x="6637671" y="3140572"/>
            <a:ext cx="1553157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第</a:t>
            </a:r>
            <a:r>
              <a:rPr lang="en-US" altLang="zh-CN" sz="2440">
                <a:solidFill>
                  <a:schemeClr val="bg1"/>
                </a:solidFill>
                <a:cs typeface="+mn-ea"/>
                <a:sym typeface="+mn-lt"/>
              </a:rPr>
              <a:t>4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章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0" grpId="0"/>
      <p:bldP spid="1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7A9E53-8EC5-5992-D310-566A65C9305D}"/>
              </a:ext>
            </a:extLst>
          </p:cNvPr>
          <p:cNvSpPr txBox="1"/>
          <p:nvPr/>
        </p:nvSpPr>
        <p:spPr>
          <a:xfrm>
            <a:off x="4766134" y="332621"/>
            <a:ext cx="7328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accent3"/>
                </a:solidFill>
              </a:rPr>
              <a:t>QFile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3C3AD4F-1742-B663-4EA8-1B5F890FC976}"/>
              </a:ext>
            </a:extLst>
          </p:cNvPr>
          <p:cNvSpPr txBox="1"/>
          <p:nvPr/>
        </p:nvSpPr>
        <p:spPr>
          <a:xfrm>
            <a:off x="1076203" y="732731"/>
            <a:ext cx="81127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Qt</a:t>
            </a:r>
            <a:r>
              <a:rPr lang="zh-CN" altLang="en-US">
                <a:solidFill>
                  <a:schemeClr val="bg1"/>
                </a:solidFill>
              </a:rPr>
              <a:t>处理文件与目录的基本类：</a:t>
            </a:r>
            <a:endParaRPr lang="en-US" altLang="zh-CN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  <a:highlight>
                  <a:srgbClr val="0000FF"/>
                </a:highlight>
              </a:rPr>
              <a:t>QFile</a:t>
            </a:r>
            <a:r>
              <a:rPr lang="zh-CN" altLang="en-US">
                <a:solidFill>
                  <a:schemeClr val="bg1"/>
                </a:solidFill>
                <a:highlight>
                  <a:srgbClr val="0000FF"/>
                </a:highlight>
              </a:rPr>
              <a:t>：用于读取和写入文件的接口。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QDir</a:t>
            </a:r>
            <a:r>
              <a:rPr lang="zh-CN" altLang="en-US">
                <a:solidFill>
                  <a:schemeClr val="bg1"/>
                </a:solidFill>
              </a:rPr>
              <a:t>：对目录结构及其内容的访问。</a:t>
            </a:r>
            <a:endParaRPr lang="en-US" altLang="zh-CN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QFileInfo</a:t>
            </a:r>
            <a:r>
              <a:rPr lang="zh-CN" altLang="en-US">
                <a:solidFill>
                  <a:schemeClr val="bg1"/>
                </a:solidFill>
              </a:rPr>
              <a:t>：独立于系统的文件信息，包括文件的名称和在文件系统中的位置、访问时间和修改时间、权限或文件所有权。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1076203" y="2243419"/>
            <a:ext cx="8489435" cy="53553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&lt;QFile&gt;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[])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!=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qWarning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"请给出文件名称！！"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QFile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filename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(!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exists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qWarning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"指定的文件不存在。"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677C"/>
                </a:solidFill>
                <a:effectLst/>
              </a:rPr>
              <a:t>&lt;&lt;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92E64"/>
                </a:solidFill>
                <a:effectLst/>
              </a:rPr>
              <a:t>f</a:t>
            </a:r>
            <a:r>
              <a:rPr lang="en-US" altLang="zh-CN"/>
              <a:t>.</a:t>
            </a:r>
            <a:r>
              <a:rPr lang="en-US" altLang="zh-CN" i="1">
                <a:solidFill>
                  <a:srgbClr val="00677C"/>
                </a:solidFill>
                <a:effectLst/>
              </a:rPr>
              <a:t>fileName</a:t>
            </a:r>
            <a:r>
              <a:rPr lang="en-US" altLang="zh-CN"/>
              <a:t>()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626A9CD-7124-2322-F0EA-85F3A739697D}"/>
              </a:ext>
            </a:extLst>
          </p:cNvPr>
          <p:cNvSpPr txBox="1"/>
          <p:nvPr/>
        </p:nvSpPr>
        <p:spPr>
          <a:xfrm>
            <a:off x="6909875" y="5917445"/>
            <a:ext cx="279908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"test.txt"</a:t>
            </a:r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C04CEC-255A-8D65-517B-3C36EFF78ACF}"/>
              </a:ext>
            </a:extLst>
          </p:cNvPr>
          <p:cNvSpPr txBox="1"/>
          <p:nvPr/>
        </p:nvSpPr>
        <p:spPr>
          <a:xfrm>
            <a:off x="7569200" y="2264632"/>
            <a:ext cx="1996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文件名称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CF76BAE-CE4F-7AD5-08BE-15EA51340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083" y="7735300"/>
            <a:ext cx="8086971" cy="216454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4202332-CE9D-7C2B-F103-F611FD878073}"/>
              </a:ext>
            </a:extLst>
          </p:cNvPr>
          <p:cNvSpPr txBox="1"/>
          <p:nvPr/>
        </p:nvSpPr>
        <p:spPr>
          <a:xfrm>
            <a:off x="4846319" y="2770533"/>
            <a:ext cx="4862635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>
                <a:highlight>
                  <a:srgbClr val="00FF00"/>
                </a:highlight>
              </a:rPr>
              <a:t>QFile是一种输入/输出设备</a:t>
            </a:r>
            <a:r>
              <a:rPr lang="zh-CN" altLang="en-US"/>
              <a:t>，用于读取和写入文本、二进制文件和资源。QFile可以单独使用，也可以与QTextStream或QDataStream一起使用。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3A03A9-10A8-B890-819B-8682FA0E7013}"/>
              </a:ext>
            </a:extLst>
          </p:cNvPr>
          <p:cNvSpPr/>
          <p:nvPr/>
        </p:nvSpPr>
        <p:spPr>
          <a:xfrm>
            <a:off x="7261860" y="3977640"/>
            <a:ext cx="150114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effectLst/>
              </a:rPr>
              <a:t>QIODevice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9E99FE4-D83A-2015-2418-ADBDC6FDCC31}"/>
              </a:ext>
            </a:extLst>
          </p:cNvPr>
          <p:cNvSpPr/>
          <p:nvPr/>
        </p:nvSpPr>
        <p:spPr>
          <a:xfrm>
            <a:off x="7261860" y="4633617"/>
            <a:ext cx="150114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effectLst/>
              </a:rPr>
              <a:t>QFileDevice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DEB227C-D2DE-7FFB-55EB-23B9AF6C6C54}"/>
              </a:ext>
            </a:extLst>
          </p:cNvPr>
          <p:cNvSpPr/>
          <p:nvPr/>
        </p:nvSpPr>
        <p:spPr>
          <a:xfrm>
            <a:off x="7261860" y="5268577"/>
            <a:ext cx="150114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QFile</a:t>
            </a:r>
            <a:endParaRPr lang="zh-CN" altLang="en-US" b="1">
              <a:solidFill>
                <a:schemeClr val="bg1"/>
              </a:solidFill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F5BB081-AE37-B610-F826-111186EC687A}"/>
              </a:ext>
            </a:extLst>
          </p:cNvPr>
          <p:cNvCxnSpPr>
            <a:stCxn id="14" idx="0"/>
            <a:endCxn id="5" idx="2"/>
          </p:cNvCxnSpPr>
          <p:nvPr/>
        </p:nvCxnSpPr>
        <p:spPr>
          <a:xfrm flipV="1">
            <a:off x="8012430" y="4346972"/>
            <a:ext cx="0" cy="286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2627E38-FBCE-3E44-E2C3-F5C4C6B4FFF3}"/>
              </a:ext>
            </a:extLst>
          </p:cNvPr>
          <p:cNvCxnSpPr>
            <a:stCxn id="19" idx="0"/>
            <a:endCxn id="14" idx="2"/>
          </p:cNvCxnSpPr>
          <p:nvPr/>
        </p:nvCxnSpPr>
        <p:spPr>
          <a:xfrm flipV="1">
            <a:off x="8012430" y="5002949"/>
            <a:ext cx="0" cy="265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324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1067851" y="753997"/>
            <a:ext cx="8489435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&lt;QTextStream&gt;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&lt;QFile&gt;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QFile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"words.txt"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(!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open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QIODevice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ReadOnly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qWarning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"Cannot open file for reading"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QTextStream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while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(!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atEnd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line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readLine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qDebug()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line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626A9CD-7124-2322-F0EA-85F3A739697D}"/>
              </a:ext>
            </a:extLst>
          </p:cNvPr>
          <p:cNvSpPr txBox="1"/>
          <p:nvPr/>
        </p:nvSpPr>
        <p:spPr>
          <a:xfrm>
            <a:off x="8249489" y="2531937"/>
            <a:ext cx="1287834" cy="258532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sky</a:t>
            </a:r>
          </a:p>
          <a:p>
            <a:r>
              <a:rPr lang="en-US" altLang="zh-CN"/>
              <a:t>blue</a:t>
            </a:r>
          </a:p>
          <a:p>
            <a:r>
              <a:rPr lang="en-US" altLang="zh-CN"/>
              <a:t>cloud</a:t>
            </a:r>
          </a:p>
          <a:p>
            <a:r>
              <a:rPr lang="en-US" altLang="zh-CN"/>
              <a:t>falcon</a:t>
            </a:r>
          </a:p>
          <a:p>
            <a:r>
              <a:rPr lang="en-US" altLang="zh-CN"/>
              <a:t>forest</a:t>
            </a:r>
          </a:p>
          <a:p>
            <a:r>
              <a:rPr lang="en-US" altLang="zh-CN"/>
              <a:t>lake</a:t>
            </a:r>
          </a:p>
          <a:p>
            <a:r>
              <a:rPr lang="en-US" altLang="zh-CN"/>
              <a:t>cup</a:t>
            </a:r>
          </a:p>
          <a:p>
            <a:r>
              <a:rPr lang="en-US" altLang="zh-CN"/>
              <a:t>bear</a:t>
            </a:r>
          </a:p>
          <a:p>
            <a:r>
              <a:rPr lang="en-US" altLang="zh-CN"/>
              <a:t>wolf</a:t>
            </a:r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07990C-5445-47C0-D063-A3BD7350EF14}"/>
              </a:ext>
            </a:extLst>
          </p:cNvPr>
          <p:cNvSpPr txBox="1"/>
          <p:nvPr/>
        </p:nvSpPr>
        <p:spPr>
          <a:xfrm>
            <a:off x="5312568" y="3192702"/>
            <a:ext cx="2701956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为了读取文件的内容：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打开文件进行读取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创建输入文件流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从该流中读取数据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C04CEC-255A-8D65-517B-3C36EFF78ACF}"/>
              </a:ext>
            </a:extLst>
          </p:cNvPr>
          <p:cNvSpPr txBox="1"/>
          <p:nvPr/>
        </p:nvSpPr>
        <p:spPr>
          <a:xfrm>
            <a:off x="7560848" y="775210"/>
            <a:ext cx="1996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读取文件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972035F-1F01-8473-BE7E-BEE1608B0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7E2A26-1141-7D3B-D0C6-3A4331944D3B}"/>
              </a:ext>
            </a:extLst>
          </p:cNvPr>
          <p:cNvSpPr txBox="1"/>
          <p:nvPr/>
        </p:nvSpPr>
        <p:spPr>
          <a:xfrm>
            <a:off x="1047888" y="6028746"/>
            <a:ext cx="8489435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&lt;QTextStream&gt;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&lt;QFile&gt;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using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namespace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QTextStream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stdout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setEncoding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QStringConverter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System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names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.txt"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QFile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open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QIODevice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WriteOnly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QTextStream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(&amp;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"张三"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"李四"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"王五"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qWarning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"Could not open file"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3E715D8-5E2D-EC98-7C0F-790B9EBE9F43}"/>
              </a:ext>
            </a:extLst>
          </p:cNvPr>
          <p:cNvSpPr txBox="1"/>
          <p:nvPr/>
        </p:nvSpPr>
        <p:spPr>
          <a:xfrm>
            <a:off x="6423949" y="6470091"/>
            <a:ext cx="3156555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为了写入文件：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以写入模式打开文件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创建指向该文件的输出流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使用写入操作符写入该流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4F2582F-FA5D-E6AB-2883-78050D0E22E1}"/>
              </a:ext>
            </a:extLst>
          </p:cNvPr>
          <p:cNvSpPr txBox="1"/>
          <p:nvPr/>
        </p:nvSpPr>
        <p:spPr>
          <a:xfrm>
            <a:off x="7540885" y="6049959"/>
            <a:ext cx="1996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写文件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D2D5A7A-1B78-98B2-71F0-CC42FCF8D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134" y="7866856"/>
            <a:ext cx="1981200" cy="16764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EFFD4C6-29EC-19BA-B8F5-6B22E91CE2A5}"/>
              </a:ext>
            </a:extLst>
          </p:cNvPr>
          <p:cNvSpPr txBox="1"/>
          <p:nvPr/>
        </p:nvSpPr>
        <p:spPr>
          <a:xfrm>
            <a:off x="5074919" y="1289717"/>
            <a:ext cx="4462403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/>
              <a:t>QTextStream</a:t>
            </a:r>
            <a:r>
              <a:rPr lang="zh-CN" altLang="en-US"/>
              <a:t>可以在</a:t>
            </a:r>
            <a:r>
              <a:rPr lang="en-US" altLang="zh-CN"/>
              <a:t>QIODevice</a:t>
            </a:r>
            <a:r>
              <a:rPr lang="zh-CN" altLang="en-US"/>
              <a:t>、</a:t>
            </a:r>
            <a:r>
              <a:rPr lang="en-US" altLang="zh-CN"/>
              <a:t>QByteArray</a:t>
            </a:r>
            <a:r>
              <a:rPr lang="zh-CN" altLang="en-US"/>
              <a:t>或</a:t>
            </a:r>
            <a:r>
              <a:rPr lang="en-US" altLang="zh-CN"/>
              <a:t>QString</a:t>
            </a:r>
            <a:r>
              <a:rPr lang="zh-CN" altLang="en-US"/>
              <a:t>上操作。可以方便地读写单词、行和数字。支持格式设置。</a:t>
            </a:r>
          </a:p>
        </p:txBody>
      </p:sp>
    </p:spTree>
    <p:extLst>
      <p:ext uri="{BB962C8B-B14F-4D97-AF65-F5344CB8AC3E}">
        <p14:creationId xmlns:p14="http://schemas.microsoft.com/office/powerpoint/2010/main" val="4113478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1067851" y="753997"/>
            <a:ext cx="8489435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&lt;QTextStream&gt;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&lt;QFile&gt;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[])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QTextStream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stdout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!=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qWarning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"Usage: copyfile source destination"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src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(!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QFile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src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exists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qWarning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 source file does not exist"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dest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QFile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copy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src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dest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07990C-5445-47C0-D063-A3BD7350EF14}"/>
              </a:ext>
            </a:extLst>
          </p:cNvPr>
          <p:cNvSpPr txBox="1"/>
          <p:nvPr/>
        </p:nvSpPr>
        <p:spPr>
          <a:xfrm>
            <a:off x="6423949" y="1195342"/>
            <a:ext cx="3176518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复制文件时，会使用不同的名称或不同的位置创建新副本。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C04CEC-255A-8D65-517B-3C36EFF78ACF}"/>
              </a:ext>
            </a:extLst>
          </p:cNvPr>
          <p:cNvSpPr txBox="1"/>
          <p:nvPr/>
        </p:nvSpPr>
        <p:spPr>
          <a:xfrm>
            <a:off x="7560848" y="775210"/>
            <a:ext cx="1996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拷贝文件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16EBBAE-8D23-97CA-908C-964D487C4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631" y="3293153"/>
            <a:ext cx="3114675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68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972035F-1F01-8473-BE7E-BEE1608B0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56526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F74FFF1-8ACB-947A-CF18-1952915544C6}"/>
              </a:ext>
            </a:extLst>
          </p:cNvPr>
          <p:cNvSpPr txBox="1"/>
          <p:nvPr/>
        </p:nvSpPr>
        <p:spPr>
          <a:xfrm>
            <a:off x="677172" y="716235"/>
            <a:ext cx="81127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Qt</a:t>
            </a:r>
            <a:r>
              <a:rPr lang="zh-CN" altLang="en-US">
                <a:solidFill>
                  <a:schemeClr val="bg1"/>
                </a:solidFill>
              </a:rPr>
              <a:t>处理文件与目录的基本类：</a:t>
            </a:r>
            <a:endParaRPr lang="en-US" altLang="zh-CN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QFile</a:t>
            </a:r>
            <a:r>
              <a:rPr lang="zh-CN" altLang="en-US">
                <a:solidFill>
                  <a:schemeClr val="bg1"/>
                </a:solidFill>
              </a:rPr>
              <a:t>：用于读取和写入文件的接口。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  <a:highlight>
                  <a:srgbClr val="0000FF"/>
                </a:highlight>
              </a:rPr>
              <a:t>QDir</a:t>
            </a:r>
            <a:r>
              <a:rPr lang="zh-CN" altLang="en-US">
                <a:solidFill>
                  <a:schemeClr val="bg1"/>
                </a:solidFill>
                <a:highlight>
                  <a:srgbClr val="0000FF"/>
                </a:highlight>
              </a:rPr>
              <a:t>：对目录结构及其内容的访问。</a:t>
            </a:r>
            <a:endParaRPr lang="en-US" altLang="zh-CN">
              <a:solidFill>
                <a:schemeClr val="bg1"/>
              </a:solidFill>
              <a:highlight>
                <a:srgbClr val="0000FF"/>
              </a:highligh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QFileInfo</a:t>
            </a:r>
            <a:r>
              <a:rPr lang="zh-CN" altLang="en-US">
                <a:solidFill>
                  <a:schemeClr val="bg1"/>
                </a:solidFill>
              </a:rPr>
              <a:t>：独立于系统的文件信息，包括文件的名称和在文件系统中的位置、访问时间和修改时间、权限或文件所有权。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732D196-2450-2902-2C45-31DEC61CB51C}"/>
              </a:ext>
            </a:extLst>
          </p:cNvPr>
          <p:cNvSpPr txBox="1"/>
          <p:nvPr/>
        </p:nvSpPr>
        <p:spPr>
          <a:xfrm>
            <a:off x="4733552" y="332621"/>
            <a:ext cx="676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accent3"/>
                </a:solidFill>
              </a:rPr>
              <a:t>QDir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F7CD68D-3B6E-F9D8-CC85-C41B4CDE3770}"/>
              </a:ext>
            </a:extLst>
          </p:cNvPr>
          <p:cNvSpPr txBox="1"/>
          <p:nvPr/>
        </p:nvSpPr>
        <p:spPr>
          <a:xfrm>
            <a:off x="564087" y="2167265"/>
            <a:ext cx="9496963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&lt;QDir&gt;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&lt;QDebug&gt;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char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[]) </a:t>
            </a:r>
            <a:endParaRPr kumimoji="0" lang="en-US" altLang="zh-CN" b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QDir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dir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dir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setFilter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hlinkClick r:id="rId2"/>
              </a:rPr>
              <a:t>QDir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linkClick r:id="rId2"/>
              </a:rPr>
              <a:t>::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hlinkClick r:id="rId2"/>
              </a:rPr>
              <a:t>Files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linkClick r:id="rId2"/>
              </a:rPr>
              <a:t> 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linkClick r:id="rId2"/>
              </a:rPr>
              <a:t>|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linkClick r:id="rId2"/>
              </a:rPr>
              <a:t> 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hlinkClick r:id="rId2"/>
              </a:rPr>
              <a:t>QDir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linkClick r:id="rId2"/>
              </a:rPr>
              <a:t>::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hlinkClick r:id="rId2"/>
              </a:rPr>
              <a:t>Hidden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linkClick r:id="rId2"/>
              </a:rPr>
              <a:t> 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linkClick r:id="rId2"/>
              </a:rPr>
              <a:t>|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linkClick r:id="rId2"/>
              </a:rPr>
              <a:t> 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hlinkClick r:id="rId2"/>
              </a:rPr>
              <a:t>QDir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linkClick r:id="rId2"/>
              </a:rPr>
              <a:t>::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hlinkClick r:id="rId2"/>
              </a:rPr>
              <a:t>NoSymLinks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dir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setSorting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hlinkClick r:id="rId3"/>
              </a:rPr>
              <a:t>QDir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linkClick r:id="rId3"/>
              </a:rPr>
              <a:t>::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hlinkClick r:id="rId3"/>
              </a:rPr>
              <a:t>Size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linkClick r:id="rId3"/>
              </a:rPr>
              <a:t> 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linkClick r:id="rId3"/>
              </a:rPr>
              <a:t>|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linkClick r:id="rId3"/>
              </a:rPr>
              <a:t> 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hlinkClick r:id="rId3"/>
              </a:rPr>
              <a:t>QDir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linkClick r:id="rId3"/>
              </a:rPr>
              <a:t>::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hlinkClick r:id="rId3"/>
              </a:rPr>
              <a:t>Reversed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8000"/>
                </a:solidFill>
                <a:effectLst/>
              </a:rPr>
              <a:t>//</a:t>
            </a:r>
            <a:r>
              <a:rPr lang="zh-CN" altLang="en-US">
                <a:solidFill>
                  <a:srgbClr val="008000"/>
                </a:solidFill>
                <a:effectLst/>
              </a:rPr>
              <a:t>返回目录中所有文件和目录的</a:t>
            </a:r>
            <a:r>
              <a:rPr lang="en-US" altLang="zh-CN">
                <a:solidFill>
                  <a:srgbClr val="008000"/>
                </a:solidFill>
                <a:effectLst/>
              </a:rPr>
              <a:t>QFileInfo</a:t>
            </a:r>
            <a:r>
              <a:rPr lang="zh-CN" altLang="en-US">
                <a:solidFill>
                  <a:srgbClr val="008000"/>
                </a:solidFill>
                <a:effectLst/>
              </a:rPr>
              <a:t>对象列表</a:t>
            </a:r>
            <a:b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QFileInfoList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list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dir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entryInfoList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chemeClr val="tx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qDebug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 </a:t>
            </a:r>
            <a:r>
              <a:rPr kumimoji="0" lang="en-US" altLang="zh-CN" b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  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Bytes</a:t>
            </a:r>
            <a:r>
              <a:rPr kumimoji="0" lang="en-US" altLang="zh-CN" b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  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 Filename"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808000"/>
                </a:solidFill>
                <a:effectLst/>
              </a:rPr>
              <a:t>for</a:t>
            </a:r>
            <a:r>
              <a:rPr lang="en-US" altLang="zh-CN"/>
              <a:t>(</a:t>
            </a:r>
            <a:r>
              <a:rPr lang="en-US" altLang="zh-CN">
                <a:solidFill>
                  <a:srgbClr val="800080"/>
                </a:solidFill>
                <a:effectLst/>
              </a:rPr>
              <a:t>auto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&amp;</a:t>
            </a:r>
            <a:r>
              <a:rPr lang="en-US" altLang="zh-CN" b="1">
                <a:solidFill>
                  <a:srgbClr val="092E64"/>
                </a:solidFill>
                <a:effectLst/>
              </a:rPr>
              <a:t>fileInfo</a:t>
            </a:r>
            <a:r>
              <a:rPr lang="en-US" altLang="zh-CN"/>
              <a:t>:</a:t>
            </a:r>
            <a:r>
              <a:rPr lang="en-US" altLang="zh-CN">
                <a:solidFill>
                  <a:srgbClr val="092E64"/>
                </a:solidFill>
                <a:effectLst/>
              </a:rPr>
              <a:t>list</a:t>
            </a:r>
            <a:r>
              <a:rPr lang="en-US" altLang="zh-CN"/>
              <a:t>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/>
              <a:t>{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	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qDebug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"%1 %2"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arg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fileInfo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size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(),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00"/>
                </a:highlight>
              </a:rPr>
              <a:t>10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.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arg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fileInfo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fileName</a:t>
            </a: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()); </a:t>
            </a:r>
            <a:endParaRPr kumimoji="0" lang="en-US" altLang="zh-CN" b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564A83B-720F-D86B-B876-CEE00C57AFF1}"/>
              </a:ext>
            </a:extLst>
          </p:cNvPr>
          <p:cNvSpPr txBox="1"/>
          <p:nvPr/>
        </p:nvSpPr>
        <p:spPr>
          <a:xfrm>
            <a:off x="6447948" y="4485055"/>
            <a:ext cx="3371850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正fieldWidth生成右对齐的文本。负fieldWidth度生成左对齐文本。</a:t>
            </a:r>
            <a:endParaRPr lang="en-US" altLang="zh-CN"/>
          </a:p>
          <a:p>
            <a:r>
              <a:rPr lang="zh-CN" altLang="en-US"/>
              <a:t>默认是</a:t>
            </a:r>
            <a:r>
              <a:rPr lang="en-US" altLang="zh-CN"/>
              <a:t>0</a:t>
            </a:r>
            <a:endParaRPr lang="zh-CN" altLang="en-US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11F6C660-852D-8307-DD43-7CFF566BD602}"/>
              </a:ext>
            </a:extLst>
          </p:cNvPr>
          <p:cNvCxnSpPr>
            <a:cxnSpLocks/>
          </p:cNvCxnSpPr>
          <p:nvPr/>
        </p:nvCxnSpPr>
        <p:spPr>
          <a:xfrm flipV="1">
            <a:off x="6301740" y="5455920"/>
            <a:ext cx="213360" cy="285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49F20A74-FFC3-7A9E-922E-8DDD90D07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915" y="10666059"/>
            <a:ext cx="6791325" cy="2047875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62F9D2A3-6890-ED21-3D1A-A1163C1EC430}"/>
              </a:ext>
            </a:extLst>
          </p:cNvPr>
          <p:cNvSpPr txBox="1"/>
          <p:nvPr/>
        </p:nvSpPr>
        <p:spPr>
          <a:xfrm>
            <a:off x="677172" y="9953937"/>
            <a:ext cx="86172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>
                <a:solidFill>
                  <a:schemeClr val="accent3"/>
                </a:solidFill>
              </a:rPr>
              <a:t>当前目录和其他特殊路径</a:t>
            </a:r>
          </a:p>
          <a:p>
            <a:r>
              <a:rPr lang="zh-CN" altLang="en-US" sz="2000">
                <a:solidFill>
                  <a:schemeClr val="bg1"/>
                </a:solidFill>
              </a:rPr>
              <a:t>QDir的许多静态函数提供了对一些常见目录的访问：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A7924E2-3078-430E-676F-773547F3D3B2}"/>
              </a:ext>
            </a:extLst>
          </p:cNvPr>
          <p:cNvSpPr txBox="1"/>
          <p:nvPr/>
        </p:nvSpPr>
        <p:spPr>
          <a:xfrm>
            <a:off x="765051" y="12749807"/>
            <a:ext cx="9038758" cy="10156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/>
              <a:t>setCurrent</a:t>
            </a:r>
            <a:r>
              <a:rPr lang="en-US" altLang="zh-CN" sz="2000"/>
              <a:t>()</a:t>
            </a:r>
            <a:r>
              <a:rPr lang="zh-CN" altLang="en-US" sz="2000"/>
              <a:t>：设置应用程序的工作目录。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/>
              <a:t>QCoreApplication</a:t>
            </a:r>
            <a:r>
              <a:rPr lang="en-US" altLang="zh-CN" sz="2000"/>
              <a:t>::</a:t>
            </a:r>
            <a:r>
              <a:rPr lang="zh-CN" altLang="en-US" sz="2000"/>
              <a:t>applicationDirPath</a:t>
            </a:r>
            <a:r>
              <a:rPr lang="en-US" altLang="zh-CN" sz="2000"/>
              <a:t>()</a:t>
            </a:r>
            <a:r>
              <a:rPr lang="zh-CN" altLang="en-US" sz="2000"/>
              <a:t>：查找包含应用程序可执行文件的目录。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/>
              <a:t>drives</a:t>
            </a:r>
            <a:r>
              <a:rPr lang="en-US" altLang="zh-CN" sz="2000"/>
              <a:t>()</a:t>
            </a:r>
            <a:r>
              <a:rPr lang="zh-CN" altLang="en-US" sz="2000"/>
              <a:t>：提供根目录列表。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7562FF9-033C-4C55-A9C6-17DA71C2F28C}"/>
              </a:ext>
            </a:extLst>
          </p:cNvPr>
          <p:cNvSpPr txBox="1"/>
          <p:nvPr/>
        </p:nvSpPr>
        <p:spPr>
          <a:xfrm>
            <a:off x="1165622" y="6738568"/>
            <a:ext cx="8489435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mkdir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"mydir"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         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677C"/>
                </a:solidFill>
                <a:effectLst/>
              </a:rPr>
              <a:t>&lt;&lt;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"mydir successfully created"</a:t>
            </a:r>
            <a:r>
              <a:rPr lang="en-US" altLang="zh-CN"/>
              <a:t>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mkdir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"mydir2"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exists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"mydir2"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"mydir2"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"newdir"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mkpath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"temp/newdir"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DA28E2B-E18F-E5C0-89FB-A2223A1877CC}"/>
              </a:ext>
            </a:extLst>
          </p:cNvPr>
          <p:cNvSpPr txBox="1"/>
          <p:nvPr/>
        </p:nvSpPr>
        <p:spPr>
          <a:xfrm>
            <a:off x="7658619" y="6759781"/>
            <a:ext cx="1996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创建目录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6D1B6BB-FE47-F003-05CF-F7CCEF9B240F}"/>
              </a:ext>
            </a:extLst>
          </p:cNvPr>
          <p:cNvSpPr txBox="1"/>
          <p:nvPr/>
        </p:nvSpPr>
        <p:spPr>
          <a:xfrm>
            <a:off x="6743934" y="7285026"/>
            <a:ext cx="295665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mydir successfully created</a:t>
            </a:r>
            <a:endParaRPr lang="zh-CN" altLang="en-US"/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5E6167CA-7F28-9C81-B28E-6517DCFF3B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496" y="9220704"/>
            <a:ext cx="2981325" cy="342900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82C05640-3FE3-7625-5877-F1AACCF496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885" y="7844996"/>
            <a:ext cx="1790700" cy="819150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2DBB399C-9272-8E32-74AE-C4944D9D1AA7}"/>
              </a:ext>
            </a:extLst>
          </p:cNvPr>
          <p:cNvSpPr txBox="1"/>
          <p:nvPr/>
        </p:nvSpPr>
        <p:spPr>
          <a:xfrm>
            <a:off x="7245752" y="2167265"/>
            <a:ext cx="281529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获取目录中的文件信息</a:t>
            </a:r>
          </a:p>
        </p:txBody>
      </p:sp>
    </p:spTree>
    <p:extLst>
      <p:ext uri="{BB962C8B-B14F-4D97-AF65-F5344CB8AC3E}">
        <p14:creationId xmlns:p14="http://schemas.microsoft.com/office/powerpoint/2010/main" val="2249021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601C10F-AD0B-D992-3045-5056F06AC36A}"/>
              </a:ext>
            </a:extLst>
          </p:cNvPr>
          <p:cNvSpPr txBox="1"/>
          <p:nvPr/>
        </p:nvSpPr>
        <p:spPr>
          <a:xfrm>
            <a:off x="1067851" y="2328229"/>
            <a:ext cx="8489435" cy="53553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&lt;QFileInfo&gt;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&lt;QDateTime&gt;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[])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!=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qWarning</a:t>
            </a:r>
            <a:r>
              <a:rPr lang="en-US" altLang="zh-CN"/>
              <a:t>(</a:t>
            </a:r>
            <a:r>
              <a:rPr lang="en-US" altLang="zh-CN">
                <a:solidFill>
                  <a:srgbClr val="008000"/>
                </a:solidFill>
                <a:effectLst/>
              </a:rPr>
              <a:t>"</a:t>
            </a:r>
            <a:r>
              <a:rPr lang="zh-CN" altLang="en-US">
                <a:solidFill>
                  <a:srgbClr val="008000"/>
                </a:solidFill>
                <a:effectLst/>
              </a:rPr>
              <a:t>请给出文件名称！！</a:t>
            </a:r>
            <a:r>
              <a:rPr lang="en-US" altLang="zh-CN">
                <a:solidFill>
                  <a:srgbClr val="008000"/>
                </a:solidFill>
                <a:effectLst/>
              </a:rPr>
              <a:t>"</a:t>
            </a:r>
            <a:r>
              <a:rPr lang="en-US" altLang="zh-CN"/>
              <a:t>);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QFileInfo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fileinfo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QDateTime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last_rea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fileinfo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lastRead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QDateTime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last_mod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fileinfo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lastModified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"Last read: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last_rea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"Last modified: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last_mod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AA63A5-536C-DA8A-3E4D-9EEC566A7290}"/>
              </a:ext>
            </a:extLst>
          </p:cNvPr>
          <p:cNvSpPr txBox="1"/>
          <p:nvPr/>
        </p:nvSpPr>
        <p:spPr>
          <a:xfrm>
            <a:off x="6316979" y="2746572"/>
            <a:ext cx="3261897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文件存储有关上次（最后一次）读取或修改的信息。为了获得这些信息，使用</a:t>
            </a:r>
            <a:r>
              <a:rPr lang="en-US" altLang="zh-CN"/>
              <a:t>QFileInfo</a:t>
            </a:r>
            <a:r>
              <a:rPr lang="zh-CN" altLang="en-US"/>
              <a:t>类。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9965129-4E31-617D-783E-A9C6FA34BFC9}"/>
              </a:ext>
            </a:extLst>
          </p:cNvPr>
          <p:cNvSpPr txBox="1"/>
          <p:nvPr/>
        </p:nvSpPr>
        <p:spPr>
          <a:xfrm>
            <a:off x="7560848" y="2349442"/>
            <a:ext cx="1996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读取、修改记录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0A3B5B0-BF17-6924-3DC9-D6EC909D1015}"/>
              </a:ext>
            </a:extLst>
          </p:cNvPr>
          <p:cNvSpPr txBox="1"/>
          <p:nvPr/>
        </p:nvSpPr>
        <p:spPr>
          <a:xfrm>
            <a:off x="5474825" y="5315161"/>
            <a:ext cx="4125642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Last read: Sun Jun 19 13:42:21 2022</a:t>
            </a:r>
          </a:p>
          <a:p>
            <a:r>
              <a:rPr lang="en-US" altLang="zh-CN"/>
              <a:t>Last modified: Sun Jun 19 13:42:21 2022</a:t>
            </a:r>
            <a:endParaRPr lang="zh-CN" alt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F0CE7EA8-3387-0B4E-0D93-5FA816D85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9676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7158311-1D38-EEB9-ADD1-359D657F0D4E}"/>
              </a:ext>
            </a:extLst>
          </p:cNvPr>
          <p:cNvSpPr txBox="1"/>
          <p:nvPr/>
        </p:nvSpPr>
        <p:spPr>
          <a:xfrm>
            <a:off x="1076203" y="732731"/>
            <a:ext cx="81127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Qt</a:t>
            </a:r>
            <a:r>
              <a:rPr lang="zh-CN" altLang="en-US">
                <a:solidFill>
                  <a:schemeClr val="bg1"/>
                </a:solidFill>
              </a:rPr>
              <a:t>处理文件与目录的基本类：</a:t>
            </a:r>
            <a:endParaRPr lang="en-US" altLang="zh-CN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QFile</a:t>
            </a:r>
            <a:r>
              <a:rPr lang="zh-CN" altLang="en-US">
                <a:solidFill>
                  <a:schemeClr val="bg1"/>
                </a:solidFill>
              </a:rPr>
              <a:t>：用于读取和写入文件的接口。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QDir</a:t>
            </a:r>
            <a:r>
              <a:rPr lang="zh-CN" altLang="en-US">
                <a:solidFill>
                  <a:schemeClr val="bg1"/>
                </a:solidFill>
              </a:rPr>
              <a:t>：对目录结构及其内容的访问。</a:t>
            </a:r>
            <a:endParaRPr lang="en-US" altLang="zh-CN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  <a:highlight>
                  <a:srgbClr val="0000FF"/>
                </a:highlight>
              </a:rPr>
              <a:t>QFileInfo</a:t>
            </a:r>
            <a:r>
              <a:rPr lang="zh-CN" altLang="en-US">
                <a:solidFill>
                  <a:schemeClr val="bg1"/>
                </a:solidFill>
                <a:highlight>
                  <a:srgbClr val="0000FF"/>
                </a:highlight>
              </a:rPr>
              <a:t>：独立于系统的文件信息，包括文件的名称和在文件系统中的位置、访问时间和修改时间、权限或文件所有权。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41568E6-7EAD-4AFC-4FDA-7BF7A8FC9BA6}"/>
              </a:ext>
            </a:extLst>
          </p:cNvPr>
          <p:cNvSpPr txBox="1"/>
          <p:nvPr/>
        </p:nvSpPr>
        <p:spPr>
          <a:xfrm>
            <a:off x="4733552" y="332621"/>
            <a:ext cx="11540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accent3"/>
                </a:solidFill>
              </a:rPr>
              <a:t>QFileInfo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1067851" y="753997"/>
            <a:ext cx="8489435" cy="5632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&lt;QDir&gt;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&lt;QFileInfo&gt;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&lt;QDirIterator&gt;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[])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current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()};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setFilter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Files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|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AllDirs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8000"/>
                </a:solidFill>
                <a:effectLst/>
              </a:rPr>
              <a:t>//dir.setFilter(dir.filter()|QDir::NoDotAndDotDot);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8000"/>
                </a:solidFill>
                <a:effectLst/>
              </a:rPr>
              <a:t>//setSorting</a:t>
            </a:r>
            <a:r>
              <a:rPr lang="zh-CN" altLang="en-US">
                <a:solidFill>
                  <a:srgbClr val="008000"/>
                </a:solidFill>
                <a:effectLst/>
              </a:rPr>
              <a:t>无法更改</a:t>
            </a:r>
            <a:r>
              <a:rPr lang="en-US" altLang="zh-CN">
                <a:solidFill>
                  <a:srgbClr val="008000"/>
                </a:solidFill>
                <a:effectLst/>
              </a:rPr>
              <a:t>QDirIterator</a:t>
            </a:r>
            <a:r>
              <a:rPr lang="zh-CN" altLang="en-US">
                <a:solidFill>
                  <a:srgbClr val="008000"/>
                </a:solidFill>
                <a:effectLst/>
              </a:rPr>
              <a:t>中元素的顺</a:t>
            </a:r>
            <a:endParaRPr lang="en-US" altLang="zh-CN">
              <a:solidFill>
                <a:srgbClr val="00800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setSorting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|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Reversed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qDebug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"Filename"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leftJustified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"Bytes"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QDirIterator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while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hasNext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QFileInfo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fileInfo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nextFileInfo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fileInfo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fileName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leftJustified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"%1"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arg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fileInfo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qDebug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C04CEC-255A-8D65-517B-3C36EFF78ACF}"/>
              </a:ext>
            </a:extLst>
          </p:cNvPr>
          <p:cNvSpPr txBox="1"/>
          <p:nvPr/>
        </p:nvSpPr>
        <p:spPr>
          <a:xfrm>
            <a:off x="7560848" y="775210"/>
            <a:ext cx="1996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列出目录内容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972035F-1F01-8473-BE7E-BEE1608B0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3BD1540-6F01-7DCA-5A24-D8796E61370A}"/>
              </a:ext>
            </a:extLst>
          </p:cNvPr>
          <p:cNvSpPr txBox="1"/>
          <p:nvPr/>
        </p:nvSpPr>
        <p:spPr>
          <a:xfrm>
            <a:off x="7244577" y="4114006"/>
            <a:ext cx="2425739" cy="14773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Filename      Bytes</a:t>
            </a:r>
          </a:p>
          <a:p>
            <a:r>
              <a:rPr lang="en-US" altLang="zh-CN"/>
              <a:t>Temporary     0</a:t>
            </a:r>
          </a:p>
          <a:p>
            <a:r>
              <a:rPr lang="en-US" altLang="zh-CN"/>
              <a:t>..                      0</a:t>
            </a:r>
          </a:p>
          <a:p>
            <a:r>
              <a:rPr lang="en-US" altLang="zh-CN"/>
              <a:t>.                       0</a:t>
            </a:r>
          </a:p>
          <a:p>
            <a:r>
              <a:rPr lang="en-US" altLang="zh-CN"/>
              <a:t>LastTest.log  1546</a:t>
            </a:r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22227E-5CFD-ABBC-5591-D3302316DED4}"/>
              </a:ext>
            </a:extLst>
          </p:cNvPr>
          <p:cNvSpPr txBox="1"/>
          <p:nvPr/>
        </p:nvSpPr>
        <p:spPr>
          <a:xfrm>
            <a:off x="6098724" y="1510672"/>
            <a:ext cx="3743677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0" i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QDir::NoDotAndDotDot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作用：去除 </a:t>
            </a:r>
            <a:r>
              <a:rPr lang="en-US" altLang="zh-CN" b="0" i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"."  ".."   </a:t>
            </a:r>
            <a:r>
              <a:rPr lang="zh-CN" altLang="en-US" b="0" i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它们分别表示为当前目录、上一级目录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4809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FjYTU0NWJkMWQ1YTMwMTViZThhYTk5YTFlZGRhMzgifQ=="/>
</p:tagLst>
</file>

<file path=ppt/theme/theme1.xml><?xml version="1.0" encoding="utf-8"?>
<a:theme xmlns:a="http://schemas.openxmlformats.org/drawingml/2006/main" name="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第4章：程序流程之循环</Template>
  <TotalTime>2473</TotalTime>
  <Words>1332</Words>
  <Application>Microsoft Office PowerPoint</Application>
  <PresentationFormat>自定义</PresentationFormat>
  <Paragraphs>176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等线</vt:lpstr>
      <vt:lpstr>华文琥珀</vt:lpstr>
      <vt:lpstr>Arial</vt:lpstr>
      <vt:lpstr>Calibri</vt:lpstr>
      <vt:lpstr>Cambria</vt:lpstr>
      <vt:lpstr>georgia</vt:lpstr>
      <vt:lpstr>第一PPT，www.1ppt.com</vt:lpstr>
      <vt:lpstr>4_第一PPT，www.1ppt.com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蔡乐</dc:creator>
  <cp:lastModifiedBy>乐</cp:lastModifiedBy>
  <cp:revision>1448</cp:revision>
  <dcterms:created xsi:type="dcterms:W3CDTF">2020-06-26T01:00:00Z</dcterms:created>
  <dcterms:modified xsi:type="dcterms:W3CDTF">2022-07-17T09:31:27Z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2052-11.1.0.11744</vt:lpwstr>
  </property>
  <property fmtid="{D5CDD505-2E9C-101B-9397-08002B2CF9AE}" pid="3" name="ICV">
    <vt:lpwstr>35C8A0B9FA4B4BC7B03E97E74C2317FB</vt:lpwstr>
  </property>
</Properties>
</file>