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8"/>
  </p:notesMasterIdLst>
  <p:handoutMasterIdLst>
    <p:handoutMasterId r:id="rId9"/>
  </p:handoutMasterIdLst>
  <p:sldIdLst>
    <p:sldId id="258" r:id="rId3"/>
    <p:sldId id="330" r:id="rId4"/>
    <p:sldId id="331" r:id="rId5"/>
    <p:sldId id="332" r:id="rId6"/>
    <p:sldId id="334" r:id="rId7"/>
  </p:sldIdLst>
  <p:sldSz cx="10625138" cy="14400213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">
          <p15:clr>
            <a:srgbClr val="A4A3A4"/>
          </p15:clr>
        </p15:guide>
        <p15:guide id="2" orient="horz" pos="45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3" autoAdjust="0"/>
    <p:restoredTop sz="95244" autoAdjust="0"/>
  </p:normalViewPr>
  <p:slideViewPr>
    <p:cSldViewPr snapToGrid="0" showGuides="1">
      <p:cViewPr>
        <p:scale>
          <a:sx n="100" d="100"/>
          <a:sy n="100" d="100"/>
        </p:scale>
        <p:origin x="480" y="-5059"/>
      </p:cViewPr>
      <p:guideLst>
        <p:guide pos="412"/>
        <p:guide orient="horz" pos="45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227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54208-A716-42FF-80CF-57B00CE66560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DB86B2-45FA-46FD-932F-E74808AB18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14T07:59:53.3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0 24575,'-4'4'0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13B3F-2B31-4A61-B985-2117CDAFE2AD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1143000"/>
            <a:ext cx="2276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0FF05-BDD8-42F0-BA90-04AD6ABB1C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1143000"/>
            <a:ext cx="22764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0FF05-BDD8-42F0-BA90-04AD6ABB1C0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657" y="160559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59041" y="213096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2022/7/14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317" y="253896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05701" y="306433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screen"/>
          <a:srcRect l="3265" t="6325" r="4323" b="12927"/>
          <a:stretch>
            <a:fillRect/>
          </a:stretch>
        </p:blipFill>
        <p:spPr>
          <a:xfrm>
            <a:off x="2191043" y="1088639"/>
            <a:ext cx="6429671" cy="180741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41524" y="1358360"/>
            <a:ext cx="617022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>
                <a:solidFill>
                  <a:schemeClr val="bg1"/>
                </a:solidFill>
                <a:cs typeface="+mn-ea"/>
                <a:sym typeface="+mn-lt"/>
              </a:rPr>
              <a:t>QString</a:t>
            </a:r>
            <a:endParaRPr lang="zh-CN" altLang="en-US" sz="4000" b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60" name="组合 1274"/>
          <p:cNvGrpSpPr/>
          <p:nvPr/>
        </p:nvGrpSpPr>
        <p:grpSpPr>
          <a:xfrm>
            <a:off x="2441526" y="3237675"/>
            <a:ext cx="338686" cy="261779"/>
            <a:chOff x="5248276" y="1095375"/>
            <a:chExt cx="727075" cy="561976"/>
          </a:xfrm>
        </p:grpSpPr>
        <p:sp>
          <p:nvSpPr>
            <p:cNvPr id="61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2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3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4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5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6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7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8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9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0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1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2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3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4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5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6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7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8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9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0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1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2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3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4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5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6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7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8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9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0" name="文本框 89"/>
          <p:cNvSpPr txBox="1"/>
          <p:nvPr/>
        </p:nvSpPr>
        <p:spPr>
          <a:xfrm>
            <a:off x="2833453" y="3140572"/>
            <a:ext cx="2994875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40">
                <a:solidFill>
                  <a:schemeClr val="bg1"/>
                </a:solidFill>
                <a:cs typeface="+mn-ea"/>
                <a:sym typeface="+mn-lt"/>
              </a:rPr>
              <a:t>QT6 C++ 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开发教程</a:t>
            </a:r>
          </a:p>
        </p:txBody>
      </p:sp>
      <p:grpSp>
        <p:nvGrpSpPr>
          <p:cNvPr id="160" name="组合 1274"/>
          <p:cNvGrpSpPr/>
          <p:nvPr/>
        </p:nvGrpSpPr>
        <p:grpSpPr>
          <a:xfrm>
            <a:off x="6245741" y="3237675"/>
            <a:ext cx="338686" cy="261779"/>
            <a:chOff x="5248276" y="1095375"/>
            <a:chExt cx="727075" cy="561976"/>
          </a:xfrm>
        </p:grpSpPr>
        <p:sp>
          <p:nvSpPr>
            <p:cNvPr id="162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3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4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5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6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7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8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9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0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1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2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3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4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5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6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7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8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9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0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1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2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3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4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5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6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7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8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9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0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1" name="文本框 160"/>
          <p:cNvSpPr txBox="1"/>
          <p:nvPr/>
        </p:nvSpPr>
        <p:spPr>
          <a:xfrm>
            <a:off x="6637671" y="3140572"/>
            <a:ext cx="1553157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第</a:t>
            </a:r>
            <a:r>
              <a:rPr lang="en-US" altLang="zh-CN" sz="2440">
                <a:solidFill>
                  <a:schemeClr val="bg1"/>
                </a:solidFill>
                <a:cs typeface="+mn-ea"/>
                <a:sym typeface="+mn-lt"/>
              </a:rPr>
              <a:t>1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章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0" grpId="0"/>
      <p:bldP spid="1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7A9E53-8EC5-5992-D310-566A65C9305D}"/>
              </a:ext>
            </a:extLst>
          </p:cNvPr>
          <p:cNvSpPr txBox="1"/>
          <p:nvPr/>
        </p:nvSpPr>
        <p:spPr>
          <a:xfrm>
            <a:off x="4655046" y="322680"/>
            <a:ext cx="9845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accent3"/>
                </a:solidFill>
              </a:rPr>
              <a:t>QString</a:t>
            </a:r>
            <a:endParaRPr lang="zh-CN" altLang="en-US" sz="2000" b="1" dirty="0">
              <a:solidFill>
                <a:schemeClr val="accent3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3C3AD4F-1742-B663-4EA8-1B5F890FC976}"/>
              </a:ext>
            </a:extLst>
          </p:cNvPr>
          <p:cNvSpPr txBox="1"/>
          <p:nvPr/>
        </p:nvSpPr>
        <p:spPr>
          <a:xfrm>
            <a:off x="621189" y="866339"/>
            <a:ext cx="9382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</a:rPr>
              <a:t>QString</a:t>
            </a:r>
            <a:r>
              <a:rPr lang="zh-CN" altLang="en-US">
                <a:solidFill>
                  <a:schemeClr val="bg1"/>
                </a:solidFill>
              </a:rPr>
              <a:t>存储</a:t>
            </a:r>
            <a:r>
              <a:rPr lang="en-US" altLang="zh-CN">
                <a:solidFill>
                  <a:schemeClr val="bg1"/>
                </a:solidFill>
              </a:rPr>
              <a:t>16</a:t>
            </a:r>
            <a:r>
              <a:rPr lang="zh-CN" altLang="en-US">
                <a:solidFill>
                  <a:schemeClr val="bg1"/>
                </a:solidFill>
              </a:rPr>
              <a:t>位</a:t>
            </a:r>
            <a:r>
              <a:rPr lang="en-US" altLang="zh-CN">
                <a:solidFill>
                  <a:schemeClr val="bg1"/>
                </a:solidFill>
              </a:rPr>
              <a:t>QChar</a:t>
            </a:r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en-US" altLang="zh-CN">
                <a:solidFill>
                  <a:schemeClr val="bg1"/>
                </a:solidFill>
              </a:rPr>
              <a:t>Unicode</a:t>
            </a:r>
            <a:r>
              <a:rPr lang="zh-CN" altLang="en-US">
                <a:solidFill>
                  <a:schemeClr val="bg1"/>
                </a:solidFill>
              </a:rPr>
              <a:t>）字符串。</a:t>
            </a:r>
            <a:endParaRPr lang="en-US" altLang="zh-CN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</a:rPr>
              <a:t>QString</a:t>
            </a:r>
            <a:r>
              <a:rPr lang="zh-CN" altLang="en-US">
                <a:solidFill>
                  <a:schemeClr val="bg1"/>
                </a:solidFill>
              </a:rPr>
              <a:t>使用隐式共享（</a:t>
            </a:r>
            <a:r>
              <a:rPr lang="en-US" altLang="zh-CN">
                <a:solidFill>
                  <a:schemeClr val="bg1"/>
                </a:solidFill>
              </a:rPr>
              <a:t>copy-on-write</a:t>
            </a:r>
            <a:r>
              <a:rPr lang="zh-CN" altLang="en-US">
                <a:solidFill>
                  <a:schemeClr val="bg1"/>
                </a:solidFill>
              </a:rPr>
              <a:t>）来提高性能。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8D93472-49B6-B5EC-C7B6-A49A56BA4EF6}"/>
              </a:ext>
            </a:extLst>
          </p:cNvPr>
          <p:cNvSpPr txBox="1"/>
          <p:nvPr/>
        </p:nvSpPr>
        <p:spPr>
          <a:xfrm>
            <a:off x="1025769" y="2599204"/>
            <a:ext cx="8112760" cy="36933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rgbClr val="000080"/>
                </a:solidFill>
                <a:effectLst/>
              </a:rPr>
              <a:t>#include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  <a:effectLst/>
              </a:rPr>
              <a:t>&lt;QCoreApplication&gt;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808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"love"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append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 chess"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prepend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"I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"The a string has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FFFF00"/>
                </a:highlight>
              </a:rPr>
              <a:t>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()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 characters"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8000"/>
                </a:solidFill>
                <a:effectLst/>
              </a:rPr>
              <a:t>//toUpper</a:t>
            </a:r>
            <a:r>
              <a:rPr lang="zh-CN" altLang="en-US">
                <a:solidFill>
                  <a:srgbClr val="008000"/>
                </a:solidFill>
                <a:effectLst/>
              </a:rPr>
              <a:t>和</a:t>
            </a:r>
            <a:r>
              <a:rPr lang="en-US" altLang="zh-CN">
                <a:solidFill>
                  <a:srgbClr val="008000"/>
                </a:solidFill>
                <a:effectLst/>
              </a:rPr>
              <a:t>toLower</a:t>
            </a:r>
            <a:r>
              <a:rPr lang="zh-CN" altLang="en-US">
                <a:solidFill>
                  <a:srgbClr val="008000"/>
                </a:solidFill>
                <a:effectLst/>
              </a:rPr>
              <a:t>并不改变</a:t>
            </a:r>
            <a:r>
              <a:rPr lang="en-US" altLang="zh-CN">
                <a:solidFill>
                  <a:srgbClr val="008000"/>
                </a:solidFill>
                <a:effectLst/>
              </a:rPr>
              <a:t>a</a:t>
            </a:r>
            <a:r>
              <a:rPr lang="zh-CN" altLang="en-US">
                <a:solidFill>
                  <a:srgbClr val="008000"/>
                </a:solidFill>
                <a:effectLst/>
              </a:rPr>
              <a:t>，改变的是副本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toUpper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toLower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CDDF91A-D42F-6EF7-DFDB-A9F6BCE52B46}"/>
              </a:ext>
            </a:extLst>
          </p:cNvPr>
          <p:cNvSpPr txBox="1"/>
          <p:nvPr/>
        </p:nvSpPr>
        <p:spPr>
          <a:xfrm>
            <a:off x="5446639" y="5492989"/>
            <a:ext cx="3691890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/>
              <a:t>I love chess</a:t>
            </a:r>
          </a:p>
          <a:p>
            <a:r>
              <a:rPr lang="zh-CN" altLang="en-US"/>
              <a:t>The a string has 12 characters</a:t>
            </a:r>
          </a:p>
          <a:p>
            <a:r>
              <a:rPr lang="zh-CN" altLang="en-US"/>
              <a:t>I LOVE CHESS</a:t>
            </a:r>
          </a:p>
          <a:p>
            <a:r>
              <a:rPr lang="zh-CN" altLang="en-US"/>
              <a:t>i love chess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A7795D2-7B42-FA59-A2ED-2A70DC2FE0AD}"/>
              </a:ext>
            </a:extLst>
          </p:cNvPr>
          <p:cNvSpPr txBox="1"/>
          <p:nvPr/>
        </p:nvSpPr>
        <p:spPr>
          <a:xfrm>
            <a:off x="4294767" y="3799533"/>
            <a:ext cx="4899642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/>
              <a:t>count返回字符串中的字符数。与</a:t>
            </a:r>
            <a:r>
              <a:rPr lang="en-US" altLang="zh-CN"/>
              <a:t>lengh()</a:t>
            </a:r>
            <a:r>
              <a:rPr lang="zh-CN" altLang="en-US"/>
              <a:t>等效。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97652E0-CB74-2134-D92E-C0FA930FE5B1}"/>
              </a:ext>
            </a:extLst>
          </p:cNvPr>
          <p:cNvCxnSpPr/>
          <p:nvPr/>
        </p:nvCxnSpPr>
        <p:spPr>
          <a:xfrm flipV="1">
            <a:off x="4690215" y="4168865"/>
            <a:ext cx="0" cy="743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E23E93AB-4A8E-1B28-DE38-69BAA5499B8E}"/>
              </a:ext>
            </a:extLst>
          </p:cNvPr>
          <p:cNvSpPr txBox="1"/>
          <p:nvPr/>
        </p:nvSpPr>
        <p:spPr>
          <a:xfrm>
            <a:off x="1025769" y="6872614"/>
            <a:ext cx="8112760" cy="36933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str1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"The night train"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	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str1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str2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"A yellow rose"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		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str2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str3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"An old falcon"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		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str3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std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"A blue sky"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str4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c_str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		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str4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std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"A thick fog"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str5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fromLatin1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data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  <a:latin typeface="Arial Unicode MS"/>
              </a:rPr>
              <a:t>					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str5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"A deep forest"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str6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			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str6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6606131-3D6A-7255-BF77-06DFBFE8C8A2}"/>
              </a:ext>
            </a:extLst>
          </p:cNvPr>
          <p:cNvSpPr txBox="1"/>
          <p:nvPr/>
        </p:nvSpPr>
        <p:spPr>
          <a:xfrm>
            <a:off x="7675180" y="8367903"/>
            <a:ext cx="1758297" cy="17543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The night train</a:t>
            </a:r>
          </a:p>
          <a:p>
            <a:r>
              <a:rPr lang="en-US" altLang="zh-CN"/>
              <a:t>A yellow rose</a:t>
            </a:r>
          </a:p>
          <a:p>
            <a:r>
              <a:rPr lang="en-US" altLang="zh-CN"/>
              <a:t>An old falcon</a:t>
            </a:r>
          </a:p>
          <a:p>
            <a:r>
              <a:rPr lang="en-US" altLang="zh-CN"/>
              <a:t>A blue sky</a:t>
            </a:r>
          </a:p>
          <a:p>
            <a:r>
              <a:rPr lang="en-US" altLang="zh-CN"/>
              <a:t>A thick fog</a:t>
            </a:r>
          </a:p>
          <a:p>
            <a:r>
              <a:rPr lang="en-US" altLang="zh-CN"/>
              <a:t>A deep forest</a:t>
            </a:r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2961B5A-72FC-BA4E-9BDB-284093F3EB7E}"/>
              </a:ext>
            </a:extLst>
          </p:cNvPr>
          <p:cNvSpPr txBox="1"/>
          <p:nvPr/>
        </p:nvSpPr>
        <p:spPr>
          <a:xfrm>
            <a:off x="7402156" y="6893140"/>
            <a:ext cx="1736373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初始化</a:t>
            </a:r>
            <a:r>
              <a:rPr lang="en-US" altLang="zh-CN" sz="2000">
                <a:solidFill>
                  <a:schemeClr val="bg1"/>
                </a:solidFill>
              </a:rPr>
              <a:t>QString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2253A4B-FA61-5862-C1ED-B96E78931822}"/>
              </a:ext>
            </a:extLst>
          </p:cNvPr>
          <p:cNvSpPr txBox="1"/>
          <p:nvPr/>
        </p:nvSpPr>
        <p:spPr>
          <a:xfrm>
            <a:off x="7106529" y="2598360"/>
            <a:ext cx="2031999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</a:rPr>
              <a:t>一个简单的例子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E00AEFD-E688-1FB5-A089-D7657E7D5B0B}"/>
              </a:ext>
            </a:extLst>
          </p:cNvPr>
          <p:cNvSpPr txBox="1"/>
          <p:nvPr/>
        </p:nvSpPr>
        <p:spPr>
          <a:xfrm>
            <a:off x="1035532" y="10950548"/>
            <a:ext cx="8112760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"Eagle"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lang="en-US" altLang="zh-CN">
                <a:solidFill>
                  <a:srgbClr val="000080"/>
                </a:solidFill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[</a:t>
            </a:r>
            <a:r>
              <a:rPr kumimoji="0" lang="en-US" altLang="zh-CN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</a:rPr>
              <a:t>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A51220A-1501-AD4E-2691-F7606C8D272A}"/>
              </a:ext>
            </a:extLst>
          </p:cNvPr>
          <p:cNvSpPr txBox="1"/>
          <p:nvPr/>
        </p:nvSpPr>
        <p:spPr>
          <a:xfrm>
            <a:off x="4460868" y="12262025"/>
            <a:ext cx="5172251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E</a:t>
            </a:r>
          </a:p>
          <a:p>
            <a:r>
              <a:rPr lang="en-US" altLang="zh-CN"/>
              <a:t>e</a:t>
            </a:r>
          </a:p>
          <a:p>
            <a:r>
              <a:rPr lang="en-US" altLang="zh-CN"/>
              <a:t>E</a:t>
            </a:r>
          </a:p>
          <a:p>
            <a:r>
              <a:rPr lang="en-US" altLang="zh-CN"/>
              <a:t>ASSERT: "i &gt;= 0 &amp;&amp; i &lt; size()" in file </a:t>
            </a:r>
            <a:r>
              <a:rPr lang="en-US" altLang="zh-CN">
                <a:highlight>
                  <a:srgbClr val="0000FF"/>
                </a:highlight>
              </a:rPr>
              <a:t>…… </a:t>
            </a:r>
            <a:r>
              <a:rPr lang="en-US" altLang="zh-CN"/>
              <a:t>crashed</a:t>
            </a:r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673360C-280B-3409-C8FC-F3AC02C3ED02}"/>
              </a:ext>
            </a:extLst>
          </p:cNvPr>
          <p:cNvSpPr txBox="1"/>
          <p:nvPr/>
        </p:nvSpPr>
        <p:spPr>
          <a:xfrm>
            <a:off x="7155265" y="10989568"/>
            <a:ext cx="1980029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访问字符串元素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9EE0D0C-4108-A23B-67FC-7C5F18BE9BB8}"/>
              </a:ext>
            </a:extLst>
          </p:cNvPr>
          <p:cNvSpPr txBox="1"/>
          <p:nvPr/>
        </p:nvSpPr>
        <p:spPr>
          <a:xfrm>
            <a:off x="992019" y="1671230"/>
            <a:ext cx="8641100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/>
              <a:t>Unicode是一种国际标准，支持当今使用的大多数书写系统。它是US-ASCII和Latin-1的超集（与子集相同字符编码相同）。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A65BF9A-9C3B-DD16-0902-2537D68DCE53}"/>
              </a:ext>
            </a:extLst>
          </p:cNvPr>
          <p:cNvSpPr txBox="1"/>
          <p:nvPr/>
        </p:nvSpPr>
        <p:spPr>
          <a:xfrm>
            <a:off x="4491064" y="11542177"/>
            <a:ext cx="4899642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operator[]</a:t>
            </a:r>
            <a:r>
              <a:rPr lang="zh-CN" altLang="en-US"/>
              <a:t>返回的是可以修改的</a:t>
            </a:r>
            <a:r>
              <a:rPr lang="en-US" altLang="zh-CN">
                <a:solidFill>
                  <a:srgbClr val="800080"/>
                </a:solidFill>
                <a:effectLst/>
              </a:rPr>
              <a:t>QChar&amp;</a:t>
            </a:r>
            <a:r>
              <a:rPr lang="zh-CN" altLang="en-US"/>
              <a:t>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at</a:t>
            </a:r>
            <a:r>
              <a:rPr lang="zh-CN" altLang="en-US"/>
              <a:t>返回为</a:t>
            </a:r>
            <a:r>
              <a:rPr lang="en-US" altLang="zh-CN">
                <a:solidFill>
                  <a:srgbClr val="808000"/>
                </a:solidFill>
                <a:effectLst/>
              </a:rPr>
              <a:t>const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800080"/>
                </a:solidFill>
                <a:effectLst/>
              </a:rPr>
              <a:t>QChar</a:t>
            </a:r>
            <a:endParaRPr lang="en-US" altLang="zh-C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67" name="墨迹 366">
                <a:extLst>
                  <a:ext uri="{FF2B5EF4-FFF2-40B4-BE49-F238E27FC236}">
                    <a16:creationId xmlns:a16="http://schemas.microsoft.com/office/drawing/2014/main" id="{62C064BF-55A8-A056-62A5-399289A7ECBA}"/>
                  </a:ext>
                </a:extLst>
              </p14:cNvPr>
              <p14:cNvContentPartPr/>
              <p14:nvPr/>
            </p14:nvContentPartPr>
            <p14:xfrm>
              <a:off x="11131320" y="2049480"/>
              <a:ext cx="1800" cy="1800"/>
            </p14:xfrm>
          </p:contentPart>
        </mc:Choice>
        <mc:Fallback xmlns="">
          <p:pic>
            <p:nvPicPr>
              <p:cNvPr id="367" name="墨迹 366">
                <a:extLst>
                  <a:ext uri="{FF2B5EF4-FFF2-40B4-BE49-F238E27FC236}">
                    <a16:creationId xmlns:a16="http://schemas.microsoft.com/office/drawing/2014/main" id="{62C064BF-55A8-A056-62A5-399289A7EC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22320" y="2040480"/>
                <a:ext cx="19440" cy="1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0324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286C77C0-A13C-53CB-8E57-A8358BA93F8F}"/>
              </a:ext>
            </a:extLst>
          </p:cNvPr>
          <p:cNvSpPr txBox="1"/>
          <p:nvPr/>
        </p:nvSpPr>
        <p:spPr>
          <a:xfrm>
            <a:off x="883816" y="714142"/>
            <a:ext cx="8664044" cy="39703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       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</a:rPr>
              <a:t>“</a:t>
            </a:r>
            <a:r>
              <a:rPr lang="zh-CN" altLang="en-US">
                <a:solidFill>
                  <a:srgbClr val="008000"/>
                </a:solidFill>
              </a:rPr>
              <a:t>那里有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00"/>
                </a:highlight>
              </a:rPr>
              <a:t>%1 </a:t>
            </a:r>
            <a:r>
              <a:rPr lang="zh-CN" altLang="en-US">
                <a:solidFill>
                  <a:srgbClr val="008000"/>
                </a:solidFill>
              </a:rPr>
              <a:t>朵白色玫瑰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FFFF00"/>
                </a:highlight>
              </a:rPr>
              <a:t>arg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"The tree is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00"/>
                </a:highlight>
              </a:rPr>
              <a:t>%1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 m high"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double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5.65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FFFF00"/>
                </a:highlight>
              </a:rPr>
              <a:t>arg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"We have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00"/>
                </a:highlight>
              </a:rPr>
              <a:t>%1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 lemons and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00FF00"/>
                </a:highlight>
              </a:rPr>
              <a:t>%2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 oranges"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FFFF00"/>
                </a:highlight>
              </a:rPr>
              <a:t>arg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00FF00"/>
                </a:highlight>
              </a:rPr>
              <a:t>arg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343D9EA-06B4-1D65-7A8E-91965D3B0B9C}"/>
              </a:ext>
            </a:extLst>
          </p:cNvPr>
          <p:cNvSpPr txBox="1"/>
          <p:nvPr/>
        </p:nvSpPr>
        <p:spPr>
          <a:xfrm>
            <a:off x="6050176" y="1827559"/>
            <a:ext cx="3609444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/>
              <a:t>那里有</a:t>
            </a:r>
            <a:r>
              <a:rPr lang="en-US" altLang="zh-CN"/>
              <a:t>12</a:t>
            </a:r>
            <a:r>
              <a:rPr lang="zh-CN" altLang="en-US"/>
              <a:t>朵白色玫瑰</a:t>
            </a:r>
            <a:endParaRPr lang="en-US" altLang="zh-CN"/>
          </a:p>
          <a:p>
            <a:r>
              <a:rPr lang="en-US" altLang="zh-CN"/>
              <a:t>The tree is 5.65 m high</a:t>
            </a:r>
          </a:p>
          <a:p>
            <a:r>
              <a:rPr lang="en-US" altLang="zh-CN"/>
              <a:t>We have 12 lemons and 4 oranges</a:t>
            </a:r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FC73692-FFD7-7962-1977-2E36DFB213DD}"/>
              </a:ext>
            </a:extLst>
          </p:cNvPr>
          <p:cNvSpPr txBox="1"/>
          <p:nvPr/>
        </p:nvSpPr>
        <p:spPr>
          <a:xfrm>
            <a:off x="8080792" y="714142"/>
            <a:ext cx="1467068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构建字符串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55E68E0-4921-ED86-DC5B-7D7143AC9937}"/>
              </a:ext>
            </a:extLst>
          </p:cNvPr>
          <p:cNvSpPr txBox="1"/>
          <p:nvPr/>
        </p:nvSpPr>
        <p:spPr>
          <a:xfrm>
            <a:off x="6050176" y="1114252"/>
            <a:ext cx="3497684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用实际值替换特定控制字符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argument</a:t>
            </a:r>
            <a:r>
              <a:rPr lang="zh-CN" altLang="en-US"/>
              <a:t>：实参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73092BA-98F7-F3B4-6B44-2EC8D5BF99A1}"/>
              </a:ext>
            </a:extLst>
          </p:cNvPr>
          <p:cNvSpPr txBox="1"/>
          <p:nvPr/>
        </p:nvSpPr>
        <p:spPr>
          <a:xfrm>
            <a:off x="869102" y="4908414"/>
            <a:ext cx="8664044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"The night train"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left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9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296F377-D9D9-1605-020E-60E8EEA82B75}"/>
              </a:ext>
            </a:extLst>
          </p:cNvPr>
          <p:cNvSpPr txBox="1"/>
          <p:nvPr/>
        </p:nvSpPr>
        <p:spPr>
          <a:xfrm>
            <a:off x="8066078" y="5672077"/>
            <a:ext cx="1467068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train</a:t>
            </a:r>
          </a:p>
          <a:p>
            <a:r>
              <a:rPr lang="en-US" altLang="zh-CN"/>
              <a:t>The night</a:t>
            </a:r>
          </a:p>
          <a:p>
            <a:r>
              <a:rPr lang="en-US" altLang="zh-CN"/>
              <a:t>night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81FBADC-C9EE-EAB1-0204-89C79811243C}"/>
              </a:ext>
            </a:extLst>
          </p:cNvPr>
          <p:cNvSpPr txBox="1"/>
          <p:nvPr/>
        </p:nvSpPr>
        <p:spPr>
          <a:xfrm>
            <a:off x="8322558" y="4917706"/>
            <a:ext cx="1210588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子字符串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9122F69-0543-C2B1-F5A1-902DC20D6834}"/>
              </a:ext>
            </a:extLst>
          </p:cNvPr>
          <p:cNvSpPr txBox="1"/>
          <p:nvPr/>
        </p:nvSpPr>
        <p:spPr>
          <a:xfrm>
            <a:off x="883816" y="7294000"/>
            <a:ext cx="8664044" cy="563231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" panose="020B0604020202020204" pitchFamily="34" charset="0"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" panose="020B0604020202020204" pitchFamily="34" charset="0"/>
              </a:rPr>
              <a:t>&lt;QTextStream&gt;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using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namespace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QTextStream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stdout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setEncoding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QStringConverter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System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"我有一个梦想！"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qc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  <a:latin typeface="Arial Unicode MS"/>
              </a:rPr>
              <a:t>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qc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begin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!=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++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  <a:latin typeface="Arial Unicode MS"/>
              </a:rPr>
              <a:t>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++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  <a:latin typeface="Arial Unicode MS"/>
              </a:rPr>
              <a:t>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at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6690A77-5A10-8D51-2270-885E994A8FA7}"/>
              </a:ext>
            </a:extLst>
          </p:cNvPr>
          <p:cNvSpPr txBox="1"/>
          <p:nvPr/>
        </p:nvSpPr>
        <p:spPr>
          <a:xfrm>
            <a:off x="7528560" y="8423783"/>
            <a:ext cx="2019300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/>
              <a:t>我 有 一 个 梦 想 ！ </a:t>
            </a:r>
          </a:p>
          <a:p>
            <a:r>
              <a:rPr lang="zh-CN" altLang="en-US"/>
              <a:t>我 有 一 个 梦 想 ！ </a:t>
            </a:r>
          </a:p>
          <a:p>
            <a:r>
              <a:rPr lang="zh-CN" altLang="en-US"/>
              <a:t>我 有 一 个 梦 想 ！ 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B1F305A-9718-EE95-F3D4-1EAE267F46E9}"/>
              </a:ext>
            </a:extLst>
          </p:cNvPr>
          <p:cNvSpPr txBox="1"/>
          <p:nvPr/>
        </p:nvSpPr>
        <p:spPr>
          <a:xfrm>
            <a:off x="8337272" y="7303292"/>
            <a:ext cx="1210588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遍历字符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F0BC431-CCD9-FD92-D02F-53510A9F1D2E}"/>
              </a:ext>
            </a:extLst>
          </p:cNvPr>
          <p:cNvSpPr txBox="1"/>
          <p:nvPr/>
        </p:nvSpPr>
        <p:spPr>
          <a:xfrm>
            <a:off x="5883561" y="11500640"/>
            <a:ext cx="3627147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at</a:t>
            </a:r>
            <a:r>
              <a:rPr lang="zh-CN" altLang="en-US" sz="2000">
                <a:solidFill>
                  <a:schemeClr val="tx1"/>
                </a:solidFill>
              </a:rPr>
              <a:t>结果为只读，使用比</a:t>
            </a:r>
            <a:r>
              <a:rPr lang="en-US" altLang="zh-CN" sz="2000">
                <a:solidFill>
                  <a:schemeClr val="tx1"/>
                </a:solidFill>
              </a:rPr>
              <a:t>[]</a:t>
            </a:r>
            <a:r>
              <a:rPr lang="zh-CN" altLang="en-US" sz="2000">
                <a:solidFill>
                  <a:schemeClr val="tx1"/>
                </a:solidFill>
              </a:rPr>
              <a:t>更高效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639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2663FC18-4640-AD71-253A-221B9989E0DB}"/>
              </a:ext>
            </a:extLst>
          </p:cNvPr>
          <p:cNvSpPr txBox="1"/>
          <p:nvPr/>
        </p:nvSpPr>
        <p:spPr>
          <a:xfrm>
            <a:off x="666222" y="736798"/>
            <a:ext cx="9292694" cy="64633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const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CE5C00"/>
                </a:solidFill>
                <a:effectLst/>
              </a:rPr>
              <a:t>STR_EQUAL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"Rain"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"rain"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"rain\n"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compare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E5C00"/>
                </a:solidFill>
                <a:effectLst/>
              </a:rPr>
              <a:t>STR_EQUAL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</a:rPr>
              <a:t>	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"a, b 相等"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"a, b 不相等"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"大小写不敏感的比较结果:"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compare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CaseInsensitive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E5C00"/>
                </a:solidFill>
                <a:effectLst/>
              </a:rPr>
              <a:t>STR_EQUAL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"a, b 相等"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"a,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不相等"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compare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E5C00"/>
                </a:solidFill>
                <a:effectLst/>
              </a:rPr>
              <a:t>STR_EQUAL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"b, c 相等"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"b, c 不相等"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chop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"删除掉换行符之后："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compare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E5C00"/>
                </a:solidFill>
                <a:effectLst/>
              </a:rPr>
              <a:t>STR_EQUAL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C0C0C0"/>
                </a:solidFill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"b, c 相等"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"b, c 不相等"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E8A11CE-B8CC-A987-9E35-F28819D9342A}"/>
              </a:ext>
            </a:extLst>
          </p:cNvPr>
          <p:cNvSpPr txBox="1"/>
          <p:nvPr/>
        </p:nvSpPr>
        <p:spPr>
          <a:xfrm>
            <a:off x="8491848" y="736798"/>
            <a:ext cx="1467068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字符串比较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7BD9AE2-40CC-5FD6-08B8-004D65442A34}"/>
              </a:ext>
            </a:extLst>
          </p:cNvPr>
          <p:cNvSpPr txBox="1"/>
          <p:nvPr/>
        </p:nvSpPr>
        <p:spPr>
          <a:xfrm>
            <a:off x="6950445" y="2166324"/>
            <a:ext cx="2828082" cy="17543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a, b </a:t>
            </a:r>
            <a:r>
              <a:rPr lang="zh-CN" altLang="en-US"/>
              <a:t>不相等</a:t>
            </a:r>
          </a:p>
          <a:p>
            <a:r>
              <a:rPr lang="zh-CN" altLang="en-US"/>
              <a:t>大小写不敏感的比较结果</a:t>
            </a:r>
            <a:r>
              <a:rPr lang="en-US" altLang="zh-CN"/>
              <a:t>:</a:t>
            </a:r>
          </a:p>
          <a:p>
            <a:r>
              <a:rPr lang="en-US" altLang="zh-CN"/>
              <a:t>a, b </a:t>
            </a:r>
            <a:r>
              <a:rPr lang="zh-CN" altLang="en-US"/>
              <a:t>相等</a:t>
            </a:r>
          </a:p>
          <a:p>
            <a:r>
              <a:rPr lang="en-US" altLang="zh-CN"/>
              <a:t>b, c </a:t>
            </a:r>
            <a:r>
              <a:rPr lang="zh-CN" altLang="en-US"/>
              <a:t>不相等</a:t>
            </a:r>
          </a:p>
          <a:p>
            <a:r>
              <a:rPr lang="zh-CN" altLang="en-US"/>
              <a:t>删除掉换行符之后：</a:t>
            </a:r>
          </a:p>
          <a:p>
            <a:r>
              <a:rPr lang="en-US" altLang="zh-CN"/>
              <a:t>b, c </a:t>
            </a:r>
            <a:r>
              <a:rPr lang="zh-CN" altLang="en-US"/>
              <a:t>相等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C457E35-3912-2476-5864-390338E5CD2C}"/>
              </a:ext>
            </a:extLst>
          </p:cNvPr>
          <p:cNvSpPr txBox="1"/>
          <p:nvPr/>
        </p:nvSpPr>
        <p:spPr>
          <a:xfrm>
            <a:off x="3701310" y="819248"/>
            <a:ext cx="3249135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/>
              <a:t>QString::compare</a:t>
            </a:r>
            <a:r>
              <a:rPr lang="zh-CN" altLang="en-US"/>
              <a:t>返回整型：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0</a:t>
            </a:r>
            <a:r>
              <a:rPr lang="zh-CN" altLang="en-US"/>
              <a:t>表示相等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负数表示小于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正数表示大于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6DD2294-A585-1FB4-80A8-5F6A2CED0F4E}"/>
              </a:ext>
            </a:extLst>
          </p:cNvPr>
          <p:cNvSpPr txBox="1"/>
          <p:nvPr/>
        </p:nvSpPr>
        <p:spPr>
          <a:xfrm>
            <a:off x="666222" y="7607326"/>
            <a:ext cx="9292694" cy="53553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digits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letters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spaces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puncts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"7 white, 3 red roses."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isDigit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digits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++;}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isLetter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letters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++;}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isSpace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spaces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++;}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else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isPunct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puncts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++;}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"There are %1 characters"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arg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count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"There are %1 letters"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arg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letters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"There are %1 digits"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arg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digits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"There are %1 spaces"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arg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spaces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"There are %1 punctuation characters"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arg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puncts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6ED3764-8DD4-D637-9AE3-604D36A3EDE1}"/>
              </a:ext>
            </a:extLst>
          </p:cNvPr>
          <p:cNvSpPr txBox="1"/>
          <p:nvPr/>
        </p:nvSpPr>
        <p:spPr>
          <a:xfrm>
            <a:off x="6465994" y="9274693"/>
            <a:ext cx="3492922" cy="14773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There are 21 characters</a:t>
            </a:r>
          </a:p>
          <a:p>
            <a:r>
              <a:rPr lang="en-US" altLang="zh-CN"/>
              <a:t>There are 13 letters</a:t>
            </a:r>
          </a:p>
          <a:p>
            <a:r>
              <a:rPr lang="en-US" altLang="zh-CN"/>
              <a:t>There are 2 digits</a:t>
            </a:r>
          </a:p>
          <a:p>
            <a:r>
              <a:rPr lang="en-US" altLang="zh-CN"/>
              <a:t>There are 4 spaces</a:t>
            </a:r>
          </a:p>
          <a:p>
            <a:r>
              <a:rPr lang="en-US" altLang="zh-CN"/>
              <a:t>There are 2 punctuation characters</a:t>
            </a:r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11A757D-3BD9-5005-5456-86BE6974D528}"/>
              </a:ext>
            </a:extLst>
          </p:cNvPr>
          <p:cNvSpPr txBox="1"/>
          <p:nvPr/>
        </p:nvSpPr>
        <p:spPr>
          <a:xfrm>
            <a:off x="8748328" y="7660641"/>
            <a:ext cx="1210588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字符类型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4B25FD3-A059-C373-C725-49DFA485139C}"/>
              </a:ext>
            </a:extLst>
          </p:cNvPr>
          <p:cNvSpPr txBox="1"/>
          <p:nvPr/>
        </p:nvSpPr>
        <p:spPr>
          <a:xfrm>
            <a:off x="4785360" y="8514176"/>
            <a:ext cx="5173556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字符分为：数字、字母、空白字符和标点符号。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QChar</a:t>
            </a:r>
            <a:r>
              <a:rPr lang="zh-CN" altLang="en-US"/>
              <a:t>有</a:t>
            </a:r>
            <a:r>
              <a:rPr lang="en-US" altLang="zh-CN"/>
              <a:t>isDigit</a:t>
            </a:r>
            <a:r>
              <a:rPr lang="zh-CN" altLang="en-US"/>
              <a:t>、</a:t>
            </a:r>
            <a:r>
              <a:rPr lang="en-US" altLang="zh-CN"/>
              <a:t>isleter</a:t>
            </a:r>
            <a:r>
              <a:rPr lang="zh-CN" altLang="en-US"/>
              <a:t>、</a:t>
            </a:r>
            <a:r>
              <a:rPr lang="en-US" altLang="zh-CN"/>
              <a:t>isSpace</a:t>
            </a:r>
            <a:r>
              <a:rPr lang="zh-CN" altLang="en-US"/>
              <a:t>和</a:t>
            </a:r>
            <a:r>
              <a:rPr lang="en-US" altLang="zh-CN"/>
              <a:t>isFunt</a:t>
            </a:r>
            <a:r>
              <a:rPr lang="zh-CN" altLang="en-US"/>
              <a:t>函数。</a:t>
            </a:r>
          </a:p>
        </p:txBody>
      </p:sp>
    </p:spTree>
    <p:extLst>
      <p:ext uri="{BB962C8B-B14F-4D97-AF65-F5344CB8AC3E}">
        <p14:creationId xmlns:p14="http://schemas.microsoft.com/office/powerpoint/2010/main" val="3970770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1F60ECE4-0CA8-F20E-7DC4-5A56B1A3C64A}"/>
              </a:ext>
            </a:extLst>
          </p:cNvPr>
          <p:cNvSpPr txBox="1"/>
          <p:nvPr/>
        </p:nvSpPr>
        <p:spPr>
          <a:xfrm>
            <a:off x="813755" y="3798910"/>
            <a:ext cx="8664044" cy="45243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"Lovely"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append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 season"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remove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replace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7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"girl"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clear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if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isEmpty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	</a:t>
            </a: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"The string is empty"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}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F9B1EB-FA11-1A5C-8F9A-EAA5A89477AD}"/>
              </a:ext>
            </a:extLst>
          </p:cNvPr>
          <p:cNvSpPr txBox="1"/>
          <p:nvPr/>
        </p:nvSpPr>
        <p:spPr>
          <a:xfrm>
            <a:off x="6057478" y="5292792"/>
            <a:ext cx="3492922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Lovely season</a:t>
            </a:r>
          </a:p>
          <a:p>
            <a:r>
              <a:rPr lang="en-US" altLang="zh-CN"/>
              <a:t>Lovely sea</a:t>
            </a:r>
          </a:p>
          <a:p>
            <a:r>
              <a:rPr lang="en-US" altLang="zh-CN"/>
              <a:t>Lovely girl</a:t>
            </a:r>
          </a:p>
          <a:p>
            <a:r>
              <a:rPr lang="en-US" altLang="zh-CN"/>
              <a:t>The string is empty</a:t>
            </a:r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9BD1D54-061F-A6F5-9900-9407459217AC}"/>
              </a:ext>
            </a:extLst>
          </p:cNvPr>
          <p:cNvSpPr txBox="1"/>
          <p:nvPr/>
        </p:nvSpPr>
        <p:spPr>
          <a:xfrm>
            <a:off x="8010731" y="3674856"/>
            <a:ext cx="1467068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字符串修改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028EBC3-03C8-4842-D55D-60A334ABA37B}"/>
              </a:ext>
            </a:extLst>
          </p:cNvPr>
          <p:cNvSpPr txBox="1"/>
          <p:nvPr/>
        </p:nvSpPr>
        <p:spPr>
          <a:xfrm>
            <a:off x="4461299" y="4074966"/>
            <a:ext cx="5016500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某些方法（例如</a:t>
            </a:r>
            <a:r>
              <a:rPr lang="en-US" altLang="zh-CN"/>
              <a:t>toLower</a:t>
            </a:r>
            <a:r>
              <a:rPr lang="zh-CN" altLang="en-US"/>
              <a:t>方法）返回原始字符串修改后的副本。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highlight>
                  <a:srgbClr val="00FF00"/>
                </a:highlight>
              </a:rPr>
              <a:t>其他方法会修改字符串原件。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3363AE1-2A52-0B6F-5DDD-FC8A28C03ED4}"/>
              </a:ext>
            </a:extLst>
          </p:cNvPr>
          <p:cNvSpPr txBox="1"/>
          <p:nvPr/>
        </p:nvSpPr>
        <p:spPr>
          <a:xfrm>
            <a:off x="843176" y="8483437"/>
            <a:ext cx="8664044" cy="34163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field1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"Name: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field2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"Occupation: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field3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"Residence: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field4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"Marital status: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width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field4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field1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rightJustified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width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' '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"Robert"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field2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rightJustified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width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' '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"programmer"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field3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rightJustified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width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' '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"New York"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field4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rightJustified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width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' '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"single"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92A44D3-D83C-1A41-3DFD-2BF4E19AB80A}"/>
              </a:ext>
            </a:extLst>
          </p:cNvPr>
          <p:cNvSpPr txBox="1"/>
          <p:nvPr/>
        </p:nvSpPr>
        <p:spPr>
          <a:xfrm>
            <a:off x="6014298" y="9176136"/>
            <a:ext cx="3492922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              Name: Robert</a:t>
            </a:r>
          </a:p>
          <a:p>
            <a:r>
              <a:rPr lang="en-US" altLang="zh-CN"/>
              <a:t>    Occupation: programmer</a:t>
            </a:r>
          </a:p>
          <a:p>
            <a:r>
              <a:rPr lang="en-US" altLang="zh-CN"/>
              <a:t>      Residence: New York</a:t>
            </a:r>
          </a:p>
          <a:p>
            <a:r>
              <a:rPr lang="en-US" altLang="zh-CN"/>
              <a:t>Marital status: single</a:t>
            </a:r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122D62B-FAC2-2BCA-6A20-D7A597F75961}"/>
              </a:ext>
            </a:extLst>
          </p:cNvPr>
          <p:cNvSpPr txBox="1"/>
          <p:nvPr/>
        </p:nvSpPr>
        <p:spPr>
          <a:xfrm>
            <a:off x="8040152" y="8359383"/>
            <a:ext cx="1467068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字符串对齐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5836263-D123-BE09-8362-489A837BC145}"/>
              </a:ext>
            </a:extLst>
          </p:cNvPr>
          <p:cNvSpPr txBox="1"/>
          <p:nvPr/>
        </p:nvSpPr>
        <p:spPr>
          <a:xfrm>
            <a:off x="4490720" y="8759493"/>
            <a:ext cx="5016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/>
              <a:t>可以使用</a:t>
            </a:r>
            <a:r>
              <a:rPr lang="en-US" altLang="zh-CN"/>
              <a:t>leftJustified</a:t>
            </a:r>
            <a:r>
              <a:rPr lang="zh-CN" altLang="en-US"/>
              <a:t>和</a:t>
            </a:r>
            <a:r>
              <a:rPr lang="en-US" altLang="zh-CN"/>
              <a:t>rightJustified</a:t>
            </a:r>
            <a:r>
              <a:rPr lang="zh-CN" altLang="en-US"/>
              <a:t>来对齐字符串</a:t>
            </a:r>
            <a:endParaRPr lang="zh-CN" altLang="en-US">
              <a:highlight>
                <a:srgbClr val="00FF00"/>
              </a:highlight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A84D839-CFB5-A7BC-8D66-454BE49E1CCF}"/>
              </a:ext>
            </a:extLst>
          </p:cNvPr>
          <p:cNvSpPr txBox="1"/>
          <p:nvPr/>
        </p:nvSpPr>
        <p:spPr>
          <a:xfrm>
            <a:off x="843176" y="12096127"/>
            <a:ext cx="8664044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allText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"&lt;\"hello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the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world!\"&gt;"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allText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toHtmlEscaped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0B2C3BE-76D8-B3DF-26AD-5A84C33087A5}"/>
              </a:ext>
            </a:extLst>
          </p:cNvPr>
          <p:cNvSpPr txBox="1"/>
          <p:nvPr/>
        </p:nvSpPr>
        <p:spPr>
          <a:xfrm>
            <a:off x="5669280" y="12910319"/>
            <a:ext cx="391054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&amp;lt;&amp;quot;hello the world!&amp;quot;&amp;gt;</a:t>
            </a:r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CF9B403-AEAD-0CDC-3554-C4722C8B8C5D}"/>
              </a:ext>
            </a:extLst>
          </p:cNvPr>
          <p:cNvSpPr txBox="1"/>
          <p:nvPr/>
        </p:nvSpPr>
        <p:spPr>
          <a:xfrm>
            <a:off x="8296632" y="12092502"/>
            <a:ext cx="1210588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格式转换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0BA8C44-658F-4049-0DF1-42472AD839C8}"/>
              </a:ext>
            </a:extLst>
          </p:cNvPr>
          <p:cNvSpPr txBox="1"/>
          <p:nvPr/>
        </p:nvSpPr>
        <p:spPr>
          <a:xfrm>
            <a:off x="3841961" y="13382667"/>
            <a:ext cx="573786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/>
              <a:t>将纯文本字符串转换为具有</a:t>
            </a:r>
            <a:r>
              <a:rPr lang="en-US" altLang="zh-CN"/>
              <a:t>HTML</a:t>
            </a:r>
            <a:r>
              <a:rPr lang="zh-CN" altLang="en-US"/>
              <a:t>元字符的</a:t>
            </a:r>
            <a:r>
              <a:rPr lang="en-US" altLang="zh-CN"/>
              <a:t>HTML</a:t>
            </a:r>
            <a:r>
              <a:rPr lang="zh-CN" altLang="en-US"/>
              <a:t>字符串</a:t>
            </a:r>
            <a:endParaRPr lang="zh-CN" altLang="en-US">
              <a:highlight>
                <a:srgbClr val="00FF00"/>
              </a:highlight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2B832C5-1B48-A50A-0A7A-C14DA1A81270}"/>
              </a:ext>
            </a:extLst>
          </p:cNvPr>
          <p:cNvSpPr txBox="1"/>
          <p:nvPr/>
        </p:nvSpPr>
        <p:spPr>
          <a:xfrm>
            <a:off x="813755" y="750037"/>
            <a:ext cx="8664044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"12"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"15"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toInt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toInt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n1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30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n2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40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lang="en-US" altLang="zh-CN">
                <a:solidFill>
                  <a:srgbClr val="000080"/>
                </a:solidFill>
                <a:effectLst/>
              </a:rPr>
              <a:t>qDebug</a:t>
            </a:r>
            <a:r>
              <a:rPr lang="en-US" altLang="zh-CN"/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setNum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n1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s4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setNum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n2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DE75D8A-8DFB-CC7B-CB40-6B895C7513EC}"/>
              </a:ext>
            </a:extLst>
          </p:cNvPr>
          <p:cNvSpPr txBox="1"/>
          <p:nvPr/>
        </p:nvSpPr>
        <p:spPr>
          <a:xfrm>
            <a:off x="7803939" y="1919589"/>
            <a:ext cx="1867322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/>
              <a:t>27</a:t>
            </a:r>
          </a:p>
          <a:p>
            <a:r>
              <a:rPr lang="en-US" altLang="zh-CN"/>
              <a:t>“3040”</a:t>
            </a:r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CB48705-D831-921F-C91B-A31E476E299F}"/>
              </a:ext>
            </a:extLst>
          </p:cNvPr>
          <p:cNvSpPr txBox="1"/>
          <p:nvPr/>
        </p:nvSpPr>
        <p:spPr>
          <a:xfrm>
            <a:off x="7497770" y="700820"/>
            <a:ext cx="1980029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字符串类型转换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4296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FjYTU0NWJkMWQ1YTMwMTViZThhYTk5YTFlZGRhMzgifQ=="/>
</p:tagLst>
</file>

<file path=ppt/theme/theme1.xml><?xml version="1.0" encoding="utf-8"?>
<a:theme xmlns:a="http://schemas.openxmlformats.org/drawingml/2006/main" name="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第4章：程序流程之循环</Template>
  <TotalTime>1226</TotalTime>
  <Words>1803</Words>
  <Application>Microsoft Office PowerPoint</Application>
  <PresentationFormat>自定义</PresentationFormat>
  <Paragraphs>194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 Unicode MS</vt:lpstr>
      <vt:lpstr>等线</vt:lpstr>
      <vt:lpstr>华文琥珀</vt:lpstr>
      <vt:lpstr>Arial</vt:lpstr>
      <vt:lpstr>Calibri</vt:lpstr>
      <vt:lpstr>Cambria</vt:lpstr>
      <vt:lpstr>第一PPT，www.1ppt.com</vt:lpstr>
      <vt:lpstr>4_第一PPT，www.1ppt.com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蔡乐</dc:creator>
  <cp:lastModifiedBy>乐</cp:lastModifiedBy>
  <cp:revision>1432</cp:revision>
  <dcterms:created xsi:type="dcterms:W3CDTF">2020-06-26T01:00:00Z</dcterms:created>
  <dcterms:modified xsi:type="dcterms:W3CDTF">2022-07-14T10:42:05Z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2052-11.1.0.11744</vt:lpwstr>
  </property>
  <property fmtid="{D5CDD505-2E9C-101B-9397-08002B2CF9AE}" pid="3" name="ICV">
    <vt:lpwstr>35C8A0B9FA4B4BC7B03E97E74C2317FB</vt:lpwstr>
  </property>
</Properties>
</file>