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8" r:id="rId2"/>
    <p:sldId id="338" r:id="rId3"/>
    <p:sldId id="339" r:id="rId4"/>
    <p:sldId id="340" r:id="rId5"/>
    <p:sldId id="341" r:id="rId6"/>
    <p:sldId id="342" r:id="rId7"/>
  </p:sldIdLst>
  <p:sldSz cx="10625138" cy="1440021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912" y="48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07:46:32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37 131 24575,'4'-14'0,"-3"-5"0,-5-3 0,-6 3 0,-4 4 0,0 1 0,17-1 0,8 3-8191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07:47:06.8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12T01:30:48.9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12T01:31:38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14T14:51:41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绘图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9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6740" y="214725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solidFill>
                  <a:schemeClr val="accent3"/>
                </a:solidFill>
              </a:rPr>
              <a:t>Qpainter</a:t>
            </a:r>
            <a:r>
              <a:rPr lang="zh-CN" altLang="en-US" sz="2000" b="1" dirty="0">
                <a:solidFill>
                  <a:schemeClr val="accent3"/>
                </a:solidFill>
              </a:rPr>
              <a:t>直接看源代码！</a:t>
            </a:r>
            <a:endParaRPr lang="en-US" altLang="zh-CN" sz="2000" b="1" dirty="0">
              <a:solidFill>
                <a:schemeClr val="accent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6740" y="614835"/>
            <a:ext cx="9451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-apple-system"/>
              </a:rPr>
              <a:t>QPainter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可以绘制</a:t>
            </a: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-apple-system"/>
              </a:rPr>
              <a:t>简单的线条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-apple-system"/>
              </a:rPr>
              <a:t>复杂的形状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zh-CN" altLang="en-US" b="0" i="0">
                <a:solidFill>
                  <a:schemeClr val="bg1"/>
                </a:solidFill>
                <a:effectLst/>
                <a:highlight>
                  <a:srgbClr val="FF00FF"/>
                </a:highlight>
                <a:latin typeface="-apple-system"/>
              </a:rPr>
              <a:t>文本和贴图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，并支持坐标变换。</a:t>
            </a:r>
            <a:endParaRPr lang="en-US" altLang="zh-CN" b="0" i="0">
              <a:solidFill>
                <a:schemeClr val="bg1"/>
              </a:solidFill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-apple-system"/>
              </a:rPr>
              <a:t>QPainter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可以对继承</a:t>
            </a:r>
            <a:r>
              <a:rPr lang="en-US" altLang="zh-CN" b="0" i="0">
                <a:solidFill>
                  <a:schemeClr val="bg1"/>
                </a:solidFill>
                <a:effectLst/>
                <a:latin typeface="-apple-system"/>
              </a:rPr>
              <a:t>QPaintDevice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类的任何对象进行操作。</a:t>
            </a:r>
            <a:endParaRPr lang="en-US" altLang="zh-CN" b="0" i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3493" y="7781685"/>
            <a:ext cx="46958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QPainter</a:t>
            </a:r>
            <a:r>
              <a:rPr lang="zh-CN" altLang="en-US" b="0" i="0">
                <a:solidFill>
                  <a:schemeClr val="bg1"/>
                </a:solidFill>
                <a:effectLst/>
                <a:latin typeface="suxingme"/>
              </a:rPr>
              <a:t>的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3</a:t>
            </a:r>
            <a:r>
              <a:rPr lang="zh-CN" altLang="en-US" b="0" i="0">
                <a:solidFill>
                  <a:schemeClr val="bg1"/>
                </a:solidFill>
                <a:effectLst/>
                <a:latin typeface="suxingme"/>
              </a:rPr>
              <a:t>个主要设置是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: 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FF00FF"/>
                </a:highlight>
                <a:latin typeface="suxingme"/>
              </a:rPr>
              <a:t>pen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, 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suxingme"/>
              </a:rPr>
              <a:t>brush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, font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painter.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suxingme"/>
              </a:rPr>
              <a:t>setPen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(QPen(..));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painter.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suxingme"/>
              </a:rPr>
              <a:t>setBrush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(QBrush(..));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painter.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suxingme"/>
              </a:rPr>
              <a:t>setFont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(QFont(..));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painter.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suxingme"/>
              </a:rPr>
              <a:t>setRenderHint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(QPainter::Antialiasing);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painter.draw</a:t>
            </a:r>
            <a:r>
              <a:rPr lang="en-US" altLang="zh-CN" b="0" i="0">
                <a:solidFill>
                  <a:schemeClr val="bg1"/>
                </a:solidFill>
                <a:effectLst/>
                <a:highlight>
                  <a:srgbClr val="800000"/>
                </a:highlight>
                <a:latin typeface="suxingme"/>
              </a:rPr>
              <a:t>XXX</a:t>
            </a:r>
            <a:r>
              <a:rPr lang="en-US" altLang="zh-CN" b="0" i="0">
                <a:solidFill>
                  <a:schemeClr val="bg1"/>
                </a:solidFill>
                <a:effectLst/>
                <a:latin typeface="suxingme"/>
              </a:rPr>
              <a:t>(..)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326" y="7827363"/>
            <a:ext cx="4695825" cy="21812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55" y="9812214"/>
            <a:ext cx="4229100" cy="24669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569" y="10008588"/>
            <a:ext cx="5019675" cy="15335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9CB3229-9864-306C-7F2C-6845E3C22C8C}"/>
              </a:ext>
            </a:extLst>
          </p:cNvPr>
          <p:cNvSpPr txBox="1"/>
          <p:nvPr/>
        </p:nvSpPr>
        <p:spPr>
          <a:xfrm>
            <a:off x="613493" y="1291124"/>
            <a:ext cx="90551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QPainter的常见用法是在</a:t>
            </a:r>
            <a:r>
              <a:rPr lang="en-US" altLang="zh-CN"/>
              <a:t>widget</a:t>
            </a:r>
            <a:r>
              <a:rPr lang="zh-CN" altLang="en-US"/>
              <a:t>的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绘制事件（</a:t>
            </a:r>
            <a:r>
              <a:rPr lang="en-US" altLang="zh-CN" b="1" i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paintEvent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/>
              <a:t>中：构造和自定义（例如设置笔或画笔）QPaint对象。然后进行绘制。请记住在绘制后销毁QPaint对象。例如：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2DC60A-EEA9-7E73-1736-0E402E4B88B5}"/>
              </a:ext>
            </a:extLst>
          </p:cNvPr>
          <p:cNvSpPr txBox="1"/>
          <p:nvPr/>
        </p:nvSpPr>
        <p:spPr>
          <a:xfrm>
            <a:off x="613493" y="2002988"/>
            <a:ext cx="8882214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SimpleExampleWidget::paintEvent(QPaintEvent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painter(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painter.setPen(Qt::blue);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painter.setFont(QFont(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"Arial"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painter.drawText(rect(),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Qt::AlignCenter,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"Qt"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ACC64C1-6FF9-4D24-390F-8F1BE98A8AE3}"/>
              </a:ext>
            </a:extLst>
          </p:cNvPr>
          <p:cNvSpPr txBox="1"/>
          <p:nvPr/>
        </p:nvSpPr>
        <p:spPr>
          <a:xfrm>
            <a:off x="873239" y="3852335"/>
            <a:ext cx="5119579" cy="25378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</a:rPr>
              <a:t>QPainter</a:t>
            </a:r>
            <a:r>
              <a:rPr lang="zh-CN" altLang="en-US" dirty="0">
                <a:solidFill>
                  <a:schemeClr val="bg1"/>
                </a:solidFill>
              </a:rPr>
              <a:t>与</a:t>
            </a:r>
            <a:r>
              <a:rPr lang="en-US" altLang="zh-CN" dirty="0" err="1">
                <a:solidFill>
                  <a:schemeClr val="bg1"/>
                </a:solidFill>
              </a:rPr>
              <a:t>QPaintDevice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dirty="0" err="1">
                <a:solidFill>
                  <a:schemeClr val="bg1"/>
                </a:solidFill>
              </a:rPr>
              <a:t>QPaintEngine</a:t>
            </a:r>
            <a:r>
              <a:rPr lang="zh-CN" altLang="en-US" dirty="0">
                <a:solidFill>
                  <a:schemeClr val="bg1"/>
                </a:solidFill>
              </a:rPr>
              <a:t>类一起构成了</a:t>
            </a:r>
            <a:r>
              <a:rPr lang="en-US" altLang="zh-CN" dirty="0">
                <a:solidFill>
                  <a:schemeClr val="bg1"/>
                </a:solidFill>
              </a:rPr>
              <a:t>Qt</a:t>
            </a:r>
            <a:r>
              <a:rPr lang="zh-CN" altLang="en-US" dirty="0">
                <a:solidFill>
                  <a:schemeClr val="bg1"/>
                </a:solidFill>
              </a:rPr>
              <a:t>绘图系统的基础。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</a:rPr>
              <a:t>QPainter</a:t>
            </a:r>
            <a:r>
              <a:rPr lang="zh-CN" altLang="en-US" dirty="0">
                <a:solidFill>
                  <a:schemeClr val="bg1"/>
                </a:solidFill>
              </a:rPr>
              <a:t>是用于执行绘图操作的类。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</a:rPr>
              <a:t>QPaintDevice</a:t>
            </a:r>
            <a:r>
              <a:rPr lang="zh-CN" altLang="en-US" dirty="0">
                <a:solidFill>
                  <a:schemeClr val="bg1"/>
                </a:solidFill>
              </a:rPr>
              <a:t>表示可以使用</a:t>
            </a:r>
            <a:r>
              <a:rPr lang="en-US" altLang="zh-CN" dirty="0" err="1">
                <a:solidFill>
                  <a:schemeClr val="bg1"/>
                </a:solidFill>
              </a:rPr>
              <a:t>QPainter</a:t>
            </a:r>
            <a:r>
              <a:rPr lang="zh-CN" altLang="en-US" dirty="0">
                <a:solidFill>
                  <a:schemeClr val="bg1"/>
                </a:solidFill>
              </a:rPr>
              <a:t>绘制的设备。</a:t>
            </a:r>
            <a:endParaRPr lang="en-US" altLang="zh-C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</a:rPr>
              <a:t>QPaintEngine</a:t>
            </a:r>
            <a:r>
              <a:rPr lang="zh-CN" altLang="en-US" dirty="0">
                <a:solidFill>
                  <a:schemeClr val="bg1"/>
                </a:solidFill>
              </a:rPr>
              <a:t>提供了</a:t>
            </a:r>
            <a:r>
              <a:rPr lang="en-US" altLang="zh-CN" dirty="0" err="1">
                <a:solidFill>
                  <a:schemeClr val="bg1"/>
                </a:solidFill>
              </a:rPr>
              <a:t>QPainter</a:t>
            </a:r>
            <a:r>
              <a:rPr lang="zh-CN" altLang="en-US" dirty="0">
                <a:solidFill>
                  <a:schemeClr val="bg1"/>
                </a:solidFill>
              </a:rPr>
              <a:t>对象提供绘制不同类型设备的接口。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CA8091-D0BC-293B-A975-C96F93B84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761" y="6745647"/>
            <a:ext cx="7175616" cy="92473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B99BD47-4F5B-D1E3-765A-9FED97A18B14}"/>
              </a:ext>
            </a:extLst>
          </p:cNvPr>
          <p:cNvSpPr txBox="1"/>
          <p:nvPr/>
        </p:nvSpPr>
        <p:spPr>
          <a:xfrm>
            <a:off x="4158494" y="5975391"/>
            <a:ext cx="551009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QPaintEngine</a:t>
            </a:r>
            <a:r>
              <a:rPr lang="zh-CN" altLang="en-US"/>
              <a:t>类由</a:t>
            </a:r>
            <a:r>
              <a:rPr lang="en-US" altLang="zh-CN"/>
              <a:t>QPainter</a:t>
            </a:r>
            <a:r>
              <a:rPr lang="zh-CN" altLang="en-US"/>
              <a:t>和</a:t>
            </a:r>
            <a:r>
              <a:rPr lang="en-US" altLang="zh-CN"/>
              <a:t>QPaintDevice</a:t>
            </a:r>
            <a:r>
              <a:rPr lang="zh-CN" altLang="en-US"/>
              <a:t>内部使用，除非需要创建自己的设备类型，否则不会直接使用它。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01D789E-FDDC-961D-88E8-58C8AEC95CD3}"/>
              </a:ext>
            </a:extLst>
          </p:cNvPr>
          <p:cNvSpPr txBox="1"/>
          <p:nvPr/>
        </p:nvSpPr>
        <p:spPr>
          <a:xfrm>
            <a:off x="6627480" y="9972453"/>
            <a:ext cx="2807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highlight>
                  <a:srgbClr val="FF00FF"/>
                </a:highlight>
              </a:rPr>
              <a:t>画笔端点风格：</a:t>
            </a:r>
            <a:r>
              <a:rPr lang="en-US" altLang="zh-CN">
                <a:solidFill>
                  <a:schemeClr val="bg1"/>
                </a:solidFill>
                <a:highlight>
                  <a:srgbClr val="FF00FF"/>
                </a:highlight>
              </a:rPr>
              <a:t>Cap Style</a:t>
            </a:r>
            <a:endParaRPr lang="zh-CN" altLang="en-US">
              <a:solidFill>
                <a:schemeClr val="bg1"/>
              </a:solidFill>
              <a:highlight>
                <a:srgbClr val="FF00FF"/>
              </a:highlight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32B2A01-AF7E-5720-5A1D-2591544F0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9318" y="11542113"/>
            <a:ext cx="4183138" cy="231350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25FFA8E-2534-0DB5-70E4-EFD69045DA83}"/>
              </a:ext>
            </a:extLst>
          </p:cNvPr>
          <p:cNvSpPr txBox="1"/>
          <p:nvPr/>
        </p:nvSpPr>
        <p:spPr>
          <a:xfrm>
            <a:off x="7594188" y="11542113"/>
            <a:ext cx="1898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ighlight>
                  <a:srgbClr val="FF00FF"/>
                </a:highlight>
              </a:rPr>
              <a:t>Join Style</a:t>
            </a:r>
            <a:endParaRPr lang="zh-CN" altLang="en-US">
              <a:solidFill>
                <a:schemeClr val="bg1"/>
              </a:solidFill>
              <a:highlight>
                <a:srgbClr val="FF00FF"/>
              </a:highlight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24041B-9ED5-DFA4-D09B-FC2BCAD83AFD}"/>
              </a:ext>
            </a:extLst>
          </p:cNvPr>
          <p:cNvSpPr txBox="1"/>
          <p:nvPr/>
        </p:nvSpPr>
        <p:spPr>
          <a:xfrm>
            <a:off x="7280131" y="7790753"/>
            <a:ext cx="1258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highlight>
                  <a:srgbClr val="FF00FF"/>
                </a:highlight>
              </a:rPr>
              <a:t>Pen Style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9FBA85-8B56-B767-25EF-F6E99983025B}"/>
              </a:ext>
            </a:extLst>
          </p:cNvPr>
          <p:cNvSpPr txBox="1"/>
          <p:nvPr/>
        </p:nvSpPr>
        <p:spPr>
          <a:xfrm>
            <a:off x="2174844" y="12397225"/>
            <a:ext cx="1258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Brush Style</a:t>
            </a:r>
            <a:endParaRPr lang="zh-CN" altLang="en-US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A06BB-D6A2-52C2-029E-8844CB89F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348" y="2882860"/>
            <a:ext cx="3481484" cy="2981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92660" y="185009"/>
            <a:ext cx="5930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坐标系统和坐标变换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2034" y="4504058"/>
            <a:ext cx="945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chemeClr val="bg1"/>
                </a:solidFill>
                <a:effectLst/>
                <a:latin typeface="-apple-system"/>
              </a:rPr>
              <a:t>QPainter</a:t>
            </a:r>
            <a:r>
              <a:rPr lang="zh-CN" altLang="en-US" b="0" i="0">
                <a:solidFill>
                  <a:schemeClr val="bg1"/>
                </a:solidFill>
                <a:effectLst/>
                <a:latin typeface="-apple-system"/>
              </a:rPr>
              <a:t>有关坐标变换操作的函数：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242847"/>
              </p:ext>
            </p:extLst>
          </p:nvPr>
        </p:nvGraphicFramePr>
        <p:xfrm>
          <a:off x="656797" y="4953638"/>
          <a:ext cx="9606987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/>
                        <a:t>分组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函数原型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坐标变换 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altLang="zh-CN" sz="1800"/>
                        <a:t>translate(</a:t>
                      </a:r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qreal </a:t>
                      </a:r>
                      <a:r>
                        <a:rPr lang="en-US" altLang="zh-CN" sz="1800"/>
                        <a:t>dx,</a:t>
                      </a:r>
                      <a:r>
                        <a:rPr lang="en-US" altLang="zh-C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qreal </a:t>
                      </a:r>
                      <a:r>
                        <a:rPr lang="en-US" altLang="zh-CN" sz="1800"/>
                        <a:t>dy)</a:t>
                      </a:r>
                    </a:p>
                    <a:p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rotate(qreal angle)  </a:t>
                      </a:r>
                    </a:p>
                    <a:p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scale(qreal sx,qreal sy)  </a:t>
                      </a:r>
                    </a:p>
                    <a:p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shear(qrael sh,qreal sy) 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坐标系统一定的偏移量，坐标原点平移到新的点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坐标系统顺时针旋转一个角度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坐标系统缩放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坐标系统做扭转变换</a:t>
                      </a: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状态保存与恢复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save() </a:t>
                      </a:r>
                    </a:p>
                    <a:p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restore()  </a:t>
                      </a:r>
                    </a:p>
                    <a:p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resetTransform()  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保存</a:t>
                      </a:r>
                      <a:r>
                        <a:rPr lang="en-US" altLang="zh-C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painter</a:t>
                      </a:r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当前的状态，就是将当前状态压入栈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恢复上一次状态，就是从堆栈中弹出上次的状态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复位所有的坐标变换</a:t>
                      </a: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99379" y="2366491"/>
            <a:ext cx="2854960" cy="16865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970279" y="2366491"/>
            <a:ext cx="2854960" cy="16865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341179" y="2366491"/>
            <a:ext cx="2854960" cy="16865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89599" y="413571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原始坐标系统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35984" y="4120657"/>
            <a:ext cx="2053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平移（</a:t>
            </a:r>
            <a:r>
              <a:rPr lang="en-US" altLang="zh-CN" sz="2000">
                <a:solidFill>
                  <a:schemeClr val="bg1"/>
                </a:solidFill>
              </a:rPr>
              <a:t>150,100</a:t>
            </a:r>
            <a:r>
              <a:rPr lang="zh-CN" altLang="en-US" sz="2000">
                <a:solidFill>
                  <a:schemeClr val="bg1"/>
                </a:solidFill>
              </a:rPr>
              <a:t>）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61762" y="4135719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旋转</a:t>
            </a:r>
            <a:r>
              <a:rPr lang="en-US" altLang="zh-CN" sz="2000">
                <a:solidFill>
                  <a:schemeClr val="bg1"/>
                </a:solidFill>
              </a:rPr>
              <a:t>90</a:t>
            </a:r>
            <a:r>
              <a:rPr lang="zh-CN" altLang="en-US" sz="2000">
                <a:solidFill>
                  <a:schemeClr val="bg1"/>
                </a:solidFill>
              </a:rPr>
              <a:t>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5142" y="1966381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0,0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31770" y="3009716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0,0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63973" y="4120657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300,200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69169" y="4107339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150,100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592752" y="1925047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-150,-100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13" name="直接箭头连接符 12"/>
          <p:cNvCxnSpPr>
            <a:stCxn id="9" idx="2"/>
            <a:endCxn id="5" idx="0"/>
          </p:cNvCxnSpPr>
          <p:nvPr/>
        </p:nvCxnSpPr>
        <p:spPr>
          <a:xfrm>
            <a:off x="599379" y="2366491"/>
            <a:ext cx="1427480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5" idx="1"/>
          </p:cNvCxnSpPr>
          <p:nvPr/>
        </p:nvCxnSpPr>
        <p:spPr>
          <a:xfrm>
            <a:off x="599378" y="2366491"/>
            <a:ext cx="1" cy="84328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5325208" y="3209771"/>
            <a:ext cx="1427480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5325207" y="3209771"/>
            <a:ext cx="1" cy="84328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026859" y="2224251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x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6517" y="3151956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y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982603" y="3734195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y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589751" y="2819821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x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7670087" y="3219931"/>
            <a:ext cx="1098572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8751139" y="3209771"/>
            <a:ext cx="1" cy="84328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8342141" y="3636669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x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497014" y="2724485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accent6"/>
                </a:solidFill>
              </a:rPr>
              <a:t>y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159" name="矩形 1158"/>
          <p:cNvSpPr/>
          <p:nvPr/>
        </p:nvSpPr>
        <p:spPr>
          <a:xfrm>
            <a:off x="598326" y="777360"/>
            <a:ext cx="9597813" cy="95544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0" i="0">
                <a:solidFill>
                  <a:schemeClr val="bg1"/>
                </a:solidFill>
                <a:effectLst/>
                <a:latin typeface="-apple-system"/>
              </a:rPr>
              <a:t>为了绘图的方便，</a:t>
            </a:r>
            <a:r>
              <a:rPr lang="en-US" altLang="zh-CN" sz="2000" b="0" i="0">
                <a:solidFill>
                  <a:schemeClr val="bg1"/>
                </a:solidFill>
                <a:effectLst/>
                <a:latin typeface="-apple-system"/>
              </a:rPr>
              <a:t>QPainter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-apple-system"/>
              </a:rPr>
              <a:t>提供了一些坐标变换的功能，通过</a:t>
            </a:r>
            <a:r>
              <a:rPr lang="zh-CN" altLang="en-US" sz="2000" i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</a:rPr>
              <a:t>平移，旋转，缩放</a:t>
            </a:r>
            <a:r>
              <a:rPr lang="zh-CN" altLang="en-US" sz="2000" b="0" i="0">
                <a:solidFill>
                  <a:schemeClr val="bg1"/>
                </a:solidFill>
                <a:effectLst/>
                <a:latin typeface="-apple-system"/>
              </a:rPr>
              <a:t>等坐标变换，得到一个逻辑坐标系统，使用逻辑坐标系统在某些时候绘图更方便。</a:t>
            </a:r>
            <a:endParaRPr lang="zh-CN" altLang="en-US" sz="200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FEF02A-CBBF-B0C0-9825-0580E1DB9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14" y="7820041"/>
            <a:ext cx="9096375" cy="3057525"/>
          </a:xfrm>
          <a:prstGeom prst="rect">
            <a:avLst/>
          </a:prstGeom>
        </p:spPr>
      </p:pic>
      <p:grpSp>
        <p:nvGrpSpPr>
          <p:cNvPr id="1392" name="组合 1391">
            <a:extLst>
              <a:ext uri="{FF2B5EF4-FFF2-40B4-BE49-F238E27FC236}">
                <a16:creationId xmlns:a16="http://schemas.microsoft.com/office/drawing/2014/main" id="{91D839CB-8F1D-E992-3D23-4038F894DBAF}"/>
              </a:ext>
            </a:extLst>
          </p:cNvPr>
          <p:cNvGrpSpPr/>
          <p:nvPr/>
        </p:nvGrpSpPr>
        <p:grpSpPr>
          <a:xfrm>
            <a:off x="1510680" y="8747640"/>
            <a:ext cx="1728000" cy="68400"/>
            <a:chOff x="1510680" y="8747640"/>
            <a:chExt cx="172800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338" name="墨迹 1337">
                  <a:extLst>
                    <a:ext uri="{FF2B5EF4-FFF2-40B4-BE49-F238E27FC236}">
                      <a16:creationId xmlns:a16="http://schemas.microsoft.com/office/drawing/2014/main" id="{C9D9908D-F2D3-5FF2-18A4-F637F1508147}"/>
                    </a:ext>
                  </a:extLst>
                </p14:cNvPr>
                <p14:cNvContentPartPr/>
                <p14:nvPr/>
              </p14:nvContentPartPr>
              <p14:xfrm>
                <a:off x="1510680" y="8768880"/>
                <a:ext cx="15480" cy="47160"/>
              </p14:xfrm>
            </p:contentPart>
          </mc:Choice>
          <mc:Fallback xmlns="">
            <p:pic>
              <p:nvPicPr>
                <p:cNvPr id="1338" name="墨迹 1337">
                  <a:extLst>
                    <a:ext uri="{FF2B5EF4-FFF2-40B4-BE49-F238E27FC236}">
                      <a16:creationId xmlns:a16="http://schemas.microsoft.com/office/drawing/2014/main" id="{C9D9908D-F2D3-5FF2-18A4-F637F150814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01680" y="8760240"/>
                  <a:ext cx="33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89" name="墨迹 1388">
                  <a:extLst>
                    <a:ext uri="{FF2B5EF4-FFF2-40B4-BE49-F238E27FC236}">
                      <a16:creationId xmlns:a16="http://schemas.microsoft.com/office/drawing/2014/main" id="{1FE1E917-53D8-C0FD-D1CB-CC8BCC1EA8CA}"/>
                    </a:ext>
                  </a:extLst>
                </p14:cNvPr>
                <p14:cNvContentPartPr/>
                <p14:nvPr/>
              </p14:nvContentPartPr>
              <p14:xfrm>
                <a:off x="3238320" y="8747640"/>
                <a:ext cx="360" cy="360"/>
              </p14:xfrm>
            </p:contentPart>
          </mc:Choice>
          <mc:Fallback xmlns="">
            <p:pic>
              <p:nvPicPr>
                <p:cNvPr id="1389" name="墨迹 1388">
                  <a:extLst>
                    <a:ext uri="{FF2B5EF4-FFF2-40B4-BE49-F238E27FC236}">
                      <a16:creationId xmlns:a16="http://schemas.microsoft.com/office/drawing/2014/main" id="{1FE1E917-53D8-C0FD-D1CB-CC8BCC1EA8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29320" y="87386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964" y="255335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3"/>
                </a:solidFill>
              </a:rPr>
              <a:t>Graphics View</a:t>
            </a:r>
            <a:r>
              <a:rPr lang="zh-CN" altLang="en-US" sz="2000" b="1">
                <a:solidFill>
                  <a:schemeClr val="accent3"/>
                </a:solidFill>
              </a:rPr>
              <a:t>绘图架构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4964" y="711200"/>
            <a:ext cx="5975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QPainter</a:t>
            </a:r>
            <a:r>
              <a:rPr lang="zh-CN" altLang="en-US" sz="2000">
                <a:solidFill>
                  <a:schemeClr val="bg1"/>
                </a:solidFill>
              </a:rPr>
              <a:t>不能实现图形的选择、编辑、拖放等功能。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9760" y="1111310"/>
            <a:ext cx="937768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QGraphicScene</a:t>
            </a:r>
            <a:r>
              <a:rPr lang="zh-CN" altLang="en-US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（场景）：可以管理多个图形项</a:t>
            </a:r>
            <a:endParaRPr lang="en-US" altLang="zh-CN" b="0" i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QGraphicsItem</a:t>
            </a:r>
            <a:r>
              <a:rPr lang="zh-CN" altLang="en-US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（图形项）：也就是图元，支持鼠标事件响应。比如：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矩形的图形项</a:t>
            </a:r>
            <a:endParaRPr lang="en-US" altLang="zh-CN" b="0" i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QGraphicsView</a:t>
            </a:r>
            <a:r>
              <a:rPr lang="zh-CN" altLang="en-US" b="0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（视图）：关联场景可以让场景中的所有图形项可视化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32487" y="2342282"/>
            <a:ext cx="5037951" cy="3027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132487" y="2342282"/>
            <a:ext cx="20320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0" idx="1"/>
          </p:cNvCxnSpPr>
          <p:nvPr/>
        </p:nvCxnSpPr>
        <p:spPr>
          <a:xfrm>
            <a:off x="5132487" y="2342282"/>
            <a:ext cx="0" cy="1513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144846" y="2342281"/>
            <a:ext cx="66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view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95527" y="3023002"/>
            <a:ext cx="3190240" cy="178815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>
            <a:stCxn id="17" idx="1"/>
            <a:endCxn id="17" idx="3"/>
          </p:cNvCxnSpPr>
          <p:nvPr/>
        </p:nvCxnSpPr>
        <p:spPr>
          <a:xfrm>
            <a:off x="6595527" y="3917079"/>
            <a:ext cx="31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7" idx="0"/>
            <a:endCxn id="17" idx="2"/>
          </p:cNvCxnSpPr>
          <p:nvPr/>
        </p:nvCxnSpPr>
        <p:spPr>
          <a:xfrm>
            <a:off x="8190647" y="3023002"/>
            <a:ext cx="0" cy="1788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 rot="1989339">
            <a:off x="8541167" y="4069476"/>
            <a:ext cx="1041397" cy="57912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/>
          <p:cNvCxnSpPr>
            <a:stCxn id="46" idx="2"/>
            <a:endCxn id="46" idx="6"/>
          </p:cNvCxnSpPr>
          <p:nvPr/>
        </p:nvCxnSpPr>
        <p:spPr>
          <a:xfrm>
            <a:off x="8625943" y="4074261"/>
            <a:ext cx="871845" cy="569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46" idx="0"/>
            <a:endCxn id="46" idx="4"/>
          </p:cNvCxnSpPr>
          <p:nvPr/>
        </p:nvCxnSpPr>
        <p:spPr>
          <a:xfrm flipH="1">
            <a:off x="8903500" y="4116621"/>
            <a:ext cx="316732" cy="48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8443284" y="4172890"/>
            <a:ext cx="661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item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583781" y="3023594"/>
            <a:ext cx="785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scene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470363" y="5384174"/>
            <a:ext cx="409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视图坐标、场景坐标、图形项坐标</a:t>
            </a:r>
            <a:endParaRPr lang="zh-CN" altLang="en-US" sz="20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pic>
        <p:nvPicPr>
          <p:cNvPr id="1152" name="图片 11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820" y="6808232"/>
            <a:ext cx="5562600" cy="3535680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2103805" y="718339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场景图形项类的继承关系</a:t>
            </a:r>
            <a:endParaRPr lang="zh-CN" altLang="en-US" sz="20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sp>
        <p:nvSpPr>
          <p:cNvPr id="1162" name="矩形 1161"/>
          <p:cNvSpPr/>
          <p:nvPr/>
        </p:nvSpPr>
        <p:spPr>
          <a:xfrm>
            <a:off x="772161" y="5828399"/>
            <a:ext cx="9225279" cy="6409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所有鼠标事件和拖放事件最初都是视图坐标，需要映射到场景坐标，以便与图形项交互。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图形项的位置和转换相对于父项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5538C4-0AA4-97A2-BA4B-13473F4F282B}"/>
              </a:ext>
            </a:extLst>
          </p:cNvPr>
          <p:cNvSpPr txBox="1"/>
          <p:nvPr/>
        </p:nvSpPr>
        <p:spPr>
          <a:xfrm>
            <a:off x="564775" y="2409855"/>
            <a:ext cx="4409345" cy="29533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QGraphicsView间接继承于QWidget，具有QWidget相同的拖放功能。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当视图接收到拖放时，它将拖放事件转换为QGraphics</a:t>
            </a:r>
            <a:r>
              <a:rPr lang="en-US" altLang="zh-CN"/>
              <a:t>Sc</a:t>
            </a:r>
            <a:r>
              <a:rPr lang="zh-CN" altLang="en-US"/>
              <a:t>eneDragDropEvent，将其转发到场景。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场景将接管此事件，并将其发送到光标下的第一个接受拖放的</a:t>
            </a:r>
            <a:r>
              <a:rPr lang="en-US" altLang="zh-CN"/>
              <a:t>item</a:t>
            </a:r>
            <a:r>
              <a:rPr lang="zh-CN" altLang="en-US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E02E76-8A67-8D10-4286-1E6251950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36" y="10514957"/>
            <a:ext cx="5037064" cy="308594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4F86B189-60A8-6B00-5D4B-D61266619C0A}"/>
              </a:ext>
            </a:extLst>
          </p:cNvPr>
          <p:cNvSpPr txBox="1"/>
          <p:nvPr/>
        </p:nvSpPr>
        <p:spPr>
          <a:xfrm>
            <a:off x="5597560" y="11166527"/>
            <a:ext cx="4399880" cy="21223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创建自定义图形项。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处理鼠标事件和图形项移动。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实现可以管理自定义图形项的图形场景。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自定义图形项的绘制。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创建可移动和可编辑的文本项。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14" name="墨迹 1213">
                <a:extLst>
                  <a:ext uri="{FF2B5EF4-FFF2-40B4-BE49-F238E27FC236}">
                    <a16:creationId xmlns:a16="http://schemas.microsoft.com/office/drawing/2014/main" id="{F9787B63-F446-9FF4-BBAB-19579103D37F}"/>
                  </a:ext>
                </a:extLst>
              </p14:cNvPr>
              <p14:cNvContentPartPr/>
              <p14:nvPr/>
            </p14:nvContentPartPr>
            <p14:xfrm>
              <a:off x="6087720" y="8138040"/>
              <a:ext cx="360" cy="360"/>
            </p14:xfrm>
          </p:contentPart>
        </mc:Choice>
        <mc:Fallback xmlns="">
          <p:pic>
            <p:nvPicPr>
              <p:cNvPr id="1214" name="墨迹 1213">
                <a:extLst>
                  <a:ext uri="{FF2B5EF4-FFF2-40B4-BE49-F238E27FC236}">
                    <a16:creationId xmlns:a16="http://schemas.microsoft.com/office/drawing/2014/main" id="{F9787B63-F446-9FF4-BBAB-19579103D3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9080" y="8129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24" name="墨迹 1223">
                <a:extLst>
                  <a:ext uri="{FF2B5EF4-FFF2-40B4-BE49-F238E27FC236}">
                    <a16:creationId xmlns:a16="http://schemas.microsoft.com/office/drawing/2014/main" id="{573D9D8D-2199-48B4-0BE6-B315142E5299}"/>
                  </a:ext>
                </a:extLst>
              </p14:cNvPr>
              <p14:cNvContentPartPr/>
              <p14:nvPr/>
            </p14:nvContentPartPr>
            <p14:xfrm>
              <a:off x="4777320" y="8869560"/>
              <a:ext cx="360" cy="360"/>
            </p14:xfrm>
          </p:contentPart>
        </mc:Choice>
        <mc:Fallback xmlns="">
          <p:pic>
            <p:nvPicPr>
              <p:cNvPr id="1224" name="墨迹 1223">
                <a:extLst>
                  <a:ext uri="{FF2B5EF4-FFF2-40B4-BE49-F238E27FC236}">
                    <a16:creationId xmlns:a16="http://schemas.microsoft.com/office/drawing/2014/main" id="{573D9D8D-2199-48B4-0BE6-B315142E52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8680" y="88605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964" y="255335"/>
            <a:ext cx="917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如何启动一个实战项目</a:t>
            </a:r>
            <a:endParaRPr lang="en-US" altLang="zh-CN" sz="2000" b="1">
              <a:solidFill>
                <a:schemeClr val="accent3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E02E76-8A67-8D10-4286-1E625195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64" y="754908"/>
            <a:ext cx="4799415" cy="2940353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4F86B189-60A8-6B00-5D4B-D61266619C0A}"/>
              </a:ext>
            </a:extLst>
          </p:cNvPr>
          <p:cNvSpPr txBox="1"/>
          <p:nvPr/>
        </p:nvSpPr>
        <p:spPr>
          <a:xfrm>
            <a:off x="5556409" y="820278"/>
            <a:ext cx="4273391" cy="28096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使用说明（或是软件原型）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类的创建</a:t>
            </a:r>
            <a:endParaRPr lang="en-US" altLang="zh-C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设计头文件即可</a:t>
            </a:r>
            <a:endParaRPr lang="en-US" altLang="zh-CN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尽可能完整   伪码也可以！！</a:t>
            </a:r>
            <a:endParaRPr lang="en-US" altLang="zh-CN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实现具体函数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迭代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D942D5-56FC-2BCE-EE6D-1C25B11C9765}"/>
              </a:ext>
            </a:extLst>
          </p:cNvPr>
          <p:cNvSpPr txBox="1"/>
          <p:nvPr/>
        </p:nvSpPr>
        <p:spPr>
          <a:xfrm>
            <a:off x="585567" y="3883737"/>
            <a:ext cx="9328053" cy="461536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包含以下类: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MainWindow </a:t>
            </a:r>
            <a:r>
              <a:rPr lang="en-US" altLang="zh-CN">
                <a:highlight>
                  <a:srgbClr val="00FF00"/>
                </a:highlight>
              </a:rPr>
              <a:t>: </a:t>
            </a:r>
            <a:r>
              <a:rPr lang="zh-CN" altLang="en-US">
                <a:highlight>
                  <a:srgbClr val="00FF00"/>
                </a:highlight>
              </a:rPr>
              <a:t>QMainWindow</a:t>
            </a:r>
            <a:endParaRPr lang="en-US" altLang="zh-CN">
              <a:highlight>
                <a:srgbClr val="00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提供主界面，负责管理组界面与</a:t>
            </a:r>
            <a:r>
              <a:rPr lang="en-US" altLang="zh-CN"/>
              <a:t>Scene</a:t>
            </a:r>
            <a:r>
              <a:rPr lang="zh-CN" altLang="en-US"/>
              <a:t>（包含</a:t>
            </a:r>
            <a:r>
              <a:rPr lang="en-US" altLang="zh-CN"/>
              <a:t>Items</a:t>
            </a:r>
            <a:r>
              <a:rPr lang="zh-CN" altLang="en-US"/>
              <a:t>）的交互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DiagramItem </a:t>
            </a:r>
            <a:r>
              <a:rPr lang="en-US" altLang="zh-CN">
                <a:highlight>
                  <a:srgbClr val="00FF00"/>
                </a:highlight>
              </a:rPr>
              <a:t>: </a:t>
            </a:r>
            <a:r>
              <a:rPr lang="zh-CN" altLang="en-US">
                <a:highlight>
                  <a:srgbClr val="00FF00"/>
                </a:highlight>
              </a:rPr>
              <a:t>QGraphicsPolygonItem</a:t>
            </a:r>
            <a:endParaRPr lang="en-US" altLang="zh-CN">
              <a:highlight>
                <a:srgbClr val="00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流程图例的形状图形项，支持箭头连接，拖拽，改变颜色，改变叠放顺序等功能。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TextDiagramItem </a:t>
            </a:r>
            <a:r>
              <a:rPr lang="en-US" altLang="zh-CN">
                <a:highlight>
                  <a:srgbClr val="00FF00"/>
                </a:highlight>
              </a:rPr>
              <a:t>:</a:t>
            </a:r>
            <a:r>
              <a:rPr lang="zh-CN" altLang="en-US">
                <a:highlight>
                  <a:srgbClr val="00FF00"/>
                </a:highlight>
              </a:rPr>
              <a:t> QGraphicsTextItem </a:t>
            </a:r>
            <a:endParaRPr lang="en-US" altLang="zh-CN">
              <a:highlight>
                <a:srgbClr val="00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文字项，支持移动，双击修改，颜色、字体设置等功能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Arrow </a:t>
            </a:r>
            <a:r>
              <a:rPr lang="en-US" altLang="zh-CN">
                <a:highlight>
                  <a:srgbClr val="00FF00"/>
                </a:highlight>
              </a:rPr>
              <a:t>: </a:t>
            </a:r>
            <a:r>
              <a:rPr lang="zh-CN" altLang="en-US">
                <a:highlight>
                  <a:srgbClr val="00FF00"/>
                </a:highlight>
              </a:rPr>
              <a:t>QGraphicsLineItem </a:t>
            </a:r>
            <a:endParaRPr lang="en-US" altLang="zh-CN">
              <a:highlight>
                <a:srgbClr val="00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用于连接图形项图元，支持改变颜色等功能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DiagramScene </a:t>
            </a:r>
            <a:r>
              <a:rPr lang="en-US" altLang="zh-CN">
                <a:highlight>
                  <a:srgbClr val="00FF00"/>
                </a:highlight>
              </a:rPr>
              <a:t>:</a:t>
            </a:r>
            <a:r>
              <a:rPr lang="zh-CN" altLang="en-US">
                <a:highlight>
                  <a:srgbClr val="00FF00"/>
                </a:highlight>
              </a:rPr>
              <a:t> QGraphicsScene </a:t>
            </a:r>
            <a:endParaRPr lang="en-US" altLang="zh-CN">
              <a:highlight>
                <a:srgbClr val="00FF00"/>
              </a:highlight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在QGraphicsScene基础上添加对 DiagramItem、Arrow、 DiagramTextItem的支持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DC2CC2-530D-C5FA-D588-EE093244B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460" y="9178052"/>
            <a:ext cx="5562600" cy="353568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02162C0-97AC-0CAD-44E4-32E09A362C11}"/>
              </a:ext>
            </a:extLst>
          </p:cNvPr>
          <p:cNvSpPr txBox="1"/>
          <p:nvPr/>
        </p:nvSpPr>
        <p:spPr>
          <a:xfrm>
            <a:off x="2271445" y="955321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场景图形项类的继承关系</a:t>
            </a:r>
            <a:endParaRPr lang="zh-CN" altLang="en-US" sz="20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2235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9FEDE06-B107-F121-4AC0-E3707BA2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31" y="861366"/>
            <a:ext cx="9286875" cy="6791325"/>
          </a:xfrm>
          <a:prstGeom prst="rect">
            <a:avLst/>
          </a:prstGeom>
        </p:spPr>
      </p:pic>
      <p:pic>
        <p:nvPicPr>
          <p:cNvPr id="1030" name="Picture 6" descr="在这里插入图片描述">
            <a:extLst>
              <a:ext uri="{FF2B5EF4-FFF2-40B4-BE49-F238E27FC236}">
                <a16:creationId xmlns:a16="http://schemas.microsoft.com/office/drawing/2014/main" id="{019F0DF4-A114-1B6C-A6C4-3EAEEA353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43" y="8278495"/>
            <a:ext cx="8553450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70" name="墨迹 1169">
                <a:extLst>
                  <a:ext uri="{FF2B5EF4-FFF2-40B4-BE49-F238E27FC236}">
                    <a16:creationId xmlns:a16="http://schemas.microsoft.com/office/drawing/2014/main" id="{A285B63B-ACDE-F789-8E0E-AAFEA3443FF2}"/>
                  </a:ext>
                </a:extLst>
              </p14:cNvPr>
              <p14:cNvContentPartPr/>
              <p14:nvPr/>
            </p14:nvContentPartPr>
            <p14:xfrm>
              <a:off x="3642240" y="9776160"/>
              <a:ext cx="360" cy="360"/>
            </p14:xfrm>
          </p:contentPart>
        </mc:Choice>
        <mc:Fallback xmlns="">
          <p:pic>
            <p:nvPicPr>
              <p:cNvPr id="1170" name="墨迹 1169">
                <a:extLst>
                  <a:ext uri="{FF2B5EF4-FFF2-40B4-BE49-F238E27FC236}">
                    <a16:creationId xmlns:a16="http://schemas.microsoft.com/office/drawing/2014/main" id="{A285B63B-ACDE-F789-8E0E-AAFEA3443F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3240" y="97671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66219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9448</TotalTime>
  <Words>800</Words>
  <Application>Microsoft Office PowerPoint</Application>
  <PresentationFormat>自定义</PresentationFormat>
  <Paragraphs>104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-apple-system</vt:lpstr>
      <vt:lpstr>suxingme</vt:lpstr>
      <vt:lpstr>等线</vt:lpstr>
      <vt:lpstr>华文琥珀</vt:lpstr>
      <vt:lpstr>微软雅黑</vt:lpstr>
      <vt:lpstr>Arial</vt:lpstr>
      <vt:lpstr>Calibri</vt:lpstr>
      <vt:lpstr>Cambria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1487</cp:revision>
  <dcterms:created xsi:type="dcterms:W3CDTF">2020-06-26T01:00:00Z</dcterms:created>
  <dcterms:modified xsi:type="dcterms:W3CDTF">2023-08-04T02:05:10Z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