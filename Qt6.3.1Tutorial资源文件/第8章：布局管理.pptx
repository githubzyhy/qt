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258" r:id="rId3"/>
    <p:sldId id="330" r:id="rId4"/>
    <p:sldId id="331" r:id="rId5"/>
    <p:sldId id="332" r:id="rId6"/>
    <p:sldId id="333" r:id="rId7"/>
    <p:sldId id="334" r:id="rId8"/>
  </p:sldIdLst>
  <p:sldSz cx="10625138" cy="1440021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50" d="100"/>
          <a:sy n="150" d="100"/>
        </p:scale>
        <p:origin x="-760" y="-6612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2023/7/15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9317" y="253896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05701" y="306433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cs typeface="+mn-ea"/>
                <a:sym typeface="+mn-lt"/>
              </a:rPr>
              <a:t>布局管理</a:t>
            </a: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2994875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7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7A9E53-8EC5-5992-D310-566A65C9305D}"/>
              </a:ext>
            </a:extLst>
          </p:cNvPr>
          <p:cNvSpPr txBox="1"/>
          <p:nvPr/>
        </p:nvSpPr>
        <p:spPr>
          <a:xfrm>
            <a:off x="4695717" y="268675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布局管理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3C3AD4F-1742-B663-4EA8-1B5F890FC976}"/>
              </a:ext>
            </a:extLst>
          </p:cNvPr>
          <p:cNvSpPr txBox="1"/>
          <p:nvPr/>
        </p:nvSpPr>
        <p:spPr>
          <a:xfrm>
            <a:off x="1076203" y="732731"/>
            <a:ext cx="847273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</a:rPr>
              <a:t>典型的应用程序由各种</a:t>
            </a:r>
            <a:r>
              <a:rPr lang="en-US" altLang="zh-CN">
                <a:solidFill>
                  <a:schemeClr val="bg1"/>
                </a:solidFill>
              </a:rPr>
              <a:t>widget</a:t>
            </a:r>
            <a:r>
              <a:rPr lang="zh-CN" altLang="en-US">
                <a:solidFill>
                  <a:schemeClr val="bg1"/>
                </a:solidFill>
              </a:rPr>
              <a:t>控件组成，这些可以放置在布局中。我们有两种选择：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</a:rPr>
              <a:t>绝对定位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chemeClr val="bg1"/>
                </a:solidFill>
                <a:highlight>
                  <a:srgbClr val="0000FF"/>
                </a:highlight>
              </a:rPr>
              <a:t>布局管理器</a:t>
            </a:r>
            <a:endParaRPr lang="en-US" altLang="zh-CN" b="1">
              <a:solidFill>
                <a:schemeClr val="bg1"/>
              </a:solidFill>
              <a:highlight>
                <a:srgbClr val="0000FF"/>
              </a:highlight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QHBoxLayout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QVBoxLayout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QFormLayout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</a:rPr>
              <a:t>GridLayout</a:t>
            </a:r>
            <a:endParaRPr lang="zh-CN" altLang="en-US" b="1">
              <a:solidFill>
                <a:schemeClr val="bg1"/>
              </a:solidFill>
              <a:highlight>
                <a:srgbClr val="0000FF"/>
              </a:highligh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1059500" y="2867720"/>
            <a:ext cx="8489435" cy="64633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&lt;QTextEdit&gt;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Absolute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Absolute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Absolute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Absolute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FFFF00"/>
                </a:highlight>
              </a:rPr>
              <a:t>ledit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FFFF00"/>
                </a:highlight>
              </a:rPr>
              <a:t>setGeometry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200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highlight>
                  <a:srgbClr val="FFFF00"/>
                </a:highlight>
              </a:rPr>
              <a:t>150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main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[])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C0C0C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argv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Absolute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"Absolute"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window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show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app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exec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zh-CN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569200" y="286772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绝对定位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096B08-DB02-2D7A-9DE9-DC0B5497DE20}"/>
              </a:ext>
            </a:extLst>
          </p:cNvPr>
          <p:cNvSpPr txBox="1"/>
          <p:nvPr/>
        </p:nvSpPr>
        <p:spPr>
          <a:xfrm>
            <a:off x="3315968" y="1173365"/>
            <a:ext cx="630241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如果调整窗口大小，</a:t>
            </a:r>
            <a:r>
              <a:rPr lang="en-US" altLang="zh-CN"/>
              <a:t>widget</a:t>
            </a:r>
            <a:r>
              <a:rPr lang="zh-CN" altLang="en-US"/>
              <a:t>的大小和位置不会改变。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不同平台上的应用程序看起来不同（通常很差）。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更改应用程序中的字体可能会破坏布局。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如果决定改变布局，必须完全重做布局，这既乏味又耗时。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A862663-BFA6-0725-42F9-4A84BB502381}"/>
              </a:ext>
            </a:extLst>
          </p:cNvPr>
          <p:cNvCxnSpPr>
            <a:cxnSpLocks/>
          </p:cNvCxnSpPr>
          <p:nvPr/>
        </p:nvCxnSpPr>
        <p:spPr>
          <a:xfrm>
            <a:off x="2360464" y="1173365"/>
            <a:ext cx="955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F5253EB6-F94F-5141-AB23-288A40A28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431" y="5296794"/>
            <a:ext cx="3134504" cy="280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324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7E1D55D6-03D5-AE90-5793-6DE2C6F4794B}"/>
              </a:ext>
            </a:extLst>
          </p:cNvPr>
          <p:cNvSpPr txBox="1"/>
          <p:nvPr/>
        </p:nvSpPr>
        <p:spPr>
          <a:xfrm>
            <a:off x="927048" y="838839"/>
            <a:ext cx="8489435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VerticalBoxWidget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VerticalBoxWidget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QVBoxLayout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settings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"设置"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settings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accounts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"账户"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accounts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loans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"存款"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loans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cash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"取款"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cash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QSizePolicy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Expanding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settings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accounts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loans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cash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C04CEC-255A-8D65-517B-3C36EFF78ACF}"/>
              </a:ext>
            </a:extLst>
          </p:cNvPr>
          <p:cNvSpPr txBox="1"/>
          <p:nvPr/>
        </p:nvSpPr>
        <p:spPr>
          <a:xfrm>
            <a:off x="7420044" y="486544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垂直布局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736C3AF-CAEC-E71B-AAE0-159BF00C8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769" y="3930977"/>
            <a:ext cx="2914650" cy="26765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23409A-EA7B-A283-8AD2-03C8CB78EF34}"/>
              </a:ext>
            </a:extLst>
          </p:cNvPr>
          <p:cNvSpPr txBox="1"/>
          <p:nvPr/>
        </p:nvSpPr>
        <p:spPr>
          <a:xfrm>
            <a:off x="927048" y="6773386"/>
            <a:ext cx="8489435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BtnWidget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" panose="020B0604020202020204" pitchFamily="34" charset="0"/>
              </a:rPr>
              <a:t>BtnWidget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" panose="020B0604020202020204" pitchFamily="34" charset="0"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  <a:latin typeface="Arial Unicode MS"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QVBoxLayout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FF"/>
                </a:highlight>
                <a:latin typeface="Arial Unicode MS"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QHBoxLayout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auto</a:t>
            </a:r>
            <a:r>
              <a:rPr lang="en-US" altLang="zh-CN" dirty="0">
                <a:solidFill>
                  <a:srgbClr val="800080"/>
                </a:solidFill>
                <a:effectLst/>
              </a:rPr>
              <a:t> 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okBtn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QPushButton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"OK"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auto</a:t>
            </a:r>
            <a:r>
              <a:rPr lang="en-US" altLang="zh-CN" dirty="0">
                <a:solidFill>
                  <a:srgbClr val="800080"/>
                </a:solidFill>
                <a:effectLst/>
              </a:rPr>
              <a:t> *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applyBtn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QPushButton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"Apply"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lang="en-US" altLang="zh-CN" dirty="0">
                <a:solidFill>
                  <a:srgbClr val="008000"/>
                </a:solidFill>
                <a:effectLst/>
              </a:rPr>
              <a:t>//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格子本身占据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1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个因子的空间，</a:t>
            </a:r>
            <a:r>
              <a:rPr lang="zh-CN" altLang="en-US" dirty="0">
                <a:solidFill>
                  <a:srgbClr val="008000"/>
                </a:solidFill>
              </a:rPr>
              <a:t>控件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放在格子的最右边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FF"/>
                </a:highlight>
                <a:latin typeface="Arial Unicode MS"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okBtn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1,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Qt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 Unicode MS"/>
              </a:rPr>
              <a:t>AlignRight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008000"/>
                </a:solidFill>
              </a:rPr>
              <a:t>//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格子本身占据</a:t>
            </a:r>
            <a:r>
              <a:rPr lang="en-US" altLang="zh-CN" dirty="0">
                <a:solidFill>
                  <a:srgbClr val="008000"/>
                </a:solidFill>
                <a:effectLst/>
              </a:rPr>
              <a:t>0</a:t>
            </a:r>
            <a:r>
              <a:rPr lang="zh-CN" altLang="en-US" dirty="0">
                <a:solidFill>
                  <a:srgbClr val="008000"/>
                </a:solidFill>
                <a:effectLst/>
              </a:rPr>
              <a:t>个因子的空间，控件填满整个格子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FF"/>
                </a:highlight>
                <a:latin typeface="Arial Unicode MS"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 Unicode MS"/>
              </a:rPr>
              <a:t>applyBtn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 Unicode MS"/>
              </a:rPr>
              <a:t>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  <a:latin typeface="Arial Unicode MS"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addStretch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添加一个弹簧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highlight>
                  <a:srgbClr val="00FF00"/>
                </a:highlight>
                <a:latin typeface="Arial Unicode MS"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latin typeface="Arial Unicode MS"/>
              </a:rPr>
              <a:t>addLayout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  <a:latin typeface="Arial Unicode MS"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1113FD-7CF7-8CDA-84E8-587BDEA185F2}"/>
              </a:ext>
            </a:extLst>
          </p:cNvPr>
          <p:cNvSpPr txBox="1"/>
          <p:nvPr/>
        </p:nvSpPr>
        <p:spPr>
          <a:xfrm>
            <a:off x="7420044" y="6776929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水平布局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5314FC6-8D36-6C39-029F-EB8B59F1A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59" y="9904488"/>
            <a:ext cx="2933700" cy="169545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4D30161-750F-7F00-BD90-17813264C3E5}"/>
              </a:ext>
            </a:extLst>
          </p:cNvPr>
          <p:cNvSpPr txBox="1"/>
          <p:nvPr/>
        </p:nvSpPr>
        <p:spPr>
          <a:xfrm>
            <a:off x="3713639" y="8708454"/>
            <a:ext cx="41490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拉伸因子越高的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widget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和</a:t>
            </a:r>
            <a:r>
              <a:rPr lang="en-US" altLang="zh-CN">
                <a:solidFill>
                  <a:schemeClr val="bg1"/>
                </a:solidFill>
                <a:highlight>
                  <a:srgbClr val="FF0000"/>
                </a:highlight>
              </a:rPr>
              <a:t>box</a:t>
            </a:r>
            <a:r>
              <a:rPr lang="zh-CN" altLang="en-US">
                <a:solidFill>
                  <a:schemeClr val="bg1"/>
                </a:solidFill>
                <a:highlight>
                  <a:srgbClr val="FF0000"/>
                </a:highlight>
              </a:rPr>
              <a:t>增长越快</a:t>
            </a:r>
          </a:p>
        </p:txBody>
      </p:sp>
    </p:spTree>
    <p:extLst>
      <p:ext uri="{BB962C8B-B14F-4D97-AF65-F5344CB8AC3E}">
        <p14:creationId xmlns:p14="http://schemas.microsoft.com/office/powerpoint/2010/main" val="231842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ECDEBF-17E7-3CD8-686F-3281C39E638E}"/>
              </a:ext>
            </a:extLst>
          </p:cNvPr>
          <p:cNvSpPr txBox="1"/>
          <p:nvPr/>
        </p:nvSpPr>
        <p:spPr>
          <a:xfrm>
            <a:off x="891879" y="778790"/>
            <a:ext cx="8489435" cy="86792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QVBoxLayout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QHBoxLayout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QListWidget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"北京"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"上海"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"广州"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"深圳"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addItem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"南昌"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add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"添加"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"修改"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remove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"删除"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removeall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</a:rPr>
              <a:t>"全部删除"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setSpacing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设置默认间距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addStretch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add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rename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remove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removeall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addStretch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lw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addSpacing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</a:rPr>
              <a:t>15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//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添加一个间距，后面的控件跟前面的相差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…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  <a:highlight>
                  <a:srgbClr val="00FFFF"/>
                </a:highlight>
              </a:rPr>
              <a:t>addLayout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vbox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 dirty="0">
                <a:ln>
                  <a:noFill/>
                </a:ln>
                <a:solidFill>
                  <a:srgbClr val="092E64"/>
                </a:solidFill>
                <a:effectLst/>
              </a:rPr>
              <a:t>hbox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C42C4D-2F20-A71F-B0AE-BD90A41E96D6}"/>
              </a:ext>
            </a:extLst>
          </p:cNvPr>
          <p:cNvSpPr txBox="1"/>
          <p:nvPr/>
        </p:nvSpPr>
        <p:spPr>
          <a:xfrm>
            <a:off x="7529655" y="77879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混合布局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99D3A6-E180-ADF8-9F04-5AE02751B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379" y="1741529"/>
            <a:ext cx="298132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8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ECDEBF-17E7-3CD8-686F-3281C39E638E}"/>
              </a:ext>
            </a:extLst>
          </p:cNvPr>
          <p:cNvSpPr txBox="1"/>
          <p:nvPr/>
        </p:nvSpPr>
        <p:spPr>
          <a:xfrm>
            <a:off x="891879" y="778790"/>
            <a:ext cx="8489435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addrEdit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occpEdit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setLabelAlignment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AlignVCenter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"Name:"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nameEdit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"Email:"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addrEdit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addRow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"Age:"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occpEdit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C42C4D-2F20-A71F-B0AE-BD90A41E96D6}"/>
              </a:ext>
            </a:extLst>
          </p:cNvPr>
          <p:cNvSpPr txBox="1"/>
          <p:nvPr/>
        </p:nvSpPr>
        <p:spPr>
          <a:xfrm>
            <a:off x="7529655" y="77879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/>
              <a:t>QFormLayout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56625A-FB6A-640A-61DB-F751BD9D3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854" y="3168107"/>
            <a:ext cx="2990850" cy="13620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6F1B3ED-C963-0597-DD52-3B220EB022B3}"/>
              </a:ext>
            </a:extLst>
          </p:cNvPr>
          <p:cNvSpPr txBox="1"/>
          <p:nvPr/>
        </p:nvSpPr>
        <p:spPr>
          <a:xfrm>
            <a:off x="6012180" y="1307954"/>
            <a:ext cx="3513914" cy="92333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QFormLayout以两列形式显示。左栏由标签组成，右栏由QLineEdit或QSpinBox等输入</a:t>
            </a:r>
            <a:r>
              <a:rPr lang="en-US" altLang="zh-CN"/>
              <a:t>widget</a:t>
            </a:r>
            <a:r>
              <a:rPr lang="zh-CN" altLang="en-US"/>
              <a:t>组成。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3E39209-2172-A201-1426-14437841F5A3}"/>
              </a:ext>
            </a:extLst>
          </p:cNvPr>
          <p:cNvSpPr txBox="1"/>
          <p:nvPr/>
        </p:nvSpPr>
        <p:spPr>
          <a:xfrm>
            <a:off x="891879" y="4687850"/>
            <a:ext cx="8489435" cy="563231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QGridLayout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setSpacing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QVector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({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"7"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"8"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"9"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"/"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"4"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"5"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"6"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"*"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"1"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"3"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"-"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6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"0"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"."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"="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"+"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});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for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++)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QPushButton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[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]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setFixedSize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40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btn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i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j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pos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++;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F486A4D-F92C-915F-9C38-6C084C01700D}"/>
              </a:ext>
            </a:extLst>
          </p:cNvPr>
          <p:cNvSpPr txBox="1"/>
          <p:nvPr/>
        </p:nvSpPr>
        <p:spPr>
          <a:xfrm>
            <a:off x="7529655" y="4687850"/>
            <a:ext cx="1996439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/>
              <a:t>QGridLayout</a:t>
            </a:r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70156C-60B1-EC7D-FAA5-15E0FB4DBEA9}"/>
              </a:ext>
            </a:extLst>
          </p:cNvPr>
          <p:cNvSpPr txBox="1"/>
          <p:nvPr/>
        </p:nvSpPr>
        <p:spPr>
          <a:xfrm>
            <a:off x="7043201" y="5205314"/>
            <a:ext cx="248289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/>
              <a:t>QGridLayout</a:t>
            </a:r>
            <a:r>
              <a:rPr lang="zh-CN" altLang="en-US"/>
              <a:t>将其</a:t>
            </a:r>
            <a:r>
              <a:rPr lang="en-US" altLang="zh-CN"/>
              <a:t>widget</a:t>
            </a:r>
            <a:r>
              <a:rPr lang="zh-CN" altLang="en-US"/>
              <a:t>放置在网格中。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01C096E6-97E2-01BD-BD6E-C8E7C16AD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201" y="7200106"/>
            <a:ext cx="238125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29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CECDEBF-17E7-3CD8-686F-3281C39E638E}"/>
              </a:ext>
            </a:extLst>
          </p:cNvPr>
          <p:cNvSpPr txBox="1"/>
          <p:nvPr/>
        </p:nvSpPr>
        <p:spPr>
          <a:xfrm>
            <a:off x="830919" y="710210"/>
            <a:ext cx="8489435" cy="81253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LayoutWidget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      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QGridLayout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setVerticalSpacing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15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setHorizontalSpacing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"Title:"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AlignVCenter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edt1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"Author:"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author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AlignVCenter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QLineEdit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edt2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"Review:"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review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setAlignment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AlignRight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|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AlignTop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auto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QTextEdit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3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grid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FA3FEF-E1BA-8309-54DA-4B00A44C1C6C}"/>
              </a:ext>
            </a:extLst>
          </p:cNvPr>
          <p:cNvSpPr txBox="1"/>
          <p:nvPr/>
        </p:nvSpPr>
        <p:spPr>
          <a:xfrm>
            <a:off x="6604631" y="2851180"/>
            <a:ext cx="3189587" cy="203132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addWidget方法有五个参数。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第一个参数是子</a:t>
            </a:r>
            <a:r>
              <a:rPr lang="en-US" altLang="zh-CN"/>
              <a:t>widget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接下来的两个参数是网格中放置</a:t>
            </a:r>
            <a:r>
              <a:rPr lang="en-US" altLang="zh-CN"/>
              <a:t>widget</a:t>
            </a:r>
            <a:r>
              <a:rPr lang="zh-CN" altLang="en-US"/>
              <a:t>的行和列。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最后，最后的参数是rowspan和colspan。指定当前</a:t>
            </a:r>
            <a:r>
              <a:rPr lang="en-US" altLang="zh-CN"/>
              <a:t>widget</a:t>
            </a:r>
            <a:r>
              <a:rPr lang="zh-CN" altLang="en-US"/>
              <a:t>将跨越的行数。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D0976C9-6113-A009-6745-3FB5FFD69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32" y="1012847"/>
            <a:ext cx="3189587" cy="183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989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3431</TotalTime>
  <Words>1362</Words>
  <Application>Microsoft Office PowerPoint</Application>
  <PresentationFormat>自定义</PresentationFormat>
  <Paragraphs>145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 Unicode MS</vt:lpstr>
      <vt:lpstr>等线</vt:lpstr>
      <vt:lpstr>华文琥珀</vt:lpstr>
      <vt:lpstr>Arial</vt:lpstr>
      <vt:lpstr>Calibri</vt:lpstr>
      <vt:lpstr>Cambria</vt:lpstr>
      <vt:lpstr>第一PPT，www.1ppt.com</vt:lpstr>
      <vt:lpstr>4_第一PPT，www.1ppt.com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宇恒 张</cp:lastModifiedBy>
  <cp:revision>1452</cp:revision>
  <dcterms:created xsi:type="dcterms:W3CDTF">2020-06-26T01:00:00Z</dcterms:created>
  <dcterms:modified xsi:type="dcterms:W3CDTF">2023-07-15T02:32:01Z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