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8" r:id="rId3"/>
    <p:sldId id="330" r:id="rId4"/>
    <p:sldId id="331" r:id="rId5"/>
    <p:sldId id="334" r:id="rId6"/>
    <p:sldId id="337" r:id="rId7"/>
    <p:sldId id="335" r:id="rId8"/>
    <p:sldId id="336" r:id="rId9"/>
    <p:sldId id="332" r:id="rId10"/>
    <p:sldId id="333" r:id="rId11"/>
    <p:sldId id="338" r:id="rId12"/>
  </p:sldIdLst>
  <p:sldSz cx="10625138" cy="14400213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480" y="-2678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8T09:54:51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24575,'4'0'0,"4"0"0,5 0 0,4 0 0,-1 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9T07:41:59.8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QObject</a:t>
            </a:r>
            <a:endParaRPr lang="zh-CN" altLang="en-US" sz="4000" b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3142375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GUI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2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4B64DB0-D843-B8F7-A493-FEDB71EC7C75}"/>
              </a:ext>
            </a:extLst>
          </p:cNvPr>
          <p:cNvSpPr txBox="1"/>
          <p:nvPr/>
        </p:nvSpPr>
        <p:spPr>
          <a:xfrm>
            <a:off x="721485" y="320713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元对象系统（</a:t>
            </a:r>
            <a:r>
              <a:rPr lang="en-US" altLang="zh-CN" sz="2000" b="1">
                <a:solidFill>
                  <a:schemeClr val="accent3"/>
                </a:solidFill>
              </a:rPr>
              <a:t>Meta-Object System</a:t>
            </a:r>
            <a:r>
              <a:rPr lang="zh-CN" altLang="en-US" sz="2000" b="1">
                <a:solidFill>
                  <a:schemeClr val="accent3"/>
                </a:solidFill>
              </a:rPr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629B8F-07D7-1213-1475-C3F39211E5AA}"/>
              </a:ext>
            </a:extLst>
          </p:cNvPr>
          <p:cNvSpPr txBox="1"/>
          <p:nvPr/>
        </p:nvSpPr>
        <p:spPr>
          <a:xfrm>
            <a:off x="620913" y="3738866"/>
            <a:ext cx="9357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元对象编译器（</a:t>
            </a:r>
            <a:r>
              <a:rPr lang="en-US" altLang="zh-CN" sz="2000">
                <a:solidFill>
                  <a:schemeClr val="bg1"/>
                </a:solidFill>
              </a:rPr>
              <a:t>Meta-Object Compiler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en-US" altLang="zh-CN" sz="2000">
                <a:solidFill>
                  <a:schemeClr val="bg1"/>
                </a:solidFill>
              </a:rPr>
              <a:t>MOC</a:t>
            </a:r>
            <a:r>
              <a:rPr lang="zh-CN" altLang="en-US" sz="2000">
                <a:solidFill>
                  <a:schemeClr val="bg1"/>
                </a:solidFill>
              </a:rPr>
              <a:t>）是一个预处理器，先将</a:t>
            </a:r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的特性程序转换为标准</a:t>
            </a:r>
            <a:r>
              <a:rPr lang="en-US" altLang="zh-CN" sz="2000">
                <a:solidFill>
                  <a:schemeClr val="bg1"/>
                </a:solidFill>
              </a:rPr>
              <a:t>C++</a:t>
            </a:r>
            <a:r>
              <a:rPr lang="zh-CN" altLang="en-US" sz="2000">
                <a:solidFill>
                  <a:schemeClr val="bg1"/>
                </a:solidFill>
              </a:rPr>
              <a:t>程序，在由标准</a:t>
            </a:r>
            <a:r>
              <a:rPr lang="en-US" altLang="zh-CN" sz="2000">
                <a:solidFill>
                  <a:schemeClr val="bg1"/>
                </a:solidFill>
              </a:rPr>
              <a:t>C++</a:t>
            </a:r>
            <a:r>
              <a:rPr lang="zh-CN" altLang="en-US" sz="2000">
                <a:solidFill>
                  <a:schemeClr val="bg1"/>
                </a:solidFill>
              </a:rPr>
              <a:t>编译器进行编译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D1B090-F350-4FF9-4910-2C93F3A065A7}"/>
              </a:ext>
            </a:extLst>
          </p:cNvPr>
          <p:cNvSpPr/>
          <p:nvPr/>
        </p:nvSpPr>
        <p:spPr>
          <a:xfrm>
            <a:off x="620913" y="4568638"/>
            <a:ext cx="8855434" cy="5866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使用信号与槽机制，只有添加</a:t>
            </a:r>
            <a:r>
              <a:rPr lang="en-US" altLang="zh-CN"/>
              <a:t>Q_OBJECT</a:t>
            </a:r>
            <a:r>
              <a:rPr lang="zh-CN" altLang="en-US"/>
              <a:t>宏，</a:t>
            </a:r>
            <a:r>
              <a:rPr lang="en-US" altLang="zh-CN"/>
              <a:t>moc</a:t>
            </a:r>
            <a:r>
              <a:rPr lang="zh-CN" altLang="en-US"/>
              <a:t>才能对类里的信号与槽进行预处理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F7B5C4-5915-C043-5D30-669AA561FB47}"/>
              </a:ext>
            </a:extLst>
          </p:cNvPr>
          <p:cNvSpPr txBox="1"/>
          <p:nvPr/>
        </p:nvSpPr>
        <p:spPr>
          <a:xfrm>
            <a:off x="673276" y="5461518"/>
            <a:ext cx="885543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为</a:t>
            </a:r>
            <a:r>
              <a:rPr lang="en-US" altLang="zh-CN" sz="2000">
                <a:solidFill>
                  <a:schemeClr val="bg1"/>
                </a:solidFill>
              </a:rPr>
              <a:t>C++</a:t>
            </a:r>
            <a:r>
              <a:rPr lang="zh-CN" altLang="en-US" sz="2000">
                <a:solidFill>
                  <a:schemeClr val="bg1"/>
                </a:solidFill>
              </a:rPr>
              <a:t>语言增加的特性在</a:t>
            </a:r>
            <a:r>
              <a:rPr lang="en-US" altLang="zh-CN" sz="2000">
                <a:solidFill>
                  <a:schemeClr val="bg1"/>
                </a:solidFill>
              </a:rPr>
              <a:t>Qt Core</a:t>
            </a:r>
            <a:r>
              <a:rPr lang="zh-CN" altLang="en-US" sz="2000">
                <a:solidFill>
                  <a:schemeClr val="bg1"/>
                </a:solidFill>
              </a:rPr>
              <a:t>模块里实现，由</a:t>
            </a:r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的元对象系统实现。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包括：信号与槽机制、属性系统、动态类型转换等。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3AF404-1A39-955C-580E-B743F82DD8D9}"/>
              </a:ext>
            </a:extLst>
          </p:cNvPr>
          <p:cNvSpPr/>
          <p:nvPr/>
        </p:nvSpPr>
        <p:spPr>
          <a:xfrm>
            <a:off x="882550" y="7255805"/>
            <a:ext cx="1706880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源代码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44D764-AB4A-3AB6-499F-040D71AA68C3}"/>
              </a:ext>
            </a:extLst>
          </p:cNvPr>
          <p:cNvSpPr/>
          <p:nvPr/>
        </p:nvSpPr>
        <p:spPr>
          <a:xfrm>
            <a:off x="3138070" y="7255805"/>
            <a:ext cx="1706880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预处理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5B86CC-17AE-0C6A-8F30-8F54670E2263}"/>
              </a:ext>
            </a:extLst>
          </p:cNvPr>
          <p:cNvSpPr/>
          <p:nvPr/>
        </p:nvSpPr>
        <p:spPr>
          <a:xfrm>
            <a:off x="5393590" y="7234480"/>
            <a:ext cx="1706880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编译器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9E10EB-EE98-89FC-613F-4FE3A438F1E7}"/>
              </a:ext>
            </a:extLst>
          </p:cNvPr>
          <p:cNvSpPr/>
          <p:nvPr/>
        </p:nvSpPr>
        <p:spPr>
          <a:xfrm>
            <a:off x="5393590" y="8291753"/>
            <a:ext cx="1706880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链接器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814943-A454-D193-9A6B-2E8A33D41665}"/>
              </a:ext>
            </a:extLst>
          </p:cNvPr>
          <p:cNvSpPr/>
          <p:nvPr/>
        </p:nvSpPr>
        <p:spPr>
          <a:xfrm>
            <a:off x="7821830" y="7267626"/>
            <a:ext cx="1706880" cy="1732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应用程序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F75A354-82CA-99B6-74BC-9D341E523A44}"/>
              </a:ext>
            </a:extLst>
          </p:cNvPr>
          <p:cNvCxnSpPr>
            <a:stCxn id="4" idx="3"/>
            <a:endCxn id="23" idx="1"/>
          </p:cNvCxnSpPr>
          <p:nvPr/>
        </p:nvCxnSpPr>
        <p:spPr>
          <a:xfrm>
            <a:off x="2589430" y="7609748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9174FF0-4E70-1790-83BE-AD9BFCA13439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6247030" y="7942366"/>
            <a:ext cx="0" cy="349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6B15BDEC-06F7-F1C7-9342-BC81C328AAFA}"/>
              </a:ext>
            </a:extLst>
          </p:cNvPr>
          <p:cNvSpPr/>
          <p:nvPr/>
        </p:nvSpPr>
        <p:spPr>
          <a:xfrm>
            <a:off x="3224430" y="8291753"/>
            <a:ext cx="1534160" cy="73421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moc</a:t>
            </a:r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417A37D-8BA9-95B4-FCC4-C16734EB9B32}"/>
              </a:ext>
            </a:extLst>
          </p:cNvPr>
          <p:cNvCxnSpPr>
            <a:stCxn id="23" idx="2"/>
            <a:endCxn id="37" idx="0"/>
          </p:cNvCxnSpPr>
          <p:nvPr/>
        </p:nvCxnSpPr>
        <p:spPr>
          <a:xfrm>
            <a:off x="3991510" y="7963691"/>
            <a:ext cx="0" cy="328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AA6EC687-68C5-1DA2-C860-AD4356152123}"/>
              </a:ext>
            </a:extLst>
          </p:cNvPr>
          <p:cNvCxnSpPr>
            <a:stCxn id="37" idx="6"/>
            <a:endCxn id="24" idx="1"/>
          </p:cNvCxnSpPr>
          <p:nvPr/>
        </p:nvCxnSpPr>
        <p:spPr>
          <a:xfrm flipV="1">
            <a:off x="4758590" y="7588423"/>
            <a:ext cx="635000" cy="10704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BD91FF57-DF3F-CF46-F97D-7A6FD683A284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 flipV="1">
            <a:off x="7100470" y="8133633"/>
            <a:ext cx="721360" cy="5120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D9FC4BAE-030F-0CF7-C5B4-C96CA01C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201" y="9172715"/>
            <a:ext cx="7762875" cy="2162175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F9A34F1D-B328-EEC1-4B31-031F5C0A6EC1}"/>
              </a:ext>
            </a:extLst>
          </p:cNvPr>
          <p:cNvSpPr txBox="1"/>
          <p:nvPr/>
        </p:nvSpPr>
        <p:spPr>
          <a:xfrm>
            <a:off x="2589430" y="7930776"/>
            <a:ext cx="140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Q_OBJECT</a:t>
            </a:r>
            <a:r>
              <a:rPr lang="zh-CN" altLang="en-US">
                <a:solidFill>
                  <a:srgbClr val="FFFF00"/>
                </a:solidFill>
              </a:rPr>
              <a:t>宏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05DC098-8A45-6C47-FEBB-5EA88277791D}"/>
              </a:ext>
            </a:extLst>
          </p:cNvPr>
          <p:cNvSpPr txBox="1"/>
          <p:nvPr/>
        </p:nvSpPr>
        <p:spPr>
          <a:xfrm>
            <a:off x="1016652" y="6410644"/>
            <a:ext cx="826397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元对象系统是一个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扩展，使该语言更适合真正的组件化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编程。</a:t>
            </a:r>
            <a:endParaRPr lang="zh-CN" altLang="en-US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9E6BE29-EE2F-146E-0C66-A7087996D1BE}"/>
              </a:ext>
            </a:extLst>
          </p:cNvPr>
          <p:cNvSpPr txBox="1"/>
          <p:nvPr/>
        </p:nvSpPr>
        <p:spPr>
          <a:xfrm>
            <a:off x="781001" y="811462"/>
            <a:ext cx="8848281" cy="286232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Qt</a:t>
            </a:r>
            <a:r>
              <a:rPr lang="zh-CN" altLang="en-US" sz="2000">
                <a:solidFill>
                  <a:schemeClr val="tx1"/>
                </a:solidFill>
              </a:rPr>
              <a:t>对标准</a:t>
            </a:r>
            <a:r>
              <a:rPr lang="en-US" altLang="zh-CN" sz="2000">
                <a:solidFill>
                  <a:schemeClr val="tx1"/>
                </a:solidFill>
              </a:rPr>
              <a:t>C++</a:t>
            </a:r>
            <a:r>
              <a:rPr lang="zh-CN" altLang="en-US" sz="2000">
                <a:solidFill>
                  <a:schemeClr val="tx1"/>
                </a:solidFill>
              </a:rPr>
              <a:t>进行了扩展，引入了一些新的概念和功能。</a:t>
            </a:r>
            <a:endParaRPr lang="en-US" altLang="zh-CN" sz="200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信号槽机制</a:t>
            </a:r>
            <a:endParaRPr lang="en-US" altLang="zh-CN" sz="200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属性</a:t>
            </a:r>
            <a:endParaRPr lang="en-US" altLang="zh-CN" sz="200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内存管理</a:t>
            </a:r>
            <a:endParaRPr lang="en-US" altLang="zh-CN" sz="200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……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QObject</a:t>
            </a:r>
            <a:r>
              <a:rPr lang="zh-CN" altLang="en-US" sz="2000">
                <a:solidFill>
                  <a:schemeClr val="tx1"/>
                </a:solidFill>
              </a:rPr>
              <a:t>类是所有使用元对象系统的类的基类</a:t>
            </a:r>
            <a:endParaRPr lang="en-US" altLang="zh-CN" sz="200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并</a:t>
            </a:r>
            <a:r>
              <a:rPr lang="zh-CN" altLang="en-US" sz="2000" b="1">
                <a:solidFill>
                  <a:schemeClr val="tx1"/>
                </a:solidFill>
                <a:highlight>
                  <a:srgbClr val="00FF00"/>
                </a:highlight>
              </a:rPr>
              <a:t>不是</a:t>
            </a:r>
            <a:r>
              <a:rPr lang="zh-CN" altLang="en-US" sz="2000">
                <a:solidFill>
                  <a:schemeClr val="tx1"/>
                </a:solidFill>
              </a:rPr>
              <a:t>所有</a:t>
            </a:r>
            <a:r>
              <a:rPr lang="en-US" altLang="zh-CN" sz="2000">
                <a:solidFill>
                  <a:schemeClr val="tx1"/>
                </a:solidFill>
              </a:rPr>
              <a:t>Q</a:t>
            </a:r>
            <a:r>
              <a:rPr lang="zh-CN" altLang="en-US" sz="2000">
                <a:solidFill>
                  <a:schemeClr val="tx1"/>
                </a:solidFill>
              </a:rPr>
              <a:t>开头的类都是</a:t>
            </a:r>
            <a:r>
              <a:rPr lang="en-US" altLang="zh-CN" sz="2000">
                <a:solidFill>
                  <a:schemeClr val="tx1"/>
                </a:solidFill>
              </a:rPr>
              <a:t>Object</a:t>
            </a:r>
            <a:r>
              <a:rPr lang="zh-CN" altLang="en-US" sz="2000">
                <a:solidFill>
                  <a:schemeClr val="tx1"/>
                </a:solidFill>
              </a:rPr>
              <a:t>的派生类，例如</a:t>
            </a:r>
            <a:r>
              <a:rPr lang="en-US" altLang="zh-CN" sz="2000">
                <a:solidFill>
                  <a:schemeClr val="tx1"/>
                </a:solidFill>
              </a:rPr>
              <a:t>QString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在一个类的</a:t>
            </a:r>
            <a:r>
              <a:rPr lang="en-US" altLang="zh-CN" sz="2000">
                <a:solidFill>
                  <a:schemeClr val="tx1"/>
                </a:solidFill>
              </a:rPr>
              <a:t>private</a:t>
            </a:r>
            <a:r>
              <a:rPr lang="zh-CN" altLang="en-US" sz="2000">
                <a:solidFill>
                  <a:schemeClr val="tx1"/>
                </a:solidFill>
              </a:rPr>
              <a:t>部分声明</a:t>
            </a:r>
            <a:r>
              <a:rPr lang="en-US" altLang="zh-CN" sz="2000">
                <a:solidFill>
                  <a:schemeClr val="tx1"/>
                </a:solidFill>
              </a:rPr>
              <a:t>Q_OBJECT</a:t>
            </a:r>
            <a:r>
              <a:rPr lang="zh-CN" altLang="en-US" sz="2000">
                <a:solidFill>
                  <a:schemeClr val="tx1"/>
                </a:solidFill>
              </a:rPr>
              <a:t>宏</a:t>
            </a:r>
            <a:endParaRPr lang="en-US" altLang="zh-CN" sz="20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MOC</a:t>
            </a:r>
            <a:r>
              <a:rPr lang="zh-CN" altLang="en-US" sz="2000">
                <a:solidFill>
                  <a:schemeClr val="tx1"/>
                </a:solidFill>
              </a:rPr>
              <a:t>（元对象编译器）为每个</a:t>
            </a:r>
            <a:r>
              <a:rPr lang="en-US" altLang="zh-CN" sz="2000">
                <a:solidFill>
                  <a:schemeClr val="tx1"/>
                </a:solidFill>
              </a:rPr>
              <a:t>QObject</a:t>
            </a:r>
            <a:r>
              <a:rPr lang="zh-CN" altLang="en-US" sz="2000">
                <a:solidFill>
                  <a:schemeClr val="tx1"/>
                </a:solidFill>
              </a:rPr>
              <a:t>的子类提供必要的代码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1D5863-5E1B-1532-CCE7-15C9A5805906}"/>
              </a:ext>
            </a:extLst>
          </p:cNvPr>
          <p:cNvSpPr txBox="1"/>
          <p:nvPr/>
        </p:nvSpPr>
        <p:spPr>
          <a:xfrm>
            <a:off x="3581400" y="1356574"/>
            <a:ext cx="631456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We've been searching for other </a:t>
            </a:r>
            <a:r>
              <a:rPr lang="en-US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meta</a:t>
            </a:r>
            <a:r>
              <a:rPr lang="en-US" altLang="zh-CN" b="0" i="0">
                <a:solidFill>
                  <a:srgbClr val="F57527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humans like </a:t>
            </a:r>
            <a:r>
              <a:rPr lang="en-US" altLang="zh-CN" b="0" i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yourself</a:t>
            </a:r>
            <a:r>
              <a:rPr lang="en-US" altLang="zh-CN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27" name="墨迹 426">
                <a:extLst>
                  <a:ext uri="{FF2B5EF4-FFF2-40B4-BE49-F238E27FC236}">
                    <a16:creationId xmlns:a16="http://schemas.microsoft.com/office/drawing/2014/main" id="{593B0DFC-0F6C-691C-169F-55AD73266A35}"/>
                  </a:ext>
                </a:extLst>
              </p14:cNvPr>
              <p14:cNvContentPartPr/>
              <p14:nvPr/>
            </p14:nvContentPartPr>
            <p14:xfrm>
              <a:off x="5401920" y="4975560"/>
              <a:ext cx="21240" cy="360"/>
            </p14:xfrm>
          </p:contentPart>
        </mc:Choice>
        <mc:Fallback xmlns="">
          <p:pic>
            <p:nvPicPr>
              <p:cNvPr id="427" name="墨迹 426">
                <a:extLst>
                  <a:ext uri="{FF2B5EF4-FFF2-40B4-BE49-F238E27FC236}">
                    <a16:creationId xmlns:a16="http://schemas.microsoft.com/office/drawing/2014/main" id="{593B0DFC-0F6C-691C-169F-55AD73266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3280" y="4966560"/>
                <a:ext cx="3888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8B6387D-F014-D031-AD33-B98336481E6D}"/>
              </a:ext>
            </a:extLst>
          </p:cNvPr>
          <p:cNvSpPr txBox="1"/>
          <p:nvPr/>
        </p:nvSpPr>
        <p:spPr>
          <a:xfrm>
            <a:off x="682149" y="5492986"/>
            <a:ext cx="8681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QObject</a:t>
            </a:r>
            <a:r>
              <a:rPr lang="zh-CN" altLang="en-US">
                <a:solidFill>
                  <a:schemeClr val="bg1"/>
                </a:solidFill>
              </a:rPr>
              <a:t>在对象树中组织自己。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当以另一个对象作为父对象创建</a:t>
            </a:r>
            <a:r>
              <a:rPr lang="en-US" altLang="zh-CN">
                <a:solidFill>
                  <a:schemeClr val="bg1"/>
                </a:solidFill>
              </a:rPr>
              <a:t>QObject</a:t>
            </a:r>
            <a:r>
              <a:rPr lang="zh-CN" altLang="en-US">
                <a:solidFill>
                  <a:schemeClr val="bg1"/>
                </a:solidFill>
              </a:rPr>
              <a:t>时，该对象将自动将自身添加到父对象的子对象列表中。</a:t>
            </a:r>
            <a:endParaRPr lang="en-US" altLang="zh-CN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父对象删除时，它将自动删除其子对象。可以使用</a:t>
            </a:r>
            <a:r>
              <a:rPr lang="en-US" altLang="zh-CN">
                <a:solidFill>
                  <a:schemeClr val="bg1"/>
                </a:solidFill>
              </a:rPr>
              <a:t>findChild</a:t>
            </a:r>
            <a:r>
              <a:rPr lang="zh-CN" altLang="en-US">
                <a:solidFill>
                  <a:schemeClr val="bg1"/>
                </a:solidFill>
              </a:rPr>
              <a:t>（）或</a:t>
            </a:r>
            <a:r>
              <a:rPr lang="en-US" altLang="zh-CN">
                <a:solidFill>
                  <a:schemeClr val="bg1"/>
                </a:solidFill>
              </a:rPr>
              <a:t>findChildren</a:t>
            </a:r>
            <a:r>
              <a:rPr lang="zh-CN" altLang="en-US">
                <a:solidFill>
                  <a:schemeClr val="bg1"/>
                </a:solidFill>
              </a:rPr>
              <a:t>（）按名称和可选类型查找对象。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3C07D7-0E1E-D2FE-5736-F01AF9CFADE9}"/>
              </a:ext>
            </a:extLst>
          </p:cNvPr>
          <p:cNvSpPr txBox="1"/>
          <p:nvPr/>
        </p:nvSpPr>
        <p:spPr>
          <a:xfrm>
            <a:off x="1164749" y="7044833"/>
            <a:ext cx="819912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如果只是需要通过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QObject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自动回收内存，无需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moc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，也就无需添加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Q_OBJECT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虽然不是必须的，但强烈建议在所有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QObject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子类中加上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Q_OBJECT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A60825-C5C3-0BD3-CCF9-2D396CAEA777}"/>
              </a:ext>
            </a:extLst>
          </p:cNvPr>
          <p:cNvSpPr txBox="1"/>
          <p:nvPr/>
        </p:nvSpPr>
        <p:spPr>
          <a:xfrm>
            <a:off x="548640" y="283782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3"/>
                </a:solidFill>
              </a:rPr>
              <a:t>QObject</a:t>
            </a:r>
            <a:endParaRPr lang="zh-CN" altLang="en-US" sz="2000" b="1">
              <a:solidFill>
                <a:schemeClr val="accent3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2D812D-2312-E430-9139-A28B760C7D80}"/>
              </a:ext>
            </a:extLst>
          </p:cNvPr>
          <p:cNvSpPr txBox="1"/>
          <p:nvPr/>
        </p:nvSpPr>
        <p:spPr>
          <a:xfrm>
            <a:off x="788829" y="792572"/>
            <a:ext cx="890524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QObject是Qt对象模型的核心。</a:t>
            </a:r>
            <a:endParaRPr lang="en-US" altLang="zh-CN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标准的</a:t>
            </a:r>
            <a:r>
              <a:rPr lang="en-US" altLang="zh-CN">
                <a:solidFill>
                  <a:schemeClr val="tx1"/>
                </a:solidFill>
              </a:rPr>
              <a:t>C++</a:t>
            </a:r>
            <a:r>
              <a:rPr lang="zh-CN" altLang="en-US">
                <a:solidFill>
                  <a:schemeClr val="tx1"/>
                </a:solidFill>
              </a:rPr>
              <a:t>对象模型在某些领域不够灵活。</a:t>
            </a:r>
            <a:r>
              <a:rPr lang="zh-CN" altLang="en-US">
                <a:solidFill>
                  <a:schemeClr val="tx1"/>
                </a:solidFill>
                <a:highlight>
                  <a:srgbClr val="00FF00"/>
                </a:highlight>
              </a:rPr>
              <a:t>图形用户界面编程是一个既需要运行效率又需要高度灵活性的领域</a:t>
            </a:r>
            <a:r>
              <a:rPr lang="zh-CN" altLang="en-US">
                <a:solidFill>
                  <a:schemeClr val="tx1"/>
                </a:solidFill>
              </a:rPr>
              <a:t>。QObject提供了灵活性。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0BFDAD-CDE6-08BB-1A31-9BE7BC639ECA}"/>
              </a:ext>
            </a:extLst>
          </p:cNvPr>
          <p:cNvSpPr txBox="1"/>
          <p:nvPr/>
        </p:nvSpPr>
        <p:spPr>
          <a:xfrm>
            <a:off x="548640" y="7751484"/>
            <a:ext cx="9667240" cy="646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&lt;QCoreApplication&gt;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qDebug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"被销毁"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qDebug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"被构造"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objA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//A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objAcopy(objA);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objA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//objA=*objA2;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qDebug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"objA2:"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2A608D-A259-8011-ADAD-4B661043A42F}"/>
              </a:ext>
            </a:extLst>
          </p:cNvPr>
          <p:cNvSpPr txBox="1"/>
          <p:nvPr/>
        </p:nvSpPr>
        <p:spPr>
          <a:xfrm>
            <a:off x="5970429" y="11664969"/>
            <a:ext cx="3732371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/>
              <a:t>QObject(0x96347ff670) 被构造</a:t>
            </a:r>
          </a:p>
          <a:p>
            <a:r>
              <a:rPr lang="zh-CN" altLang="en-US"/>
              <a:t>QObject(0x23d12553fa0) 被构造</a:t>
            </a:r>
          </a:p>
          <a:p>
            <a:r>
              <a:rPr lang="zh-CN" altLang="en-US"/>
              <a:t>objA2: QObject(0x23d12553fa0)</a:t>
            </a:r>
          </a:p>
          <a:p>
            <a:r>
              <a:rPr lang="zh-CN" altLang="en-US"/>
              <a:t>QObject(0x96347ff670) 被销毁</a:t>
            </a:r>
          </a:p>
          <a:p>
            <a:r>
              <a:rPr lang="zh-CN" altLang="en-US"/>
              <a:t>QObject(0x23d12553fa0) 被销毁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108AC44-F47D-9B26-F9EF-6ADC4742411D}"/>
              </a:ext>
            </a:extLst>
          </p:cNvPr>
          <p:cNvSpPr/>
          <p:nvPr/>
        </p:nvSpPr>
        <p:spPr>
          <a:xfrm>
            <a:off x="548640" y="1885726"/>
            <a:ext cx="9212262" cy="3571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247FE2A-2C58-48A2-544D-E235D1C04BD3}"/>
              </a:ext>
            </a:extLst>
          </p:cNvPr>
          <p:cNvSpPr txBox="1"/>
          <p:nvPr/>
        </p:nvSpPr>
        <p:spPr>
          <a:xfrm>
            <a:off x="2918142" y="2768777"/>
            <a:ext cx="6563360" cy="258532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可能具有唯一的</a:t>
            </a:r>
            <a:r>
              <a:rPr lang="en-US" altLang="zh-CN"/>
              <a:t>QObject::objectName()</a:t>
            </a:r>
            <a:r>
              <a:rPr lang="zh-CN" altLang="en-US"/>
              <a:t>。如果我们复制一个</a:t>
            </a:r>
            <a:r>
              <a:rPr lang="en-US" altLang="zh-CN"/>
              <a:t>Qt</a:t>
            </a:r>
            <a:r>
              <a:rPr lang="zh-CN" altLang="en-US"/>
              <a:t>对象，应该给副本起什么名字？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在对象层次结构中具有位置。如果我们复制一个</a:t>
            </a:r>
            <a:r>
              <a:rPr lang="en-US" altLang="zh-CN"/>
              <a:t>Qt</a:t>
            </a:r>
            <a:r>
              <a:rPr lang="zh-CN" altLang="en-US"/>
              <a:t>对象，那么副本应该位于哪里？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可以连接到其他</a:t>
            </a:r>
            <a:r>
              <a:rPr lang="en-US" altLang="zh-CN"/>
              <a:t>Qt</a:t>
            </a:r>
            <a:r>
              <a:rPr lang="zh-CN" altLang="en-US"/>
              <a:t>对象以向其发射信号或接收其发射的信号。如果复制</a:t>
            </a:r>
            <a:r>
              <a:rPr lang="en-US" altLang="zh-CN"/>
              <a:t>Qt</a:t>
            </a:r>
            <a:r>
              <a:rPr lang="zh-CN" altLang="en-US"/>
              <a:t>对象，应该如何将这些连接传输到副本？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可以在运行时向其添加未在</a:t>
            </a:r>
            <a:r>
              <a:rPr lang="en-US" altLang="zh-CN"/>
              <a:t>C++</a:t>
            </a:r>
            <a:r>
              <a:rPr lang="zh-CN" altLang="en-US"/>
              <a:t>类中声明的新属性。如果我们复制一个</a:t>
            </a:r>
            <a:r>
              <a:rPr lang="en-US" altLang="zh-CN"/>
              <a:t>Qt</a:t>
            </a:r>
            <a:r>
              <a:rPr lang="zh-CN" altLang="en-US"/>
              <a:t>对象，那么副本是否应该包括添加到原始对象中的属性？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DE0A10D-05BB-D42A-F30D-74CEB7FE9EBA}"/>
              </a:ext>
            </a:extLst>
          </p:cNvPr>
          <p:cNvSpPr txBox="1"/>
          <p:nvPr/>
        </p:nvSpPr>
        <p:spPr>
          <a:xfrm>
            <a:off x="817562" y="2378203"/>
            <a:ext cx="87757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QObject 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的拷贝构造函数和赋值运算符是私有的，并且使用了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Q_DISABLE_COPY()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宏</a:t>
            </a:r>
            <a:endParaRPr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FB06221-36E2-4352-7B14-09F9C2310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99" y="2783555"/>
            <a:ext cx="2065843" cy="258532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31B54A66-C87C-A8C1-D318-FD0DED88C7B5}"/>
              </a:ext>
            </a:extLst>
          </p:cNvPr>
          <p:cNvSpPr txBox="1"/>
          <p:nvPr/>
        </p:nvSpPr>
        <p:spPr>
          <a:xfrm>
            <a:off x="852299" y="1956273"/>
            <a:ext cx="3127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highlight>
                  <a:srgbClr val="FFFF00"/>
                </a:highlight>
              </a:rPr>
              <a:t>QObject</a:t>
            </a:r>
            <a:r>
              <a:rPr lang="zh-CN" altLang="en-US" sz="2000" b="1">
                <a:highlight>
                  <a:srgbClr val="FFFF00"/>
                </a:highlight>
              </a:rPr>
              <a:t>不支持拷贝！！！</a:t>
            </a:r>
            <a:endParaRPr lang="zh-CN" altLang="en-US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489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3254E7-C91E-5749-C11B-0157B3A0C3E1}"/>
              </a:ext>
            </a:extLst>
          </p:cNvPr>
          <p:cNvSpPr txBox="1"/>
          <p:nvPr/>
        </p:nvSpPr>
        <p:spPr>
          <a:xfrm>
            <a:off x="477464" y="1618368"/>
            <a:ext cx="509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信号与槽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9D437A-818E-B8F2-91B9-467054AAE67C}"/>
              </a:ext>
            </a:extLst>
          </p:cNvPr>
          <p:cNvSpPr txBox="1"/>
          <p:nvPr/>
        </p:nvSpPr>
        <p:spPr>
          <a:xfrm>
            <a:off x="793861" y="8695998"/>
            <a:ext cx="9413980" cy="3477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connect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还可以添加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Qt::ConnectionType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类型的参数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，表示信号与槽之间的关联方式：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en-US" altLang="zh-CN" sz="20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highlight>
                  <a:srgbClr val="000080"/>
                </a:highlight>
              </a:rPr>
              <a:t>Qt::AutoConnection</a:t>
            </a:r>
            <a:r>
              <a:rPr lang="zh-CN" altLang="en-US" sz="2000">
                <a:solidFill>
                  <a:schemeClr val="bg1"/>
                </a:solidFill>
                <a:highlight>
                  <a:srgbClr val="000080"/>
                </a:highlight>
              </a:rPr>
              <a:t>（缺省值）</a:t>
            </a:r>
            <a:r>
              <a:rPr lang="zh-CN" altLang="en-US" sz="2000">
                <a:solidFill>
                  <a:schemeClr val="bg1"/>
                </a:solidFill>
              </a:rPr>
              <a:t>：自动确定关联方式。</a:t>
            </a:r>
            <a:endParaRPr lang="en-US" altLang="zh-CN" sz="20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80"/>
                </a:highlight>
              </a:rPr>
              <a:t>Qt::DirectConnection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：信号被发射时，槽立即执行，槽函数与信号在同一线程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highlight>
                  <a:srgbClr val="000080"/>
                </a:highlight>
              </a:rPr>
              <a:t>Qt::QueuedConnection</a:t>
            </a:r>
            <a:r>
              <a:rPr lang="zh-CN" altLang="en-US" sz="2000">
                <a:solidFill>
                  <a:schemeClr val="bg1"/>
                </a:solidFill>
              </a:rPr>
              <a:t>：事件循环回到接收者线程后执行槽，槽与信号在不同线程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  <a:highlight>
                  <a:srgbClr val="000080"/>
                </a:highlight>
              </a:rPr>
              <a:t>Qt::BlockingQueueConnection</a:t>
            </a:r>
            <a:r>
              <a:rPr lang="zh-CN" altLang="en-US" sz="2000">
                <a:solidFill>
                  <a:schemeClr val="bg1"/>
                </a:solidFill>
              </a:rPr>
              <a:t>：与</a:t>
            </a:r>
            <a:r>
              <a:rPr lang="en-US" altLang="zh-CN" sz="2000">
                <a:solidFill>
                  <a:schemeClr val="bg1"/>
                </a:solidFill>
              </a:rPr>
              <a:t>Qt::QueuedConnection</a:t>
            </a:r>
            <a:r>
              <a:rPr lang="zh-CN" altLang="en-US" sz="2000">
                <a:solidFill>
                  <a:schemeClr val="bg1"/>
                </a:solidFill>
              </a:rPr>
              <a:t>相似，信号线程会被阻塞直到槽执行完毕。当槽函数与信号在同一线程，会造成死锁。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1C1230-EF1E-0CAE-6B83-EDE1677966D8}"/>
              </a:ext>
            </a:extLst>
          </p:cNvPr>
          <p:cNvSpPr txBox="1"/>
          <p:nvPr/>
        </p:nvSpPr>
        <p:spPr>
          <a:xfrm>
            <a:off x="4529901" y="265569"/>
            <a:ext cx="147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事件与信号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0C772E-03EC-CE90-7169-C982DB61BA96}"/>
              </a:ext>
            </a:extLst>
          </p:cNvPr>
          <p:cNvSpPr txBox="1"/>
          <p:nvPr/>
        </p:nvSpPr>
        <p:spPr>
          <a:xfrm>
            <a:off x="560453" y="717510"/>
            <a:ext cx="9459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所有</a:t>
            </a:r>
            <a:r>
              <a:rPr lang="en-US" altLang="zh-CN">
                <a:solidFill>
                  <a:schemeClr val="bg1"/>
                </a:solidFill>
              </a:rPr>
              <a:t>GUI</a:t>
            </a:r>
            <a:r>
              <a:rPr lang="zh-CN" altLang="en-US">
                <a:solidFill>
                  <a:schemeClr val="bg1"/>
                </a:solidFill>
              </a:rPr>
              <a:t>应用程序都是事件驱动的。事件主要由应用程序的用户生成，但也可以通过其他方式生成，例如</a:t>
            </a:r>
            <a:r>
              <a:rPr lang="en-US" altLang="zh-CN">
                <a:solidFill>
                  <a:schemeClr val="bg1"/>
                </a:solidFill>
              </a:rPr>
              <a:t>Internet</a:t>
            </a:r>
            <a:r>
              <a:rPr lang="zh-CN" altLang="en-US">
                <a:solidFill>
                  <a:schemeClr val="bg1"/>
                </a:solidFill>
              </a:rPr>
              <a:t>连接、窗口管理器或计时器。当调用</a:t>
            </a:r>
            <a:r>
              <a:rPr lang="en-US" altLang="zh-CN">
                <a:solidFill>
                  <a:schemeClr val="bg1"/>
                </a:solidFill>
              </a:rPr>
              <a:t>exec</a:t>
            </a:r>
            <a:r>
              <a:rPr lang="zh-CN" altLang="en-US">
                <a:solidFill>
                  <a:schemeClr val="bg1"/>
                </a:solidFill>
              </a:rPr>
              <a:t>方法时，应用程序进入主循环。主循环获取事件并将其发送到对象。</a:t>
            </a:r>
            <a:endParaRPr lang="zh-CN" altLang="en-US" b="1">
              <a:solidFill>
                <a:schemeClr val="bg1"/>
              </a:solidFill>
              <a:highlight>
                <a:srgbClr val="0000FF"/>
              </a:highlight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1CBDCA-FE5D-AA6A-0322-ECBD0D48D343}"/>
              </a:ext>
            </a:extLst>
          </p:cNvPr>
          <p:cNvSpPr txBox="1"/>
          <p:nvPr/>
        </p:nvSpPr>
        <p:spPr>
          <a:xfrm>
            <a:off x="585352" y="2023925"/>
            <a:ext cx="6694381" cy="170687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Qt</a:t>
            </a:r>
            <a:r>
              <a:rPr lang="zh-CN" altLang="en-US">
                <a:solidFill>
                  <a:schemeClr val="tx1"/>
                </a:solidFill>
              </a:rPr>
              <a:t>具有独特的信号和插槽机制。这种信号和插槽机制是对</a:t>
            </a:r>
            <a:r>
              <a:rPr lang="en-US" altLang="zh-CN">
                <a:solidFill>
                  <a:schemeClr val="tx1"/>
                </a:solidFill>
              </a:rPr>
              <a:t>C++</a:t>
            </a:r>
            <a:r>
              <a:rPr lang="zh-CN" altLang="en-US">
                <a:solidFill>
                  <a:schemeClr val="tx1"/>
                </a:solidFill>
              </a:rPr>
              <a:t>编程语言的扩展。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信号和槽用于对象之间的通信。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slot</a:t>
            </a:r>
            <a:r>
              <a:rPr lang="zh-CN" altLang="en-US">
                <a:solidFill>
                  <a:schemeClr val="tx1"/>
                </a:solidFill>
              </a:rPr>
              <a:t>是一种普通的</a:t>
            </a:r>
            <a:r>
              <a:rPr lang="en-US" altLang="zh-CN">
                <a:solidFill>
                  <a:schemeClr val="tx1"/>
                </a:solidFill>
              </a:rPr>
              <a:t>C++</a:t>
            </a:r>
            <a:r>
              <a:rPr lang="zh-CN" altLang="en-US">
                <a:solidFill>
                  <a:schemeClr val="tx1"/>
                </a:solidFill>
              </a:rPr>
              <a:t>函数；当与之相连的信号发出时，调用它。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12244A0-FDB2-FF07-FDB9-84BC00C75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639" y="1398568"/>
            <a:ext cx="2741177" cy="276357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DD56CCB-5636-44D1-498E-97ED42E253FA}"/>
              </a:ext>
            </a:extLst>
          </p:cNvPr>
          <p:cNvSpPr txBox="1"/>
          <p:nvPr/>
        </p:nvSpPr>
        <p:spPr>
          <a:xfrm>
            <a:off x="398736" y="4066476"/>
            <a:ext cx="95395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有几种连接信号和插槽的方法。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使用成员函数指针</a:t>
            </a:r>
            <a:endParaRPr lang="en-US" altLang="zh-CN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优点：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、允许编译器检查信号是否与槽的参数兼容。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、编译器可以隐式转换参数。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使用仿函数或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lambda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表达式作为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slot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使用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 SIGNAL 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和 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SLOT 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宏</a:t>
            </a:r>
            <a:endParaRPr lang="en-US" altLang="zh-CN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如果参数具有默认值，传递给</a:t>
            </a:r>
            <a:r>
              <a:rPr lang="en-US" altLang="zh-CN">
                <a:solidFill>
                  <a:schemeClr val="bg1"/>
                </a:solidFill>
              </a:rPr>
              <a:t>SIGNAL</a:t>
            </a:r>
            <a:r>
              <a:rPr lang="zh-CN" altLang="en-US">
                <a:solidFill>
                  <a:schemeClr val="bg1"/>
                </a:solidFill>
              </a:rPr>
              <a:t>（）宏的签名的参数不得少于传递给</a:t>
            </a:r>
            <a:r>
              <a:rPr lang="en-US" altLang="zh-CN">
                <a:solidFill>
                  <a:schemeClr val="bg1"/>
                </a:solidFill>
              </a:rPr>
              <a:t>SLOT</a:t>
            </a:r>
            <a:r>
              <a:rPr lang="zh-CN" altLang="en-US">
                <a:solidFill>
                  <a:schemeClr val="bg1"/>
                </a:solidFill>
              </a:rPr>
              <a:t>（）宏的签名的参数。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E453B5-6052-A2DF-9A6B-0FC5CAB84A8A}"/>
              </a:ext>
            </a:extLst>
          </p:cNvPr>
          <p:cNvSpPr txBox="1"/>
          <p:nvPr/>
        </p:nvSpPr>
        <p:spPr>
          <a:xfrm>
            <a:off x="621413" y="5857554"/>
            <a:ext cx="94139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connect(sender,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&amp;QObject::destroyed,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this</a:t>
            </a:r>
            <a:r>
              <a:rPr lang="en-US" altLang="zh-CN"/>
              <a:t>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[=](){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this</a:t>
            </a:r>
            <a:r>
              <a:rPr lang="en-US" altLang="zh-CN"/>
              <a:t>-&gt;m_objects.remove(sender);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});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503019-5BD3-C58F-0996-088C77CB17F1}"/>
              </a:ext>
            </a:extLst>
          </p:cNvPr>
          <p:cNvSpPr txBox="1"/>
          <p:nvPr/>
        </p:nvSpPr>
        <p:spPr>
          <a:xfrm>
            <a:off x="748735" y="7218670"/>
            <a:ext cx="941398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connect(sender,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(destroyed(QObject*)),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SLOT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(objectDestroyed(Qbject*)));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connect(sender,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(destroyed(QObject*)),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SLOT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(objectDestroyed()));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connect(sender,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(destroyed()),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SLOT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(objectDestroyed()));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/>
              <a:t>connect(sender,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0080"/>
                </a:solidFill>
                <a:effectLst/>
              </a:rPr>
              <a:t>SIGNAL</a:t>
            </a:r>
            <a:r>
              <a:rPr lang="en-US" altLang="zh-CN"/>
              <a:t>(destroyed()),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this</a:t>
            </a:r>
            <a:r>
              <a:rPr lang="en-US" altLang="zh-CN"/>
              <a:t>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0080"/>
                </a:solidFill>
                <a:effectLst/>
              </a:rPr>
              <a:t>SLOT</a:t>
            </a:r>
            <a:r>
              <a:rPr lang="en-US" altLang="zh-CN"/>
              <a:t>(objectDestroyed(QObject*)));</a:t>
            </a: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运行时错误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6C7C23-DF74-D603-EEE5-397B4C34DD30}"/>
              </a:ext>
            </a:extLst>
          </p:cNvPr>
          <p:cNvSpPr txBox="1"/>
          <p:nvPr/>
        </p:nvSpPr>
        <p:spPr>
          <a:xfrm>
            <a:off x="315603" y="9194889"/>
            <a:ext cx="10370495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QMetaObject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Connection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sender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signal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receiver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member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ConnectionType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AutoConnection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0F759-11B5-411F-D05E-769E206E2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683" y="13049110"/>
            <a:ext cx="6694333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0" i="0">
                <a:solidFill>
                  <a:srgbClr val="4D4D4D"/>
                </a:solidFill>
                <a:effectLst/>
                <a:latin typeface="+mn-lt"/>
              </a:rPr>
              <a:t>信号和槽还有一种</a:t>
            </a:r>
            <a:r>
              <a:rPr lang="zh-CN" altLang="en-US" b="1" i="0">
                <a:solidFill>
                  <a:srgbClr val="4D4D4D"/>
                </a:solidFill>
                <a:effectLst/>
                <a:latin typeface="+mn-lt"/>
              </a:rPr>
              <a:t>自动关联方式</a:t>
            </a:r>
            <a:r>
              <a:rPr lang="zh-CN" altLang="en-US" b="0" i="0">
                <a:solidFill>
                  <a:srgbClr val="4D4D4D"/>
                </a:solidFill>
                <a:effectLst/>
                <a:latin typeface="+mn-lt"/>
              </a:rPr>
              <a:t>，例如</a:t>
            </a:r>
            <a:r>
              <a:rPr lang="en-US" altLang="zh-CN" b="0" i="0">
                <a:solidFill>
                  <a:srgbClr val="4D4D4D"/>
                </a:solidFill>
                <a:effectLst/>
                <a:latin typeface="+mn-lt"/>
              </a:rPr>
              <a:t>on_pushButton_clicked()</a:t>
            </a:r>
            <a:r>
              <a:rPr lang="zh-CN" altLang="en-US" b="0" i="0">
                <a:solidFill>
                  <a:srgbClr val="4D4D4D"/>
                </a:solidFill>
                <a:effectLst/>
                <a:latin typeface="+mn-lt"/>
              </a:rPr>
              <a:t>，</a:t>
            </a:r>
            <a:endParaRPr lang="en-US" altLang="zh-CN" b="0" i="0">
              <a:solidFill>
                <a:srgbClr val="4D4D4D"/>
              </a:solidFill>
              <a:effectLst/>
              <a:latin typeface="+mn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4D4D4D"/>
                </a:solidFill>
                <a:latin typeface="+mn-lt"/>
              </a:rPr>
              <a:t>uic</a:t>
            </a:r>
            <a:r>
              <a:rPr lang="zh-CN" altLang="en-US">
                <a:solidFill>
                  <a:srgbClr val="4D4D4D"/>
                </a:solidFill>
                <a:latin typeface="+mn-lt"/>
              </a:rPr>
              <a:t>自动生成的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7254E"/>
                </a:solidFill>
                <a:effectLst/>
                <a:latin typeface="+mn-lt"/>
                <a:ea typeface="Source Code Pro" panose="020B0509030403020204" pitchFamily="49" charset="0"/>
              </a:rPr>
              <a:t>setupUi（）</a:t>
            </a:r>
            <a:r>
              <a:rPr lang="zh-CN" altLang="zh-CN">
                <a:solidFill>
                  <a:srgbClr val="4D4D4D"/>
                </a:solidFill>
                <a:latin typeface="+mn-lt"/>
              </a:rPr>
              <a:t>函数中调用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7254E"/>
                </a:solidFill>
                <a:effectLst/>
                <a:latin typeface="+mn-lt"/>
                <a:ea typeface="Source Code Pro" panose="020B0509030403020204" pitchFamily="49" charset="0"/>
              </a:rPr>
              <a:t>connectSlotByName()</a:t>
            </a:r>
            <a:r>
              <a:rPr lang="zh-CN" altLang="zh-CN">
                <a:solidFill>
                  <a:srgbClr val="4D4D4D"/>
                </a:solidFill>
                <a:latin typeface="+mn-lt"/>
              </a:rPr>
              <a:t>函数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7AA374-74F8-FE90-6FC9-3EFDDA0EFB85}"/>
              </a:ext>
            </a:extLst>
          </p:cNvPr>
          <p:cNvSpPr txBox="1"/>
          <p:nvPr/>
        </p:nvSpPr>
        <p:spPr>
          <a:xfrm>
            <a:off x="643976" y="4989331"/>
            <a:ext cx="94139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 connect(sender, &amp;QObject::destroyed, this, &amp;MyObject::objectDestroyed);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92B049D-14EA-4912-06C6-DC7D474BE578}"/>
              </a:ext>
            </a:extLst>
          </p:cNvPr>
          <p:cNvSpPr txBox="1"/>
          <p:nvPr/>
        </p:nvSpPr>
        <p:spPr>
          <a:xfrm>
            <a:off x="470549" y="12601535"/>
            <a:ext cx="9587407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800080"/>
                </a:solidFill>
                <a:effectLst/>
              </a:rPr>
              <a:t>QSpinBox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*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spinbox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=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qobject_cast&lt;</a:t>
            </a:r>
            <a:r>
              <a:rPr lang="en-US" altLang="zh-CN" sz="2000">
                <a:solidFill>
                  <a:srgbClr val="800080"/>
                </a:solidFill>
                <a:effectLst/>
              </a:rPr>
              <a:t>QSpinBox</a:t>
            </a:r>
            <a:r>
              <a:rPr lang="en-US" altLang="zh-CN" sz="2000">
                <a:solidFill>
                  <a:srgbClr val="C0C0C0"/>
                </a:solidFill>
                <a:effectLst/>
              </a:rPr>
              <a:t> </a:t>
            </a:r>
            <a:r>
              <a:rPr lang="en-US" altLang="zh-CN" sz="2000"/>
              <a:t>*&gt;(sender());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D9CA77-1BB5-4198-9B03-09E4FEFE8025}"/>
              </a:ext>
            </a:extLst>
          </p:cNvPr>
          <p:cNvSpPr txBox="1"/>
          <p:nvPr/>
        </p:nvSpPr>
        <p:spPr>
          <a:xfrm>
            <a:off x="538424" y="12201425"/>
            <a:ext cx="7188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在槽函数里，使用</a:t>
            </a:r>
            <a:r>
              <a:rPr lang="en-US" altLang="zh-CN" sz="2000">
                <a:solidFill>
                  <a:schemeClr val="bg1"/>
                </a:solidFill>
              </a:rPr>
              <a:t>QObject::sender()</a:t>
            </a:r>
            <a:r>
              <a:rPr lang="zh-CN" altLang="en-US" sz="2000">
                <a:solidFill>
                  <a:schemeClr val="bg1"/>
                </a:solidFill>
              </a:rPr>
              <a:t>可以获取信号发射者的指针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40" name="墨迹 339">
                <a:extLst>
                  <a:ext uri="{FF2B5EF4-FFF2-40B4-BE49-F238E27FC236}">
                    <a16:creationId xmlns:a16="http://schemas.microsoft.com/office/drawing/2014/main" id="{8742D788-A6F5-54C8-3E70-3D331960593A}"/>
                  </a:ext>
                </a:extLst>
              </p14:cNvPr>
              <p14:cNvContentPartPr/>
              <p14:nvPr/>
            </p14:nvContentPartPr>
            <p14:xfrm>
              <a:off x="7779720" y="4846320"/>
              <a:ext cx="360" cy="360"/>
            </p14:xfrm>
          </p:contentPart>
        </mc:Choice>
        <mc:Fallback xmlns="">
          <p:pic>
            <p:nvPicPr>
              <p:cNvPr id="340" name="墨迹 339">
                <a:extLst>
                  <a:ext uri="{FF2B5EF4-FFF2-40B4-BE49-F238E27FC236}">
                    <a16:creationId xmlns:a16="http://schemas.microsoft.com/office/drawing/2014/main" id="{8742D788-A6F5-54C8-3E70-3D33196059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0720" y="483732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748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5FD0ECAE-6A1C-0939-A3FC-312FAC5CCBB3}"/>
              </a:ext>
            </a:extLst>
          </p:cNvPr>
          <p:cNvSpPr txBox="1"/>
          <p:nvPr/>
        </p:nvSpPr>
        <p:spPr>
          <a:xfrm>
            <a:off x="518865" y="817821"/>
            <a:ext cx="9587407" cy="59093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&lt;QCoreApplication&gt;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"sender.h"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"receiver.h"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[])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Sender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senderObj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Receiver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receiverObj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senderObj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incAge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  <a:latin typeface="Arial Unicode MS"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senderObj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Sender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receiverObj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Receiver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  <a:latin typeface="Arial Unicode MS"/>
              </a:rPr>
              <a:t>senderObj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  <a:latin typeface="Arial Unicode MS"/>
              </a:rPr>
              <a:t>incAge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  <a:latin typeface="Arial Unicode MS"/>
              </a:rPr>
              <a:t>senderObj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  <a:latin typeface="Arial Unicode MS"/>
              </a:rPr>
              <a:t>incAge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  <a:latin typeface="Arial Unicode MS"/>
              </a:rPr>
              <a:t>disconnect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senderObj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Sender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receiverObj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Receiver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senderObj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incAge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3D04F8-ADAA-1519-92C6-1443C71253A3}"/>
              </a:ext>
            </a:extLst>
          </p:cNvPr>
          <p:cNvSpPr txBox="1"/>
          <p:nvPr/>
        </p:nvSpPr>
        <p:spPr>
          <a:xfrm>
            <a:off x="518866" y="7028752"/>
            <a:ext cx="9587407" cy="4247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Sender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00FF00"/>
                </a:highlight>
              </a:rPr>
              <a:t>Q_OBJECT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Sender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incAge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signals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Sender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incAge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emit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04FBE2-3446-779F-8575-64F4DCC327A6}"/>
              </a:ext>
            </a:extLst>
          </p:cNvPr>
          <p:cNvSpPr/>
          <p:nvPr/>
        </p:nvSpPr>
        <p:spPr>
          <a:xfrm>
            <a:off x="5205891" y="9270496"/>
            <a:ext cx="5093072" cy="8416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信号函数必须无返回值，但可以有输入参数</a:t>
            </a:r>
            <a:endParaRPr lang="en-US" altLang="zh-CN"/>
          </a:p>
          <a:p>
            <a:pPr algn="ctr"/>
            <a:r>
              <a:rPr lang="zh-CN" altLang="en-US"/>
              <a:t>信号函数无需实现，只需在某些条件下发射信号</a:t>
            </a:r>
            <a:endParaRPr lang="en-US" altLang="zh-CN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9C0AC4-257B-32F6-6DFA-591D8397B011}"/>
              </a:ext>
            </a:extLst>
          </p:cNvPr>
          <p:cNvSpPr txBox="1"/>
          <p:nvPr/>
        </p:nvSpPr>
        <p:spPr>
          <a:xfrm>
            <a:off x="518865" y="11362155"/>
            <a:ext cx="9587407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Receiver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Receiver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ageChanged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CCD9A2-F191-0B18-2D63-3F018F42DD18}"/>
              </a:ext>
            </a:extLst>
          </p:cNvPr>
          <p:cNvSpPr txBox="1"/>
          <p:nvPr/>
        </p:nvSpPr>
        <p:spPr>
          <a:xfrm>
            <a:off x="2756703" y="297679"/>
            <a:ext cx="5312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>
                <a:solidFill>
                  <a:schemeClr val="accent3"/>
                </a:solidFill>
              </a:rPr>
              <a:t>自定义信号和槽</a:t>
            </a:r>
            <a:endParaRPr lang="zh-CN" altLang="en-US" sz="18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34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657830" y="851699"/>
            <a:ext cx="9309477" cy="86792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"Quit"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setGeometry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quitBtn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//setMouseTracking(true);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lang="en-US" altLang="zh-CN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Key_Escape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mouseMoveEvent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QMouseEvent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"坐标"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","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…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//头文件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protected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Q_DECL_OVERRIDE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8000"/>
                </a:solidFill>
                <a:effectLst/>
              </a:rPr>
              <a:t>void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 i="1">
                <a:solidFill>
                  <a:srgbClr val="00677C"/>
                </a:solidFill>
                <a:effectLst/>
              </a:rPr>
              <a:t>moveEvent</a:t>
            </a:r>
            <a:r>
              <a:rPr lang="en-US" altLang="zh-CN"/>
              <a:t>(</a:t>
            </a:r>
            <a:r>
              <a:rPr lang="en-US" altLang="zh-CN">
                <a:solidFill>
                  <a:srgbClr val="800080"/>
                </a:solidFill>
                <a:effectLst/>
              </a:rPr>
              <a:t>QMoveEvent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*</a:t>
            </a:r>
            <a:r>
              <a:rPr lang="en-US" altLang="zh-CN" b="1">
                <a:solidFill>
                  <a:srgbClr val="092E64"/>
                </a:solidFill>
                <a:effectLst/>
              </a:rPr>
              <a:t>e</a:t>
            </a:r>
            <a:r>
              <a:rPr lang="en-US" altLang="zh-CN"/>
              <a:t>)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0080"/>
                </a:solidFill>
                <a:effectLst/>
              </a:rPr>
              <a:t>Q_DECL_OVERRIDE</a:t>
            </a:r>
            <a:r>
              <a:rPr lang="en-US" altLang="zh-CN"/>
              <a:t>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6B0CA5-93E6-32D1-3EE0-F2D219B4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76174E9-EA3B-2B78-5689-149F11B4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667444-4492-ECE8-9DA0-CE72BD1E2177}"/>
              </a:ext>
            </a:extLst>
          </p:cNvPr>
          <p:cNvSpPr txBox="1"/>
          <p:nvPr/>
        </p:nvSpPr>
        <p:spPr>
          <a:xfrm>
            <a:off x="2658090" y="345086"/>
            <a:ext cx="5312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accent3"/>
                </a:solidFill>
              </a:rPr>
              <a:t>鼠标键盘响应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FA975C-7FC8-6B0F-099A-883B5A4E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30" y="3475831"/>
            <a:ext cx="22764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60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733383" y="789241"/>
            <a:ext cx="9309477" cy="108952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setCentralWidget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clickBtn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"点击"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QCheckBox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QCheckBox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"Connect"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setCheckState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Checked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QHBoxLayout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QHBoxLayout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clickBtn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startTimer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clickBtn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onClick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QCheckBox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stateChanged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onCheck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onClick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"按钮被点击"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onCheck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statusBar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Checked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clickBtn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onClick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disconnect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clickBtn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clicked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onClick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Q_UNUSED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currentTime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BF7DB5-157A-E35B-518C-F1D9895E2EF8}"/>
              </a:ext>
            </a:extLst>
          </p:cNvPr>
          <p:cNvSpPr txBox="1"/>
          <p:nvPr/>
        </p:nvSpPr>
        <p:spPr>
          <a:xfrm>
            <a:off x="2656180" y="244368"/>
            <a:ext cx="5312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accent3"/>
                </a:solidFill>
              </a:rPr>
              <a:t>内置信号连接自定义槽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236F70-6A79-4284-5CBA-4299D880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816" y="3109166"/>
            <a:ext cx="3130209" cy="284196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3276181-6E62-D27C-49A2-74D5D0656AAE}"/>
              </a:ext>
            </a:extLst>
          </p:cNvPr>
          <p:cNvSpPr txBox="1"/>
          <p:nvPr/>
        </p:nvSpPr>
        <p:spPr>
          <a:xfrm>
            <a:off x="3371781" y="4990992"/>
            <a:ext cx="355120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QMainWindow有自己的布局。布局有一个中心区域，可以被任何类型的</a:t>
            </a:r>
            <a:r>
              <a:rPr lang="en-US" altLang="zh-CN"/>
              <a:t>widget</a:t>
            </a:r>
            <a:r>
              <a:rPr lang="zh-CN" altLang="en-US"/>
              <a:t>占用。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1A048B-300B-5CBA-BBB0-35D6E2E7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995" y="1509655"/>
            <a:ext cx="26098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1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272CF75-CFD0-B103-5368-B7031BB327AC}"/>
              </a:ext>
            </a:extLst>
          </p:cNvPr>
          <p:cNvSpPr txBox="1"/>
          <p:nvPr/>
        </p:nvSpPr>
        <p:spPr>
          <a:xfrm>
            <a:off x="1012209" y="1608723"/>
            <a:ext cx="8640501" cy="44012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 Q_PROPERTY(</a:t>
            </a:r>
            <a:r>
              <a:rPr lang="zh-CN" altLang="en-US" sz="2000">
                <a:solidFill>
                  <a:schemeClr val="bg1"/>
                </a:solidFill>
                <a:highlight>
                  <a:srgbClr val="800000"/>
                </a:highlight>
              </a:rPr>
              <a:t>type</a:t>
            </a:r>
            <a:r>
              <a:rPr lang="zh-CN" altLang="en-US" sz="2000">
                <a:solidFill>
                  <a:schemeClr val="bg1"/>
                </a:solidFill>
              </a:rPr>
              <a:t> </a:t>
            </a:r>
            <a:r>
              <a:rPr lang="zh-CN" altLang="en-US" sz="2000">
                <a:solidFill>
                  <a:schemeClr val="bg1"/>
                </a:solidFill>
                <a:highlight>
                  <a:srgbClr val="FF0000"/>
                </a:highlight>
              </a:rPr>
              <a:t>name</a:t>
            </a:r>
            <a:r>
              <a:rPr lang="zh-CN" altLang="en-US" sz="2000">
                <a:solidFill>
                  <a:schemeClr val="bg1"/>
                </a:solidFill>
              </a:rPr>
              <a:t>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lang="en-US" altLang="zh-CN" sz="2000">
                <a:solidFill>
                  <a:schemeClr val="bg1"/>
                </a:solidFill>
              </a:rPr>
              <a:t>(</a:t>
            </a:r>
            <a:r>
              <a:rPr lang="zh-CN" altLang="en-US" sz="2000">
                <a:solidFill>
                  <a:srgbClr val="FFC000"/>
                </a:solidFill>
              </a:rPr>
              <a:t>READ</a:t>
            </a:r>
            <a:r>
              <a:rPr lang="zh-CN" altLang="en-US" sz="2000">
                <a:solidFill>
                  <a:schemeClr val="bg1"/>
                </a:solidFill>
              </a:rPr>
              <a:t> getFunction [</a:t>
            </a:r>
            <a:r>
              <a:rPr lang="zh-CN" altLang="en-US" sz="2000">
                <a:solidFill>
                  <a:srgbClr val="FFC000"/>
                </a:solidFill>
              </a:rPr>
              <a:t>WRITE</a:t>
            </a:r>
            <a:r>
              <a:rPr lang="zh-CN" altLang="en-US" sz="2000">
                <a:solidFill>
                  <a:schemeClr val="bg1"/>
                </a:solidFill>
              </a:rPr>
              <a:t> setFunction]</a:t>
            </a:r>
            <a:r>
              <a:rPr lang="en-US" altLang="zh-CN" sz="2000">
                <a:solidFill>
                  <a:schemeClr val="bg1"/>
                </a:solidFill>
              </a:rPr>
              <a:t>|</a:t>
            </a: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 </a:t>
            </a:r>
            <a:r>
              <a:rPr lang="en-US" altLang="zh-CN" sz="2000">
                <a:solidFill>
                  <a:srgbClr val="FFC000"/>
                </a:solidFill>
              </a:rPr>
              <a:t>MEMBER</a:t>
            </a:r>
            <a:r>
              <a:rPr lang="en-US" altLang="zh-CN" sz="2000">
                <a:solidFill>
                  <a:schemeClr val="bg1"/>
                </a:solidFill>
              </a:rPr>
              <a:t> memberName[(</a:t>
            </a:r>
            <a:r>
              <a:rPr lang="zh-CN" altLang="en-US" sz="2000">
                <a:solidFill>
                  <a:srgbClr val="FFC000"/>
                </a:solidFill>
              </a:rPr>
              <a:t>READ</a:t>
            </a:r>
            <a:r>
              <a:rPr lang="en-US" altLang="zh-CN" sz="2000">
                <a:solidFill>
                  <a:schemeClr val="bg1"/>
                </a:solidFill>
              </a:rPr>
              <a:t> getFunction | </a:t>
            </a:r>
            <a:r>
              <a:rPr lang="zh-CN" altLang="en-US" sz="2000">
                <a:solidFill>
                  <a:srgbClr val="FFC000"/>
                </a:solidFill>
              </a:rPr>
              <a:t>WRITE</a:t>
            </a:r>
            <a:r>
              <a:rPr lang="en-US" altLang="zh-CN" sz="2000">
                <a:solidFill>
                  <a:schemeClr val="bg1"/>
                </a:solidFill>
              </a:rPr>
              <a:t> setFunction)] )</a:t>
            </a: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RESET</a:t>
            </a:r>
            <a:r>
              <a:rPr lang="zh-CN" altLang="en-US" sz="2000">
                <a:solidFill>
                  <a:schemeClr val="bg1"/>
                </a:solidFill>
              </a:rPr>
              <a:t> resetFunction]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NOTIFY</a:t>
            </a:r>
            <a:r>
              <a:rPr lang="zh-CN" altLang="en-US" sz="2000">
                <a:solidFill>
                  <a:schemeClr val="bg1"/>
                </a:solidFill>
              </a:rPr>
              <a:t> notifySignal]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lang="en-US" altLang="zh-CN" sz="2000">
                <a:solidFill>
                  <a:schemeClr val="bg1"/>
                </a:solidFill>
              </a:rPr>
              <a:t>[</a:t>
            </a:r>
            <a:r>
              <a:rPr lang="en-US" altLang="zh-CN" sz="2000">
                <a:solidFill>
                  <a:srgbClr val="FFC000"/>
                </a:solidFill>
              </a:rPr>
              <a:t>REVISION</a:t>
            </a:r>
            <a:r>
              <a:rPr lang="en-US" altLang="zh-CN" sz="2000">
                <a:solidFill>
                  <a:schemeClr val="bg1"/>
                </a:solidFill>
              </a:rPr>
              <a:t> int | </a:t>
            </a:r>
            <a:r>
              <a:rPr lang="en-US" altLang="zh-CN" sz="2000">
                <a:solidFill>
                  <a:srgbClr val="FFC000"/>
                </a:solidFill>
              </a:rPr>
              <a:t>REVISION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(int[, int])]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DESIGNABLE</a:t>
            </a:r>
            <a:r>
              <a:rPr lang="zh-CN" altLang="en-US" sz="2000">
                <a:solidFill>
                  <a:schemeClr val="bg1"/>
                </a:solidFill>
              </a:rPr>
              <a:t> bool]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SCRIPTABLE</a:t>
            </a:r>
            <a:r>
              <a:rPr lang="zh-CN" altLang="en-US" sz="2000">
                <a:solidFill>
                  <a:schemeClr val="bg1"/>
                </a:solidFill>
              </a:rPr>
              <a:t> bool]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STORED</a:t>
            </a:r>
            <a:r>
              <a:rPr lang="zh-CN" altLang="en-US" sz="2000">
                <a:solidFill>
                  <a:schemeClr val="bg1"/>
                </a:solidFill>
              </a:rPr>
              <a:t> bool]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USER</a:t>
            </a:r>
            <a:r>
              <a:rPr lang="zh-CN" altLang="en-US" sz="2000">
                <a:solidFill>
                  <a:schemeClr val="bg1"/>
                </a:solidFill>
              </a:rPr>
              <a:t> bool]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Arial Unicode MS"/>
              </a:rPr>
              <a:t>[</a:t>
            </a:r>
            <a:r>
              <a:rPr lang="zh-CN" altLang="zh-CN" sz="2000">
                <a:solidFill>
                  <a:srgbClr val="FFC000"/>
                </a:solidFill>
                <a:highlight>
                  <a:srgbClr val="FF0000"/>
                </a:highlight>
              </a:rPr>
              <a:t>BINDABLE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0000"/>
                </a:highlight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latin typeface="Arial Unicode MS"/>
              </a:rPr>
              <a:t>bindableProperty]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</a:rPr>
              <a:t> </a:t>
            </a:r>
            <a:endParaRPr lang="en-US" altLang="zh-CN" sz="2000">
              <a:solidFill>
                <a:schemeClr val="bg1"/>
              </a:solidFill>
              <a:highlight>
                <a:srgbClr val="FF0000"/>
              </a:highlight>
            </a:endParaRP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CONSTANT</a:t>
            </a:r>
            <a:r>
              <a:rPr lang="zh-CN" altLang="en-US" sz="2000">
                <a:solidFill>
                  <a:schemeClr val="bg1"/>
                </a:solidFill>
              </a:rPr>
              <a:t>] 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lang="zh-CN" altLang="en-US" sz="2000">
                <a:solidFill>
                  <a:schemeClr val="bg1"/>
                </a:solidFill>
              </a:rPr>
              <a:t>[</a:t>
            </a:r>
            <a:r>
              <a:rPr lang="zh-CN" altLang="en-US" sz="2000">
                <a:solidFill>
                  <a:srgbClr val="FFC000"/>
                </a:solidFill>
              </a:rPr>
              <a:t>FINAL</a:t>
            </a:r>
            <a:r>
              <a:rPr lang="zh-CN" altLang="en-US" sz="2000">
                <a:solidFill>
                  <a:schemeClr val="bg1"/>
                </a:solidFill>
              </a:rPr>
              <a:t>]</a:t>
            </a:r>
            <a:endParaRPr lang="en-US" altLang="zh-CN" sz="2000">
              <a:solidFill>
                <a:schemeClr val="bg1"/>
              </a:solidFill>
            </a:endParaRPr>
          </a:p>
          <a:p>
            <a:pPr lvl="3"/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[</a:t>
            </a:r>
            <a:r>
              <a:rPr lang="zh-CN" altLang="zh-CN" sz="2000">
                <a:solidFill>
                  <a:srgbClr val="FFC000"/>
                </a:solidFill>
              </a:rPr>
              <a:t>REQUIRED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])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93BE1E-F6A5-A0B9-459D-7A13C46628B9}"/>
              </a:ext>
            </a:extLst>
          </p:cNvPr>
          <p:cNvSpPr txBox="1"/>
          <p:nvPr/>
        </p:nvSpPr>
        <p:spPr>
          <a:xfrm>
            <a:off x="936685" y="772542"/>
            <a:ext cx="9294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要声明属性，请在继承</a:t>
            </a:r>
            <a:r>
              <a:rPr lang="en-US" altLang="zh-CN" sz="2000">
                <a:solidFill>
                  <a:schemeClr val="bg1"/>
                </a:solidFill>
              </a:rPr>
              <a:t>QObject</a:t>
            </a:r>
            <a:r>
              <a:rPr lang="zh-CN" altLang="en-US" sz="2000">
                <a:solidFill>
                  <a:schemeClr val="bg1"/>
                </a:solidFill>
              </a:rPr>
              <a:t>的类中使用Q_PROPERTY</a:t>
            </a:r>
            <a:r>
              <a:rPr lang="en-US" altLang="zh-CN" sz="2000">
                <a:solidFill>
                  <a:schemeClr val="bg1"/>
                </a:solidFill>
              </a:rPr>
              <a:t>()</a:t>
            </a:r>
            <a:r>
              <a:rPr lang="zh-CN" altLang="en-US" sz="2000">
                <a:solidFill>
                  <a:schemeClr val="bg1"/>
                </a:solidFill>
              </a:rPr>
              <a:t>宏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Q_PROPERTY宏定义一个返回类型为</a:t>
            </a:r>
            <a:r>
              <a:rPr lang="en-US" altLang="zh-CN" sz="2000">
                <a:solidFill>
                  <a:schemeClr val="bg1"/>
                </a:solidFill>
                <a:highlight>
                  <a:srgbClr val="800000"/>
                </a:highlight>
              </a:rPr>
              <a:t>type</a:t>
            </a:r>
            <a:r>
              <a:rPr lang="zh-CN" altLang="en-US" sz="2000">
                <a:solidFill>
                  <a:schemeClr val="bg1"/>
                </a:solidFill>
              </a:rPr>
              <a:t>，名称为</a:t>
            </a:r>
            <a:r>
              <a:rPr lang="en-US" altLang="zh-CN" sz="2000">
                <a:solidFill>
                  <a:schemeClr val="bg1"/>
                </a:solidFill>
                <a:highlight>
                  <a:srgbClr val="FF0000"/>
                </a:highlight>
              </a:rPr>
              <a:t>name</a:t>
            </a:r>
            <a:r>
              <a:rPr lang="zh-CN" altLang="en-US" sz="2000">
                <a:solidFill>
                  <a:schemeClr val="bg1"/>
                </a:solidFill>
              </a:rPr>
              <a:t>的属性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3E32B4-5F5A-E390-5363-5F62494DFF35}"/>
              </a:ext>
            </a:extLst>
          </p:cNvPr>
          <p:cNvSpPr txBox="1"/>
          <p:nvPr/>
        </p:nvSpPr>
        <p:spPr>
          <a:xfrm>
            <a:off x="640868" y="254086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3"/>
                </a:solidFill>
              </a:rPr>
              <a:t>属性系统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3A4F36-775A-9081-4470-518506C0FA13}"/>
              </a:ext>
            </a:extLst>
          </p:cNvPr>
          <p:cNvSpPr txBox="1"/>
          <p:nvPr/>
        </p:nvSpPr>
        <p:spPr>
          <a:xfrm>
            <a:off x="6531423" y="3809325"/>
            <a:ext cx="3283926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属性的行为类似于类成员，但具有元对象系统的其他特性。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024A81-3324-8B53-476F-5C127A944C8E}"/>
              </a:ext>
            </a:extLst>
          </p:cNvPr>
          <p:cNvSpPr/>
          <p:nvPr/>
        </p:nvSpPr>
        <p:spPr>
          <a:xfrm>
            <a:off x="753045" y="9727623"/>
            <a:ext cx="9086126" cy="1467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*button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*object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button;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object-&gt;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setProperty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"flat"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isFlat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object-&gt;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property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"flat"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F63405-98A5-CECC-E619-714A256CC654}"/>
              </a:ext>
            </a:extLst>
          </p:cNvPr>
          <p:cNvSpPr/>
          <p:nvPr/>
        </p:nvSpPr>
        <p:spPr>
          <a:xfrm>
            <a:off x="6047776" y="10035397"/>
            <a:ext cx="3931920" cy="7010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setProperty</a:t>
            </a:r>
            <a:r>
              <a:rPr lang="zh-CN" altLang="en-US"/>
              <a:t>可以在运行时为类定义一个新的属性，称之为动态属性</a:t>
            </a:r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C186CA-70C4-0DF5-3C7D-617F26E5E83B}"/>
              </a:ext>
            </a:extLst>
          </p:cNvPr>
          <p:cNvSpPr txBox="1"/>
          <p:nvPr/>
        </p:nvSpPr>
        <p:spPr>
          <a:xfrm>
            <a:off x="664690" y="6307076"/>
            <a:ext cx="9294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通过查询类的</a:t>
            </a:r>
            <a:r>
              <a:rPr lang="zh-CN" altLang="en-US" b="1">
                <a:highlight>
                  <a:srgbClr val="00FF00"/>
                </a:highlight>
              </a:rPr>
              <a:t>QObject</a:t>
            </a:r>
            <a:r>
              <a:rPr lang="zh-CN" altLang="en-US" b="1">
                <a:solidFill>
                  <a:schemeClr val="bg1"/>
                </a:solidFill>
              </a:rPr>
              <a:t>、</a:t>
            </a:r>
            <a:r>
              <a:rPr lang="zh-CN" altLang="en-US" b="1">
                <a:highlight>
                  <a:srgbClr val="00FFFF"/>
                </a:highlight>
              </a:rPr>
              <a:t>QMetaObject</a:t>
            </a:r>
            <a:r>
              <a:rPr lang="zh-CN" altLang="en-US" b="1">
                <a:solidFill>
                  <a:schemeClr val="bg1"/>
                </a:solidFill>
              </a:rPr>
              <a:t>、</a:t>
            </a:r>
            <a:r>
              <a:rPr lang="zh-CN" altLang="en-US" b="1">
                <a:highlight>
                  <a:srgbClr val="FFFF00"/>
                </a:highlight>
              </a:rPr>
              <a:t>QMetaProperties</a:t>
            </a:r>
            <a:r>
              <a:rPr lang="zh-CN" altLang="en-US">
                <a:solidFill>
                  <a:schemeClr val="bg1"/>
                </a:solidFill>
              </a:rPr>
              <a:t>，可以在运行时发现类的属性：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03417A-E22F-6658-D202-773FDD2F79D3}"/>
              </a:ext>
            </a:extLst>
          </p:cNvPr>
          <p:cNvSpPr/>
          <p:nvPr/>
        </p:nvSpPr>
        <p:spPr>
          <a:xfrm>
            <a:off x="768862" y="6643663"/>
            <a:ext cx="9086126" cy="27473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...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QMetaObject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</a:rPr>
              <a:t>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-&gt;metaObject();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</a:rPr>
              <a:t>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propertyCount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QMetaProperty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metaproperty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</a:rPr>
              <a:t>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-&gt;property(i);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metaproperty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.name();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QVariant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...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CCBE59-B01E-AF4D-91F5-E7725306C805}"/>
              </a:ext>
            </a:extLst>
          </p:cNvPr>
          <p:cNvSpPr txBox="1"/>
          <p:nvPr/>
        </p:nvSpPr>
        <p:spPr>
          <a:xfrm>
            <a:off x="3862588" y="5148917"/>
            <a:ext cx="615695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可以使用</a:t>
            </a:r>
            <a:r>
              <a:rPr lang="en-US" altLang="zh-CN"/>
              <a:t>QObject::property</a:t>
            </a:r>
            <a:r>
              <a:rPr lang="zh-CN" altLang="en-US"/>
              <a:t>和</a:t>
            </a:r>
            <a:r>
              <a:rPr lang="en-US" altLang="zh-CN"/>
              <a:t>QObject::setProperty</a:t>
            </a:r>
            <a:r>
              <a:rPr lang="zh-CN" altLang="en-US"/>
              <a:t>读取和写入属性，而不需要知道除属性名称以外的关于类的任何信息。</a:t>
            </a:r>
          </a:p>
        </p:txBody>
      </p:sp>
    </p:spTree>
    <p:extLst>
      <p:ext uri="{BB962C8B-B14F-4D97-AF65-F5344CB8AC3E}">
        <p14:creationId xmlns:p14="http://schemas.microsoft.com/office/powerpoint/2010/main" val="51525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19226238-8B89-5226-EC77-0DF95853487B}"/>
              </a:ext>
            </a:extLst>
          </p:cNvPr>
          <p:cNvSpPr txBox="1"/>
          <p:nvPr/>
        </p:nvSpPr>
        <p:spPr>
          <a:xfrm>
            <a:off x="992318" y="643155"/>
            <a:ext cx="9076242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&lt;QObject&gt;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00FF00"/>
                </a:highlight>
              </a:rPr>
              <a:t>Q_PROPERTY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00FF00"/>
                </a:highlight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WRITE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setPriority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00FF00"/>
                </a:highlight>
              </a:rPr>
              <a:t>NOTIFY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priorityChanged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)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0080"/>
                </a:solidFill>
                <a:effectLst/>
              </a:rPr>
              <a:t>Q_CLASSINFO</a:t>
            </a:r>
            <a:r>
              <a:rPr lang="en-US" altLang="zh-CN"/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"author"</a:t>
            </a:r>
            <a:r>
              <a:rPr lang="en-US" altLang="zh-CN"/>
              <a:t>,</a:t>
            </a:r>
            <a:r>
              <a:rPr lang="en-US" altLang="zh-CN">
                <a:solidFill>
                  <a:srgbClr val="008000"/>
                </a:solidFill>
                <a:effectLst/>
              </a:rPr>
              <a:t>"Arxibye"</a:t>
            </a:r>
            <a:r>
              <a:rPr lang="en-US" altLang="zh-CN"/>
              <a:t>)</a:t>
            </a: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Q_CLASSINFO</a:t>
            </a:r>
            <a:r>
              <a:rPr lang="en-US" altLang="zh-CN"/>
              <a:t>(</a:t>
            </a:r>
            <a:r>
              <a:rPr lang="en-US" altLang="zh-CN">
                <a:solidFill>
                  <a:srgbClr val="008000"/>
                </a:solidFill>
                <a:effectLst/>
              </a:rPr>
              <a:t>"Version"</a:t>
            </a:r>
            <a:r>
              <a:rPr lang="en-US" altLang="zh-CN"/>
              <a:t>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"3.0.0"</a:t>
            </a:r>
            <a:r>
              <a:rPr lang="en-US" altLang="zh-CN"/>
              <a:t>)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High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Low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VeryHigh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VeryLow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Q_ENUM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lang="zh-CN" altLang="zh-CN">
                <a:solidFill>
                  <a:srgbClr val="008000"/>
                </a:solidFill>
              </a:rPr>
              <a:t>//使枚举值作为字符串，以便在调用setProperty（）时使用</a:t>
            </a:r>
            <a:r>
              <a:rPr lang="zh-CN" altLang="zh-CN">
                <a:solidFill>
                  <a:schemeClr val="tx1"/>
                </a:solidFill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rPr>
              <a:t>setPriority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emit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priorityChanged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chemeClr val="tx1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m_priority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signals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priorityChanged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00FF00"/>
                </a:highlight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highlight>
                  <a:srgbClr val="00FF00"/>
                </a:highlight>
              </a:rPr>
              <a:t>m_priority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EFB234-D699-7921-0A50-5BDF2B539DDF}"/>
              </a:ext>
            </a:extLst>
          </p:cNvPr>
          <p:cNvSpPr txBox="1"/>
          <p:nvPr/>
        </p:nvSpPr>
        <p:spPr>
          <a:xfrm>
            <a:off x="1210188" y="6829464"/>
            <a:ext cx="8640501" cy="7294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&lt;QCoreApplication&gt;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&lt;QDebug&gt;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&lt;QVariant&gt;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00080"/>
                </a:solidFill>
                <a:effectLst/>
              </a:rPr>
              <a:t>#include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&lt;QMetaClassInfo&gt;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"myclass.h"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QCoreApplication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rPr>
              <a:t>setPriority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VeryLow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"priority"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"VeryHigh"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"isGood"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rPr>
              <a:t>priority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property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"isGood"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qInfo</a:t>
            </a:r>
            <a:r>
              <a:rPr lang="en-US" altLang="zh-CN"/>
              <a:t>()&lt;&lt;</a:t>
            </a:r>
            <a:r>
              <a:rPr lang="en-US" altLang="zh-CN">
                <a:solidFill>
                  <a:srgbClr val="092E64"/>
                </a:solidFill>
                <a:effectLst/>
              </a:rPr>
              <a:t>myinstance</a:t>
            </a:r>
            <a:r>
              <a:rPr lang="en-US" altLang="zh-CN"/>
              <a:t>-&gt;</a:t>
            </a:r>
            <a:r>
              <a:rPr lang="en-US" altLang="zh-CN" i="1">
                <a:solidFill>
                  <a:srgbClr val="00677C"/>
                </a:solidFill>
                <a:effectLst/>
              </a:rPr>
              <a:t>metaObject</a:t>
            </a:r>
            <a:r>
              <a:rPr lang="en-US" altLang="zh-CN"/>
              <a:t>()-&gt;</a:t>
            </a:r>
            <a:r>
              <a:rPr lang="en-US" altLang="zh-CN">
                <a:solidFill>
                  <a:srgbClr val="00677C"/>
                </a:solidFill>
                <a:effectLst/>
              </a:rPr>
              <a:t>classInfo</a:t>
            </a:r>
            <a:r>
              <a:rPr lang="en-US" altLang="zh-CN"/>
              <a:t>(</a:t>
            </a:r>
            <a:r>
              <a:rPr lang="en-US" altLang="zh-CN">
                <a:solidFill>
                  <a:srgbClr val="000080"/>
                </a:solidFill>
                <a:effectLst/>
              </a:rPr>
              <a:t>0</a:t>
            </a:r>
            <a:r>
              <a:rPr lang="en-US" altLang="zh-CN"/>
              <a:t>).</a:t>
            </a:r>
            <a:r>
              <a:rPr lang="en-US" altLang="zh-CN">
                <a:solidFill>
                  <a:srgbClr val="00677C"/>
                </a:solidFill>
                <a:effectLst/>
              </a:rPr>
              <a:t>name</a:t>
            </a:r>
            <a:r>
              <a:rPr lang="en-US" altLang="zh-CN"/>
              <a:t>();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classInfo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classInfo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classInfo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F3AFAE-35B5-4CF4-C8F3-7AA8CFA4EAF9}"/>
              </a:ext>
            </a:extLst>
          </p:cNvPr>
          <p:cNvSpPr txBox="1"/>
          <p:nvPr/>
        </p:nvSpPr>
        <p:spPr>
          <a:xfrm>
            <a:off x="6751320" y="4523046"/>
            <a:ext cx="3205480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MyClass::VeryHigh</a:t>
            </a:r>
          </a:p>
          <a:p>
            <a:r>
              <a:rPr lang="en-US" altLang="zh-CN"/>
              <a:t>QVariant(bool, false)</a:t>
            </a:r>
          </a:p>
          <a:p>
            <a:r>
              <a:rPr lang="en-US" altLang="zh-CN"/>
              <a:t>author</a:t>
            </a:r>
          </a:p>
          <a:p>
            <a:r>
              <a:rPr lang="en-US" altLang="zh-CN"/>
              <a:t>Arxibye</a:t>
            </a:r>
          </a:p>
          <a:p>
            <a:r>
              <a:rPr lang="en-US" altLang="zh-CN"/>
              <a:t>Version</a:t>
            </a:r>
          </a:p>
          <a:p>
            <a:r>
              <a:rPr lang="en-US" altLang="zh-CN"/>
              <a:t>3.0.0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2844AE-4759-C0F5-2A32-54D93A478ACE}"/>
              </a:ext>
            </a:extLst>
          </p:cNvPr>
          <p:cNvSpPr txBox="1"/>
          <p:nvPr/>
        </p:nvSpPr>
        <p:spPr>
          <a:xfrm>
            <a:off x="2874869" y="273823"/>
            <a:ext cx="5311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>
                <a:solidFill>
                  <a:schemeClr val="accent3"/>
                </a:solidFill>
              </a:rPr>
              <a:t>Q_PROPERTY</a:t>
            </a:r>
            <a:r>
              <a:rPr lang="zh-CN" altLang="en-US" b="1">
                <a:solidFill>
                  <a:schemeClr val="accent3"/>
                </a:solidFill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85673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D2844AE-4759-C0F5-2A32-54D93A478ACE}"/>
              </a:ext>
            </a:extLst>
          </p:cNvPr>
          <p:cNvSpPr txBox="1"/>
          <p:nvPr/>
        </p:nvSpPr>
        <p:spPr>
          <a:xfrm>
            <a:off x="2775809" y="254307"/>
            <a:ext cx="5311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>
                <a:solidFill>
                  <a:schemeClr val="accent3"/>
                </a:solidFill>
              </a:rPr>
              <a:t>使用智能指针完善程序</a:t>
            </a:r>
            <a:endParaRPr lang="zh-CN" altLang="en-US" b="1">
              <a:solidFill>
                <a:schemeClr val="accent3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90092F-27A9-0AFD-9C2A-2BB8EDA60B6A}"/>
              </a:ext>
            </a:extLst>
          </p:cNvPr>
          <p:cNvSpPr txBox="1"/>
          <p:nvPr/>
        </p:nvSpPr>
        <p:spPr>
          <a:xfrm>
            <a:off x="635913" y="804178"/>
            <a:ext cx="9353312" cy="25378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QSharedPointer</a:t>
            </a:r>
            <a:r>
              <a:rPr lang="zh-CN" altLang="en-US"/>
              <a:t>是C++中的一个自动共享指针。它的行为与普通指针完全相同，包括</a:t>
            </a:r>
            <a:r>
              <a:rPr lang="en-US" altLang="zh-CN"/>
              <a:t>const</a:t>
            </a:r>
            <a:r>
              <a:rPr lang="zh-CN" altLang="en-US"/>
              <a:t>约束的使用。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如果没有其他</a:t>
            </a:r>
            <a:r>
              <a:rPr lang="en-US" altLang="zh-CN">
                <a:highlight>
                  <a:srgbClr val="00FF00"/>
                </a:highlight>
              </a:rPr>
              <a:t>QSharedPointer</a:t>
            </a:r>
            <a:r>
              <a:rPr lang="zh-CN" altLang="en-US"/>
              <a:t>对象引用它，当它超出范围时，</a:t>
            </a:r>
            <a:r>
              <a:rPr lang="en-US" altLang="zh-CN">
                <a:highlight>
                  <a:srgbClr val="00FF00"/>
                </a:highlight>
              </a:rPr>
              <a:t>QSharedPointer</a:t>
            </a:r>
            <a:r>
              <a:rPr lang="zh-CN" altLang="en-US"/>
              <a:t>将删除它所持有的指针（即回收指向的内存）。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QSharedPointer</a:t>
            </a:r>
            <a:r>
              <a:rPr lang="zh-CN" altLang="en-US"/>
              <a:t>对象可以从普通指针、另一个</a:t>
            </a:r>
            <a:r>
              <a:rPr lang="zh-CN" altLang="en-US">
                <a:highlight>
                  <a:srgbClr val="00FF00"/>
                </a:highlight>
              </a:rPr>
              <a:t>QSharedPointer</a:t>
            </a:r>
            <a:r>
              <a:rPr lang="zh-CN" altLang="en-US"/>
              <a:t>对象或通过将</a:t>
            </a:r>
            <a:r>
              <a:rPr lang="zh-CN" altLang="en-US">
                <a:highlight>
                  <a:srgbClr val="00FFFF"/>
                </a:highlight>
              </a:rPr>
              <a:t>QWeakPointer</a:t>
            </a:r>
            <a:r>
              <a:rPr lang="zh-CN" altLang="en-US"/>
              <a:t>对象提升为强引用来创建。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2D5615-DE10-2200-F392-A6404DB1FEDE}"/>
              </a:ext>
            </a:extLst>
          </p:cNvPr>
          <p:cNvSpPr txBox="1"/>
          <p:nvPr/>
        </p:nvSpPr>
        <p:spPr>
          <a:xfrm>
            <a:off x="807006" y="3703130"/>
            <a:ext cx="901112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QSharedPointer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QSharedPointer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MyClass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myinstance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13EAB5-FE8C-E3ED-D55B-1A8819E7E22C}"/>
              </a:ext>
            </a:extLst>
          </p:cNvPr>
          <p:cNvSpPr txBox="1"/>
          <p:nvPr/>
        </p:nvSpPr>
        <p:spPr>
          <a:xfrm>
            <a:off x="807006" y="4710539"/>
            <a:ext cx="901112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&lt;QThread&gt;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&lt;iostream&gt;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Thread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QThread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run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while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isQ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E5C00"/>
                </a:solidFill>
                <a:effectLst/>
                <a:latin typeface="Arial Unicode MS"/>
              </a:rPr>
              <a:t>cin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&gt;&gt;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isQ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isQ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compare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"Q"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2C4C4D-AA50-338E-04CC-15378EE3C6E2}"/>
              </a:ext>
            </a:extLst>
          </p:cNvPr>
          <p:cNvSpPr txBox="1"/>
          <p:nvPr/>
        </p:nvSpPr>
        <p:spPr>
          <a:xfrm>
            <a:off x="807006" y="9041935"/>
            <a:ext cx="901112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mythread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mythread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start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mythread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Thread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finished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QCoreApplication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quit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831AB5-DB3C-676F-D551-FD1A20F4AACE}"/>
              </a:ext>
            </a:extLst>
          </p:cNvPr>
          <p:cNvSpPr txBox="1"/>
          <p:nvPr/>
        </p:nvSpPr>
        <p:spPr>
          <a:xfrm>
            <a:off x="723900" y="3342052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创建指针指针：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081960-821B-18A3-E69C-6A39842BF054}"/>
              </a:ext>
            </a:extLst>
          </p:cNvPr>
          <p:cNvSpPr txBox="1"/>
          <p:nvPr/>
        </p:nvSpPr>
        <p:spPr>
          <a:xfrm>
            <a:off x="807006" y="4349461"/>
            <a:ext cx="3692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创建一个按“</a:t>
            </a:r>
            <a:r>
              <a:rPr lang="en-US" altLang="zh-CN" sz="2000">
                <a:solidFill>
                  <a:schemeClr val="bg1"/>
                </a:solidFill>
              </a:rPr>
              <a:t>Q</a:t>
            </a:r>
            <a:r>
              <a:rPr lang="zh-CN" altLang="en-US" sz="2000">
                <a:solidFill>
                  <a:schemeClr val="bg1"/>
                </a:solidFill>
              </a:rPr>
              <a:t>”退出的线程：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4F05D3-3AED-61E7-A2C6-DA7F9BCDA501}"/>
              </a:ext>
            </a:extLst>
          </p:cNvPr>
          <p:cNvSpPr txBox="1"/>
          <p:nvPr/>
        </p:nvSpPr>
        <p:spPr>
          <a:xfrm>
            <a:off x="807006" y="8680857"/>
            <a:ext cx="23310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使用</a:t>
            </a:r>
            <a:r>
              <a:rPr lang="en-US" altLang="zh-CN" sz="2000">
                <a:solidFill>
                  <a:schemeClr val="bg1"/>
                </a:solidFill>
              </a:rPr>
              <a:t>Connect</a:t>
            </a:r>
            <a:r>
              <a:rPr lang="zh-CN" altLang="en-US" sz="2000">
                <a:solidFill>
                  <a:schemeClr val="bg1"/>
                </a:solidFill>
              </a:rPr>
              <a:t>关联：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178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5531</TotalTime>
  <Words>2732</Words>
  <Application>Microsoft Office PowerPoint</Application>
  <PresentationFormat>自定义</PresentationFormat>
  <Paragraphs>306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 Unicode MS</vt:lpstr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1471</cp:revision>
  <dcterms:created xsi:type="dcterms:W3CDTF">2020-06-26T01:00:00Z</dcterms:created>
  <dcterms:modified xsi:type="dcterms:W3CDTF">2022-07-14T07:24:57Z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