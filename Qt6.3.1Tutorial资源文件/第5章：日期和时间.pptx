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9"/>
  </p:notesMasterIdLst>
  <p:handoutMasterIdLst>
    <p:handoutMasterId r:id="rId10"/>
  </p:handoutMasterIdLst>
  <p:sldIdLst>
    <p:sldId id="258" r:id="rId3"/>
    <p:sldId id="330" r:id="rId4"/>
    <p:sldId id="333" r:id="rId5"/>
    <p:sldId id="331" r:id="rId6"/>
    <p:sldId id="334" r:id="rId7"/>
    <p:sldId id="336" r:id="rId8"/>
  </p:sldIdLst>
  <p:sldSz cx="10625138" cy="14400213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">
          <p15:clr>
            <a:srgbClr val="A4A3A4"/>
          </p15:clr>
        </p15:guide>
        <p15:guide id="2" orient="horz" pos="45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3" autoAdjust="0"/>
    <p:restoredTop sz="95244" autoAdjust="0"/>
  </p:normalViewPr>
  <p:slideViewPr>
    <p:cSldViewPr snapToGrid="0" showGuides="1">
      <p:cViewPr>
        <p:scale>
          <a:sx n="100" d="100"/>
          <a:sy n="100" d="100"/>
        </p:scale>
        <p:origin x="480" y="-518"/>
      </p:cViewPr>
      <p:guideLst>
        <p:guide pos="412"/>
        <p:guide orient="horz" pos="45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227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54208-A716-42FF-80CF-57B00CE66560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B86B2-45FA-46FD-932F-E74808AB18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16T02:12:21.3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13B3F-2B31-4A61-B985-2117CDAFE2AD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1143000"/>
            <a:ext cx="2276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0FF05-BDD8-42F0-BA90-04AD6ABB1C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1143000"/>
            <a:ext cx="22764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0FF05-BDD8-42F0-BA90-04AD6ABB1C0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657" y="160559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59041" y="213096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2022/7/16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317" y="253896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05701" y="306433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screen"/>
          <a:srcRect l="3265" t="6325" r="4323" b="12927"/>
          <a:stretch>
            <a:fillRect/>
          </a:stretch>
        </p:blipFill>
        <p:spPr>
          <a:xfrm>
            <a:off x="2191043" y="1088639"/>
            <a:ext cx="6429671" cy="180741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41524" y="1358360"/>
            <a:ext cx="617022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cs typeface="+mn-ea"/>
                <a:sym typeface="+mn-lt"/>
              </a:rPr>
              <a:t>日期和时间</a:t>
            </a:r>
          </a:p>
        </p:txBody>
      </p:sp>
      <p:grpSp>
        <p:nvGrpSpPr>
          <p:cNvPr id="60" name="组合 1274"/>
          <p:cNvGrpSpPr/>
          <p:nvPr/>
        </p:nvGrpSpPr>
        <p:grpSpPr>
          <a:xfrm>
            <a:off x="2441526" y="3237675"/>
            <a:ext cx="338686" cy="261779"/>
            <a:chOff x="5248276" y="1095375"/>
            <a:chExt cx="727075" cy="561976"/>
          </a:xfrm>
        </p:grpSpPr>
        <p:sp>
          <p:nvSpPr>
            <p:cNvPr id="61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2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3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4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5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6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7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8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9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0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1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2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3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4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5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6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7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8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9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0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1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2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3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5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7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8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9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0" name="文本框 89"/>
          <p:cNvSpPr txBox="1"/>
          <p:nvPr/>
        </p:nvSpPr>
        <p:spPr>
          <a:xfrm>
            <a:off x="2833453" y="3140572"/>
            <a:ext cx="2994875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40">
                <a:solidFill>
                  <a:schemeClr val="bg1"/>
                </a:solidFill>
                <a:cs typeface="+mn-ea"/>
                <a:sym typeface="+mn-lt"/>
              </a:rPr>
              <a:t>QT6 C++ 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开发教程</a:t>
            </a:r>
          </a:p>
        </p:txBody>
      </p:sp>
      <p:grpSp>
        <p:nvGrpSpPr>
          <p:cNvPr id="160" name="组合 1274"/>
          <p:cNvGrpSpPr/>
          <p:nvPr/>
        </p:nvGrpSpPr>
        <p:grpSpPr>
          <a:xfrm>
            <a:off x="6245741" y="3237675"/>
            <a:ext cx="338686" cy="261779"/>
            <a:chOff x="5248276" y="1095375"/>
            <a:chExt cx="727075" cy="561976"/>
          </a:xfrm>
        </p:grpSpPr>
        <p:sp>
          <p:nvSpPr>
            <p:cNvPr id="162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5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0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1" name="文本框 160"/>
          <p:cNvSpPr txBox="1"/>
          <p:nvPr/>
        </p:nvSpPr>
        <p:spPr>
          <a:xfrm>
            <a:off x="6637671" y="3140572"/>
            <a:ext cx="1553157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第</a:t>
            </a:r>
            <a:r>
              <a:rPr lang="en-US" altLang="zh-CN" sz="2440">
                <a:solidFill>
                  <a:schemeClr val="bg1"/>
                </a:solidFill>
                <a:cs typeface="+mn-ea"/>
                <a:sym typeface="+mn-lt"/>
              </a:rPr>
              <a:t>2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章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0" grpId="0"/>
      <p:bldP spid="1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7A9E53-8EC5-5992-D310-566A65C9305D}"/>
              </a:ext>
            </a:extLst>
          </p:cNvPr>
          <p:cNvSpPr txBox="1"/>
          <p:nvPr/>
        </p:nvSpPr>
        <p:spPr>
          <a:xfrm>
            <a:off x="4820286" y="281821"/>
            <a:ext cx="1475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accent3"/>
                </a:solidFill>
              </a:rPr>
              <a:t>日期与时间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3C3AD4F-1742-B663-4EA8-1B5F890FC976}"/>
              </a:ext>
            </a:extLst>
          </p:cNvPr>
          <p:cNvSpPr txBox="1"/>
          <p:nvPr/>
        </p:nvSpPr>
        <p:spPr>
          <a:xfrm>
            <a:off x="1141071" y="640004"/>
            <a:ext cx="81127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Qt6</a:t>
            </a:r>
            <a:r>
              <a:rPr lang="zh-CN" altLang="en-US">
                <a:solidFill>
                  <a:schemeClr val="bg1"/>
                </a:solidFill>
              </a:rPr>
              <a:t>有</a:t>
            </a:r>
            <a:r>
              <a:rPr lang="en-US" altLang="zh-CN">
                <a:solidFill>
                  <a:schemeClr val="bg1"/>
                </a:solidFill>
              </a:rPr>
              <a:t>QDate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en-US" altLang="zh-CN">
                <a:solidFill>
                  <a:schemeClr val="bg1"/>
                </a:solidFill>
              </a:rPr>
              <a:t>QTime</a:t>
            </a:r>
            <a:r>
              <a:rPr lang="zh-CN" altLang="en-US">
                <a:solidFill>
                  <a:schemeClr val="bg1"/>
                </a:solidFill>
              </a:rPr>
              <a:t>和</a:t>
            </a:r>
            <a:r>
              <a:rPr lang="en-US" altLang="zh-CN">
                <a:solidFill>
                  <a:schemeClr val="bg1"/>
                </a:solidFill>
              </a:rPr>
              <a:t>QDateTime</a:t>
            </a:r>
            <a:r>
              <a:rPr lang="zh-CN" altLang="en-US">
                <a:solidFill>
                  <a:schemeClr val="bg1"/>
                </a:solidFill>
              </a:rPr>
              <a:t>类来处理日期和时间。</a:t>
            </a:r>
            <a:endParaRPr lang="en-US" altLang="zh-CN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QDate		</a:t>
            </a:r>
            <a:r>
              <a:rPr lang="zh-CN" altLang="en-US">
                <a:solidFill>
                  <a:schemeClr val="bg1"/>
                </a:solidFill>
              </a:rPr>
              <a:t>：用于处理日期的类。</a:t>
            </a:r>
            <a:endParaRPr lang="en-US" altLang="zh-CN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QTime		</a:t>
            </a:r>
            <a:r>
              <a:rPr lang="zh-CN" altLang="en-US">
                <a:solidFill>
                  <a:schemeClr val="bg1"/>
                </a:solidFill>
              </a:rPr>
              <a:t>：用于时钟时间的类。</a:t>
            </a:r>
            <a:endParaRPr lang="en-US" altLang="zh-CN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QDateTime	</a:t>
            </a:r>
            <a:r>
              <a:rPr lang="zh-CN" altLang="en-US">
                <a:solidFill>
                  <a:schemeClr val="bg1"/>
                </a:solidFill>
              </a:rPr>
              <a:t>：将</a:t>
            </a:r>
            <a:r>
              <a:rPr lang="en-US" altLang="zh-CN">
                <a:solidFill>
                  <a:schemeClr val="bg1"/>
                </a:solidFill>
              </a:rPr>
              <a:t>QDate</a:t>
            </a:r>
            <a:r>
              <a:rPr lang="zh-CN" altLang="en-US">
                <a:solidFill>
                  <a:schemeClr val="bg1"/>
                </a:solidFill>
              </a:rPr>
              <a:t>和</a:t>
            </a:r>
            <a:r>
              <a:rPr lang="en-US" altLang="zh-CN">
                <a:solidFill>
                  <a:schemeClr val="bg1"/>
                </a:solidFill>
              </a:rPr>
              <a:t>QTime</a:t>
            </a:r>
            <a:r>
              <a:rPr lang="zh-CN" altLang="en-US">
                <a:solidFill>
                  <a:schemeClr val="bg1"/>
                </a:solidFill>
              </a:rPr>
              <a:t>对象组合到一个对象中的类。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8D93472-49B6-B5EC-C7B6-A49A56BA4EF6}"/>
              </a:ext>
            </a:extLst>
          </p:cNvPr>
          <p:cNvSpPr txBox="1"/>
          <p:nvPr/>
        </p:nvSpPr>
        <p:spPr>
          <a:xfrm>
            <a:off x="1256189" y="1798478"/>
            <a:ext cx="8112760" cy="45243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&lt;QDate&gt;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008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&lt;QTime&gt;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2020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 date is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FF"/>
                </a:highlight>
              </a:rPr>
              <a:t>setDate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2020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 date is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tm1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17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55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 time is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tm1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"hh:mm:ss.zzz"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tm2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tm2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00"/>
                </a:highlight>
              </a:rPr>
              <a:t>setHMS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52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45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155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&lt;&lt;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"The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time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is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"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&lt;&lt;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92E64"/>
                </a:solidFill>
                <a:effectLst/>
              </a:rPr>
              <a:t>tm2</a:t>
            </a:r>
            <a:r>
              <a:rPr lang="en-US" altLang="zh-CN"/>
              <a:t>.</a:t>
            </a:r>
            <a:r>
              <a:rPr lang="en-US" altLang="zh-CN">
                <a:solidFill>
                  <a:srgbClr val="00677C"/>
                </a:solidFill>
                <a:effectLst/>
              </a:rPr>
              <a:t>toString</a:t>
            </a:r>
            <a:r>
              <a:rPr lang="en-US" altLang="zh-CN"/>
              <a:t>(</a:t>
            </a:r>
            <a:r>
              <a:rPr lang="en-US" altLang="zh-CN">
                <a:solidFill>
                  <a:srgbClr val="008000"/>
                </a:solidFill>
                <a:effectLst/>
              </a:rPr>
              <a:t>"hh:mm:ss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A"</a:t>
            </a:r>
            <a:r>
              <a:rPr lang="en-US" altLang="zh-CN"/>
              <a:t>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CDDF91A-D42F-6EF7-DFDB-A9F6BCE52B46}"/>
              </a:ext>
            </a:extLst>
          </p:cNvPr>
          <p:cNvSpPr txBox="1"/>
          <p:nvPr/>
        </p:nvSpPr>
        <p:spPr>
          <a:xfrm>
            <a:off x="6753128" y="2421127"/>
            <a:ext cx="3077120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The date is Sun Apr 12 2020</a:t>
            </a:r>
          </a:p>
          <a:p>
            <a:r>
              <a:rPr lang="en-US" altLang="zh-CN"/>
              <a:t>The date is Tue Mar 3 2020</a:t>
            </a:r>
          </a:p>
          <a:p>
            <a:r>
              <a:rPr lang="en-US" altLang="zh-CN"/>
              <a:t>The time is 17:30:12.055</a:t>
            </a:r>
          </a:p>
          <a:p>
            <a:r>
              <a:rPr lang="en-US" altLang="zh-CN"/>
              <a:t>The time is 01:52:45 PM</a:t>
            </a:r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2253A4B-FA61-5862-C1ED-B96E78931822}"/>
              </a:ext>
            </a:extLst>
          </p:cNvPr>
          <p:cNvSpPr txBox="1"/>
          <p:nvPr/>
        </p:nvSpPr>
        <p:spPr>
          <a:xfrm>
            <a:off x="6493397" y="1884025"/>
            <a:ext cx="2760433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</a:rPr>
              <a:t>初始化日期和时间对象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98D6C0BA-7404-60A1-5D3D-C814817FA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574052"/>
              </p:ext>
            </p:extLst>
          </p:nvPr>
        </p:nvGraphicFramePr>
        <p:xfrm>
          <a:off x="1034574" y="6507459"/>
          <a:ext cx="8555990" cy="4462272"/>
        </p:xfrm>
        <a:graphic>
          <a:graphicData uri="http://schemas.openxmlformats.org/drawingml/2006/table">
            <a:tbl>
              <a:tblPr/>
              <a:tblGrid>
                <a:gridCol w="1414488">
                  <a:extLst>
                    <a:ext uri="{9D8B030D-6E8A-4147-A177-3AD203B41FA5}">
                      <a16:colId xmlns:a16="http://schemas.microsoft.com/office/drawing/2014/main" val="1143846593"/>
                    </a:ext>
                  </a:extLst>
                </a:gridCol>
                <a:gridCol w="7141502">
                  <a:extLst>
                    <a:ext uri="{9D8B030D-6E8A-4147-A177-3AD203B41FA5}">
                      <a16:colId xmlns:a16="http://schemas.microsoft.com/office/drawing/2014/main" val="23022489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3"/>
                          </a:solidFill>
                          <a:effectLst/>
                          <a:latin typeface="Georgia" panose="02040502050405020303" pitchFamily="18" charset="0"/>
                        </a:rPr>
                        <a:t>Expression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3"/>
                          </a:solidFill>
                          <a:effectLst/>
                          <a:latin typeface="Georgia" panose="02040502050405020303" pitchFamily="18" charset="0"/>
                        </a:rPr>
                        <a:t>Output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146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h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the hour without a leading zero (0 to 23 or 1 to 12 if AM/PM display)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154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hh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the hour with a leading zero (00 to 23 or 01 to 12 if AM/PM display)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4823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H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the hour without a leading zero (0 to 23, even with AM/PM display)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765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HH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the hour with a leading zero (00 to 23, even with AM/PM display)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000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the minute without a leading zero (0 to 59)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552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mm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the minute with a leading zero (00 to 59)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732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s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the second without a leading zero (0 to 59)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507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ss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the second with a leading zero (00 to 59)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6182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z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the milliseconds without leading zeroes (0 to 999)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31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zzz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the milliseconds with leading zeroes (000 to 999)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5703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AP or A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use AM/PM display. AP will be replaced by either "AM" or "PM".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10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ap or a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use am/pm display. ap will be replaced by either "am" or "pm".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090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t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the timezone (for example "CEST")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878473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BF3F345A-AB4D-031B-011F-6B0546C647A0}"/>
              </a:ext>
            </a:extLst>
          </p:cNvPr>
          <p:cNvSpPr txBox="1"/>
          <p:nvPr/>
        </p:nvSpPr>
        <p:spPr>
          <a:xfrm>
            <a:off x="4645640" y="5217914"/>
            <a:ext cx="531114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>
                <a:solidFill>
                  <a:srgbClr val="808000"/>
                </a:solidFill>
                <a:effectLst/>
              </a:rPr>
              <a:t>bool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QTime::</a:t>
            </a:r>
            <a:r>
              <a:rPr lang="en-US" altLang="zh-CN">
                <a:highlight>
                  <a:srgbClr val="00FF00"/>
                </a:highlight>
              </a:rPr>
              <a:t>setHMS</a:t>
            </a:r>
            <a:r>
              <a:rPr lang="en-US" altLang="zh-CN"/>
              <a:t>(</a:t>
            </a:r>
            <a:r>
              <a:rPr lang="en-US" altLang="zh-CN">
                <a:solidFill>
                  <a:srgbClr val="808000"/>
                </a:solidFill>
                <a:effectLst/>
              </a:rPr>
              <a:t>int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h,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808000"/>
                </a:solidFill>
                <a:effectLst/>
              </a:rPr>
              <a:t>int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m,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808000"/>
                </a:solidFill>
                <a:effectLst/>
              </a:rPr>
              <a:t>int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s,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808000"/>
                </a:solidFill>
                <a:effectLst/>
              </a:rPr>
              <a:t>int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ms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=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0080"/>
                </a:solidFill>
                <a:effectLst/>
              </a:rPr>
              <a:t>0</a:t>
            </a:r>
            <a:r>
              <a:rPr lang="en-US" altLang="zh-CN"/>
              <a:t>)</a:t>
            </a:r>
            <a:endParaRPr lang="zh-CN" altLang="en-US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FC48E379-4F17-E2A0-3286-AB7AF44AB888}"/>
              </a:ext>
            </a:extLst>
          </p:cNvPr>
          <p:cNvCxnSpPr>
            <a:endCxn id="10" idx="1"/>
          </p:cNvCxnSpPr>
          <p:nvPr/>
        </p:nvCxnSpPr>
        <p:spPr>
          <a:xfrm>
            <a:off x="2941320" y="5402580"/>
            <a:ext cx="17043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0956D29-AD7A-A8B0-B091-54E7CDC2F0A8}"/>
              </a:ext>
            </a:extLst>
          </p:cNvPr>
          <p:cNvSpPr txBox="1"/>
          <p:nvPr/>
        </p:nvSpPr>
        <p:spPr>
          <a:xfrm>
            <a:off x="4645640" y="3690180"/>
            <a:ext cx="531114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>
                <a:solidFill>
                  <a:srgbClr val="808000"/>
                </a:solidFill>
                <a:effectLst/>
              </a:rPr>
              <a:t>bool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QDate::</a:t>
            </a:r>
            <a:r>
              <a:rPr lang="en-US" altLang="zh-CN">
                <a:highlight>
                  <a:srgbClr val="00FFFF"/>
                </a:highlight>
              </a:rPr>
              <a:t>setDate</a:t>
            </a:r>
            <a:r>
              <a:rPr lang="en-US" altLang="zh-CN"/>
              <a:t>(</a:t>
            </a:r>
            <a:r>
              <a:rPr lang="en-US" altLang="zh-CN">
                <a:solidFill>
                  <a:srgbClr val="808000"/>
                </a:solidFill>
                <a:effectLst/>
              </a:rPr>
              <a:t>int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year,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808000"/>
                </a:solidFill>
                <a:effectLst/>
              </a:rPr>
              <a:t>int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month,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808000"/>
                </a:solidFill>
                <a:effectLst/>
              </a:rPr>
              <a:t>int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day)</a:t>
            </a:r>
            <a:endParaRPr lang="zh-CN" alt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435F90B-95D4-421A-4678-C2EF589AE33B}"/>
              </a:ext>
            </a:extLst>
          </p:cNvPr>
          <p:cNvCxnSpPr>
            <a:cxnSpLocks/>
          </p:cNvCxnSpPr>
          <p:nvPr/>
        </p:nvCxnSpPr>
        <p:spPr>
          <a:xfrm>
            <a:off x="2880360" y="3772642"/>
            <a:ext cx="1765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324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F44DD789-6017-7E67-2865-76CCEF4DBC07}"/>
              </a:ext>
            </a:extLst>
          </p:cNvPr>
          <p:cNvSpPr txBox="1"/>
          <p:nvPr/>
        </p:nvSpPr>
        <p:spPr>
          <a:xfrm>
            <a:off x="1157185" y="764226"/>
            <a:ext cx="8112760" cy="31700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&lt;QDate&gt;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&lt;QTime&gt;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cd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currentDate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QTime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QTime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currentTime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b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 sz="2000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 sz="2000"/>
              <a:t>()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"Current date is: "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cd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 sz="2000"/>
              <a:t>()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"Current time is: "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9DA14AC-FEF7-3E0A-CC47-F5BDDAA15F2A}"/>
              </a:ext>
            </a:extLst>
          </p:cNvPr>
          <p:cNvSpPr txBox="1"/>
          <p:nvPr/>
        </p:nvSpPr>
        <p:spPr>
          <a:xfrm>
            <a:off x="6654124" y="714221"/>
            <a:ext cx="2760433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</a:rPr>
              <a:t>当前日期和时间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7F6A34-0625-73A8-B89D-A2C70C2438E4}"/>
              </a:ext>
            </a:extLst>
          </p:cNvPr>
          <p:cNvSpPr txBox="1"/>
          <p:nvPr/>
        </p:nvSpPr>
        <p:spPr>
          <a:xfrm>
            <a:off x="6337437" y="1902998"/>
            <a:ext cx="307712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Current date is: Fri Jun 17 2022</a:t>
            </a:r>
          </a:p>
          <a:p>
            <a:r>
              <a:rPr lang="en-US" altLang="zh-CN"/>
              <a:t>Current time is: 13:20:45</a:t>
            </a:r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C50D022-8D4D-9700-9868-90ADCDE4FB7B}"/>
              </a:ext>
            </a:extLst>
          </p:cNvPr>
          <p:cNvSpPr txBox="1"/>
          <p:nvPr/>
        </p:nvSpPr>
        <p:spPr>
          <a:xfrm>
            <a:off x="1146216" y="4106461"/>
            <a:ext cx="8112760" cy="34163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&lt;QDate&gt;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2020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2019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C0C0C0"/>
                </a:solidFill>
              </a:rPr>
              <a:t>	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 comes before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C0C0C0"/>
                </a:solidFill>
              </a:rPr>
              <a:t>	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 comes after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6026BE5-A128-F7EE-B001-8FC00D5551DF}"/>
              </a:ext>
            </a:extLst>
          </p:cNvPr>
          <p:cNvSpPr txBox="1"/>
          <p:nvPr/>
        </p:nvSpPr>
        <p:spPr>
          <a:xfrm>
            <a:off x="6643155" y="4056456"/>
            <a:ext cx="2760433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</a:rPr>
              <a:t>比较日期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F837486-AB71-B87D-234E-0B8A6B4656B4}"/>
              </a:ext>
            </a:extLst>
          </p:cNvPr>
          <p:cNvSpPr txBox="1"/>
          <p:nvPr/>
        </p:nvSpPr>
        <p:spPr>
          <a:xfrm>
            <a:off x="5104435" y="5245233"/>
            <a:ext cx="429915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Sun Apr 5 2020 comes after Fri Apr 5 2019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AFD1F56-F423-B1DC-F06D-3D2D6102A355}"/>
              </a:ext>
            </a:extLst>
          </p:cNvPr>
          <p:cNvSpPr txBox="1"/>
          <p:nvPr/>
        </p:nvSpPr>
        <p:spPr>
          <a:xfrm>
            <a:off x="4182915" y="4717773"/>
            <a:ext cx="5231642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0" i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比较运算符也可以用于</a:t>
            </a:r>
            <a:r>
              <a:rPr lang="en-US" altLang="zh-CN" b="0" i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QTime</a:t>
            </a:r>
            <a:r>
              <a:rPr lang="zh-CN" altLang="en-US" b="0" i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和</a:t>
            </a:r>
            <a:r>
              <a:rPr lang="en-US" altLang="zh-CN" b="0" i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QDateTime</a:t>
            </a:r>
            <a:r>
              <a:rPr lang="zh-CN" altLang="en-US" b="0" i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对象。</a:t>
            </a:r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1DE064-D617-4FC2-6A03-19C03A5C3580}"/>
              </a:ext>
            </a:extLst>
          </p:cNvPr>
          <p:cNvSpPr txBox="1"/>
          <p:nvPr/>
        </p:nvSpPr>
        <p:spPr>
          <a:xfrm>
            <a:off x="1157185" y="7783988"/>
            <a:ext cx="8112760" cy="34163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&lt;QDate&gt;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QList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years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2012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2013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2014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2015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2016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2020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2024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year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years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isLeapYear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year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chemeClr val="tx1"/>
                </a:solidFill>
              </a:rPr>
              <a:t>       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year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 is a leap year"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chemeClr val="tx1"/>
                </a:solidFill>
              </a:rPr>
              <a:t>        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year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 is not a leap year"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45F60F-9E95-CD40-D083-47BB4298BAD9}"/>
              </a:ext>
            </a:extLst>
          </p:cNvPr>
          <p:cNvSpPr txBox="1"/>
          <p:nvPr/>
        </p:nvSpPr>
        <p:spPr>
          <a:xfrm>
            <a:off x="6763554" y="9270682"/>
            <a:ext cx="2526800" cy="20313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2012 is a leap year</a:t>
            </a:r>
          </a:p>
          <a:p>
            <a:r>
              <a:rPr lang="en-US" altLang="zh-CN"/>
              <a:t>2013 is not a leap year</a:t>
            </a:r>
          </a:p>
          <a:p>
            <a:r>
              <a:rPr lang="en-US" altLang="zh-CN"/>
              <a:t>2014 is not a leap year</a:t>
            </a:r>
          </a:p>
          <a:p>
            <a:r>
              <a:rPr lang="en-US" altLang="zh-CN"/>
              <a:t>2015 is not a leap year</a:t>
            </a:r>
          </a:p>
          <a:p>
            <a:r>
              <a:rPr lang="en-US" altLang="zh-CN"/>
              <a:t>2016 is a leap year</a:t>
            </a:r>
          </a:p>
          <a:p>
            <a:r>
              <a:rPr lang="en-US" altLang="zh-CN"/>
              <a:t>2020 is a leap year</a:t>
            </a:r>
          </a:p>
          <a:p>
            <a:r>
              <a:rPr lang="en-US" altLang="zh-CN"/>
              <a:t>2024 is a leap year</a:t>
            </a:r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5E0952-63EE-152E-5CC2-EE2324D6885E}"/>
              </a:ext>
            </a:extLst>
          </p:cNvPr>
          <p:cNvSpPr txBox="1"/>
          <p:nvPr/>
        </p:nvSpPr>
        <p:spPr>
          <a:xfrm>
            <a:off x="6493397" y="7783988"/>
            <a:ext cx="2760433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</a:rPr>
              <a:t>确定闰年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05D146A-B9BE-9680-2C34-4D92245FB7B8}"/>
              </a:ext>
            </a:extLst>
          </p:cNvPr>
          <p:cNvSpPr txBox="1"/>
          <p:nvPr/>
        </p:nvSpPr>
        <p:spPr>
          <a:xfrm>
            <a:off x="5406353" y="8223508"/>
            <a:ext cx="3884001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日历年正好有365天，而天文年，即地球绕太阳转一圈的时间是365.25天。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931ACCBA-EC82-5DF0-0DB8-9301E32C8C04}"/>
                  </a:ext>
                </a:extLst>
              </p14:cNvPr>
              <p14:cNvContentPartPr/>
              <p14:nvPr/>
            </p14:nvContentPartPr>
            <p14:xfrm>
              <a:off x="8900040" y="5897880"/>
              <a:ext cx="360" cy="360"/>
            </p14:xfrm>
          </p:contentPart>
        </mc:Choice>
        <mc:Fallback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931ACCBA-EC82-5DF0-0DB8-9301E32C8C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91040" y="588888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4906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81A6716E-5C39-A11D-8F8D-1A65024B1141}"/>
              </a:ext>
            </a:extLst>
          </p:cNvPr>
          <p:cNvSpPr txBox="1"/>
          <p:nvPr/>
        </p:nvSpPr>
        <p:spPr>
          <a:xfrm>
            <a:off x="981869" y="800224"/>
            <a:ext cx="8112760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currentDate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677C"/>
                </a:solidFill>
                <a:effectLst/>
              </a:rPr>
              <a:t>&lt;&lt;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"Today is "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677C"/>
                </a:solidFill>
                <a:effectLst/>
              </a:rPr>
              <a:t>&lt;&lt;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92E64"/>
                </a:solidFill>
                <a:effectLst/>
              </a:rPr>
              <a:t>cd</a:t>
            </a:r>
            <a:r>
              <a:rPr lang="en-US" altLang="zh-CN"/>
              <a:t>.</a:t>
            </a:r>
            <a:r>
              <a:rPr lang="en-US" altLang="zh-CN">
                <a:solidFill>
                  <a:srgbClr val="00677C"/>
                </a:solidFill>
                <a:effectLst/>
              </a:rPr>
              <a:t>toString</a:t>
            </a:r>
            <a:r>
              <a:rPr lang="en-US" altLang="zh-CN"/>
              <a:t>();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"Today is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TextDate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"Today is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ISODate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"Today is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RFC2822Date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E04BC25-CD93-50C1-FE76-2C06F2CA49A4}"/>
              </a:ext>
            </a:extLst>
          </p:cNvPr>
          <p:cNvSpPr txBox="1"/>
          <p:nvPr/>
        </p:nvSpPr>
        <p:spPr>
          <a:xfrm>
            <a:off x="6567829" y="1674377"/>
            <a:ext cx="2526800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Today is Fri Jun 17 2022</a:t>
            </a:r>
          </a:p>
          <a:p>
            <a:r>
              <a:rPr lang="en-US" altLang="zh-CN"/>
              <a:t>Today is Fri Jun 17 2022</a:t>
            </a:r>
          </a:p>
          <a:p>
            <a:r>
              <a:rPr lang="en-US" altLang="zh-CN"/>
              <a:t>Today is 2022-06-17</a:t>
            </a:r>
          </a:p>
          <a:p>
            <a:r>
              <a:rPr lang="en-US" altLang="zh-CN"/>
              <a:t>Today is 17 Jun 2022</a:t>
            </a:r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B16612D-E507-F99A-850C-F63434A74DC8}"/>
              </a:ext>
            </a:extLst>
          </p:cNvPr>
          <p:cNvSpPr txBox="1"/>
          <p:nvPr/>
        </p:nvSpPr>
        <p:spPr>
          <a:xfrm>
            <a:off x="6318081" y="800224"/>
            <a:ext cx="2760433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</a:rPr>
              <a:t>预定义的日期格式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2288898-192A-9525-DC0E-83115A3539A9}"/>
              </a:ext>
            </a:extLst>
          </p:cNvPr>
          <p:cNvSpPr txBox="1"/>
          <p:nvPr/>
        </p:nvSpPr>
        <p:spPr>
          <a:xfrm>
            <a:off x="961460" y="3780625"/>
            <a:ext cx="811276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currentDate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"Today is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"yyyy-MM-dd"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"Today is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"yy/M/dd"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"Today is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"d. M. yyyy"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"Today is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"d-MMMM-yyyy"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9B64EAE-19D7-8B62-F077-69243FF1FCA9}"/>
              </a:ext>
            </a:extLst>
          </p:cNvPr>
          <p:cNvSpPr txBox="1"/>
          <p:nvPr/>
        </p:nvSpPr>
        <p:spPr>
          <a:xfrm>
            <a:off x="6974398" y="4772129"/>
            <a:ext cx="2278052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Today is 2022-06-17</a:t>
            </a:r>
          </a:p>
          <a:p>
            <a:r>
              <a:rPr lang="en-US" altLang="zh-CN"/>
              <a:t>Today is 22/6/17</a:t>
            </a:r>
          </a:p>
          <a:p>
            <a:r>
              <a:rPr lang="en-US" altLang="zh-CN"/>
              <a:t>Today is 17. 6. 2022</a:t>
            </a:r>
          </a:p>
          <a:p>
            <a:r>
              <a:rPr lang="en-US" altLang="zh-CN"/>
              <a:t>Today is 17-June-2022</a:t>
            </a:r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FED4D0A-BB41-7F88-570C-8A0FFED4FE7E}"/>
              </a:ext>
            </a:extLst>
          </p:cNvPr>
          <p:cNvSpPr txBox="1"/>
          <p:nvPr/>
        </p:nvSpPr>
        <p:spPr>
          <a:xfrm>
            <a:off x="6297672" y="3780625"/>
            <a:ext cx="2760433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</a:rPr>
              <a:t>自定义的日期格式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10D7571A-A333-FB63-94F9-BB787781D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872264"/>
              </p:ext>
            </p:extLst>
          </p:nvPr>
        </p:nvGraphicFramePr>
        <p:xfrm>
          <a:off x="628309" y="6420329"/>
          <a:ext cx="9164638" cy="3755136"/>
        </p:xfrm>
        <a:graphic>
          <a:graphicData uri="http://schemas.openxmlformats.org/drawingml/2006/table">
            <a:tbl>
              <a:tblPr/>
              <a:tblGrid>
                <a:gridCol w="1654810">
                  <a:extLst>
                    <a:ext uri="{9D8B030D-6E8A-4147-A177-3AD203B41FA5}">
                      <a16:colId xmlns:a16="http://schemas.microsoft.com/office/drawing/2014/main" val="798836143"/>
                    </a:ext>
                  </a:extLst>
                </a:gridCol>
                <a:gridCol w="7509828">
                  <a:extLst>
                    <a:ext uri="{9D8B030D-6E8A-4147-A177-3AD203B41FA5}">
                      <a16:colId xmlns:a16="http://schemas.microsoft.com/office/drawing/2014/main" val="22080311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accent3"/>
                          </a:solidFill>
                          <a:effectLst/>
                          <a:latin typeface="Georgia" panose="02040502050405020303" pitchFamily="18" charset="0"/>
                        </a:rPr>
                        <a:t>Expression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accent3"/>
                          </a:solidFill>
                          <a:effectLst/>
                          <a:latin typeface="Georgia" panose="02040502050405020303" pitchFamily="18" charset="0"/>
                        </a:rPr>
                        <a:t>Output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910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d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The day as a number without a leading zero (1 to 31)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494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dd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The day as a number with a leading zero (01 to 31)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5542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ddd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The abbreviated localized day name (e.g. 'Mon' to 'Sun'). Uses QDate::shortDayName.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527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dddd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The long localized day name (e.g. 'Monday' to 'Sunday'). Uses QDate::longDayName.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833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The month as a number without a leading zero (1 to 12)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410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MM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The month as a number with a leading zero (01 to 12)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0741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MMM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The abbreviated localized month name (e.g. 'Jan' to 'Dec'). Uses QDate::shortMonthName.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454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MMMM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The long localized month name (e.g. 'January' to 'December'). Uses QDate::longMonthName.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6447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yy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The year as two digit number (00 to 99)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407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yyyy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The year as four digit number. If the year is negative, a minus sign is prepended in addition.</a:t>
                      </a: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3606765"/>
                  </a:ext>
                </a:extLst>
              </a:tr>
            </a:tbl>
          </a:graphicData>
        </a:graphic>
      </p:graphicFrame>
      <p:sp>
        <p:nvSpPr>
          <p:cNvPr id="37" name="文本框 36">
            <a:extLst>
              <a:ext uri="{FF2B5EF4-FFF2-40B4-BE49-F238E27FC236}">
                <a16:creationId xmlns:a16="http://schemas.microsoft.com/office/drawing/2014/main" id="{F83566BA-7C1A-7A75-3AC2-0B6C037AAA56}"/>
              </a:ext>
            </a:extLst>
          </p:cNvPr>
          <p:cNvSpPr txBox="1"/>
          <p:nvPr/>
        </p:nvSpPr>
        <p:spPr>
          <a:xfrm>
            <a:off x="5499918" y="1262466"/>
            <a:ext cx="3594711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/>
              <a:t>QTime</a:t>
            </a:r>
            <a:r>
              <a:rPr lang="zh-CN" altLang="en-US"/>
              <a:t>也有类似的预定义格式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AF99A77-973F-701B-2201-A8AB2FC20229}"/>
              </a:ext>
            </a:extLst>
          </p:cNvPr>
          <p:cNvSpPr txBox="1"/>
          <p:nvPr/>
        </p:nvSpPr>
        <p:spPr>
          <a:xfrm>
            <a:off x="5657739" y="4194814"/>
            <a:ext cx="3594711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/>
              <a:t>QTime</a:t>
            </a:r>
            <a:r>
              <a:rPr lang="zh-CN" altLang="en-US"/>
              <a:t>也有类似的自定义格式</a:t>
            </a:r>
          </a:p>
        </p:txBody>
      </p:sp>
    </p:spTree>
    <p:extLst>
      <p:ext uri="{BB962C8B-B14F-4D97-AF65-F5344CB8AC3E}">
        <p14:creationId xmlns:p14="http://schemas.microsoft.com/office/powerpoint/2010/main" val="2229266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D8D93472-49B6-B5EC-C7B6-A49A56BA4EF6}"/>
              </a:ext>
            </a:extLst>
          </p:cNvPr>
          <p:cNvSpPr txBox="1"/>
          <p:nvPr/>
        </p:nvSpPr>
        <p:spPr>
          <a:xfrm>
            <a:off x="1152389" y="796070"/>
            <a:ext cx="8112760" cy="39703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&lt;QDate&gt;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currentDate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dayOfWeek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QLocale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locale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QLocale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"zh_CN"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</a:t>
            </a:r>
            <a:r>
              <a:rPr kumimoji="0" lang="zh-CN" altLang="en-US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今天是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locale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dayName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</a:t>
            </a:r>
            <a:r>
              <a:rPr kumimoji="0" lang="zh-CN" altLang="en-US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今天是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locale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dayName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QLocale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ShortFormat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chemeClr val="tx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QLocale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usa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QLocale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"en_US"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"Today is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usa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dayName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wd</a:t>
            </a:r>
            <a:r>
              <a:rPr lang="en-US" altLang="zh-CN">
                <a:solidFill>
                  <a:srgbClr val="092E64"/>
                </a:solidFill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"Today is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usa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dayName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QLocale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ShortFormat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CDDF91A-D42F-6EF7-DFDB-A9F6BCE52B46}"/>
              </a:ext>
            </a:extLst>
          </p:cNvPr>
          <p:cNvSpPr txBox="1"/>
          <p:nvPr/>
        </p:nvSpPr>
        <p:spPr>
          <a:xfrm>
            <a:off x="6610890" y="1294565"/>
            <a:ext cx="2526800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/>
              <a:t>今天是星期五</a:t>
            </a:r>
          </a:p>
          <a:p>
            <a:r>
              <a:rPr lang="zh-CN" altLang="en-US"/>
              <a:t>今天是周五</a:t>
            </a:r>
          </a:p>
          <a:p>
            <a:r>
              <a:rPr lang="en-US" altLang="zh-CN"/>
              <a:t>Today is Friday</a:t>
            </a:r>
          </a:p>
          <a:p>
            <a:r>
              <a:rPr lang="en-US" altLang="zh-CN"/>
              <a:t>Today is Fri</a:t>
            </a:r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2253A4B-FA61-5862-C1ED-B96E78931822}"/>
              </a:ext>
            </a:extLst>
          </p:cNvPr>
          <p:cNvSpPr txBox="1"/>
          <p:nvPr/>
        </p:nvSpPr>
        <p:spPr>
          <a:xfrm>
            <a:off x="6488601" y="796070"/>
            <a:ext cx="2760433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</a:rPr>
              <a:t>周工作日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B3749D7-FDC2-9B98-00B5-58426EE27DD3}"/>
              </a:ext>
            </a:extLst>
          </p:cNvPr>
          <p:cNvSpPr txBox="1"/>
          <p:nvPr/>
        </p:nvSpPr>
        <p:spPr>
          <a:xfrm>
            <a:off x="3415883" y="756660"/>
            <a:ext cx="30675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dayOfWeek</a:t>
            </a:r>
            <a:r>
              <a:rPr lang="zh-CN" altLang="en-US"/>
              <a:t>返回一个数字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highlight>
                  <a:srgbClr val="00FFFF"/>
                </a:highlight>
              </a:rPr>
              <a:t>1</a:t>
            </a:r>
            <a:r>
              <a:rPr lang="zh-CN" altLang="en-US">
                <a:highlight>
                  <a:srgbClr val="00FFFF"/>
                </a:highlight>
              </a:rPr>
              <a:t>表示周一，</a:t>
            </a:r>
            <a:r>
              <a:rPr lang="en-US" altLang="zh-CN">
                <a:highlight>
                  <a:srgbClr val="00FFFF"/>
                </a:highlight>
              </a:rPr>
              <a:t>7</a:t>
            </a:r>
            <a:r>
              <a:rPr lang="zh-CN" altLang="en-US">
                <a:highlight>
                  <a:srgbClr val="00FFFF"/>
                </a:highlight>
              </a:rPr>
              <a:t>表示周日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A30739E9-E542-EE4C-0BBB-79A07C2102EE}"/>
              </a:ext>
            </a:extLst>
          </p:cNvPr>
          <p:cNvSpPr txBox="1"/>
          <p:nvPr/>
        </p:nvSpPr>
        <p:spPr>
          <a:xfrm>
            <a:off x="400253" y="4924844"/>
            <a:ext cx="9824632" cy="86792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&lt;QDate&gt;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QList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"January"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"February"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"March"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"April"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"May"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"June"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"July"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"August"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"September"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"October"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"November"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"December"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2020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9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18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2020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2020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2020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2020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29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"There are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daysInMonth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 days in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month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"There are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daysInMonth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 days in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month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"There are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daysInMonth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 days in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month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"There are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daysInMonth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 days in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month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"There are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daysInMonth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 days in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month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"There are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daysInYear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 days in year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number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year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95FBBC6D-6CC5-06BC-636F-2E14432CA262}"/>
              </a:ext>
            </a:extLst>
          </p:cNvPr>
          <p:cNvSpPr txBox="1"/>
          <p:nvPr/>
        </p:nvSpPr>
        <p:spPr>
          <a:xfrm>
            <a:off x="6812624" y="8642185"/>
            <a:ext cx="3432669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There are 30 days in September</a:t>
            </a:r>
          </a:p>
          <a:p>
            <a:r>
              <a:rPr lang="en-US" altLang="zh-CN"/>
              <a:t>There are 29 days in February</a:t>
            </a:r>
          </a:p>
          <a:p>
            <a:r>
              <a:rPr lang="en-US" altLang="zh-CN"/>
              <a:t>There are 31 days in May</a:t>
            </a:r>
          </a:p>
          <a:p>
            <a:r>
              <a:rPr lang="en-US" altLang="zh-CN"/>
              <a:t>There are 31 days in December</a:t>
            </a:r>
          </a:p>
          <a:p>
            <a:r>
              <a:rPr lang="en-US" altLang="zh-CN"/>
              <a:t>There are 29 days in February</a:t>
            </a:r>
          </a:p>
          <a:p>
            <a:r>
              <a:rPr lang="en-US" altLang="zh-CN"/>
              <a:t>There are 366 days in year 2020</a:t>
            </a:r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A0E5A2B-97A1-B9F4-11D0-C1E523747258}"/>
              </a:ext>
            </a:extLst>
          </p:cNvPr>
          <p:cNvSpPr txBox="1"/>
          <p:nvPr/>
        </p:nvSpPr>
        <p:spPr>
          <a:xfrm>
            <a:off x="7448336" y="4924844"/>
            <a:ext cx="2760433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</a:rPr>
              <a:t>计算天数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C5D884CB-54A7-E757-A8E9-B55DBEA2F749}"/>
              </a:ext>
            </a:extLst>
          </p:cNvPr>
          <p:cNvSpPr txBox="1"/>
          <p:nvPr/>
        </p:nvSpPr>
        <p:spPr>
          <a:xfrm>
            <a:off x="5481535" y="6114324"/>
            <a:ext cx="4763758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可以使用</a:t>
            </a:r>
            <a:r>
              <a:rPr lang="en-US" altLang="zh-CN"/>
              <a:t>daysInMonth</a:t>
            </a:r>
            <a:r>
              <a:rPr lang="zh-CN" altLang="en-US"/>
              <a:t>计算特定月份的天数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</a:t>
            </a:r>
            <a:r>
              <a:rPr lang="en-US" altLang="zh-CN"/>
              <a:t>daysInYear</a:t>
            </a:r>
            <a:r>
              <a:rPr lang="zh-CN" altLang="en-US"/>
              <a:t>方法计算一年中的天数</a:t>
            </a:r>
          </a:p>
        </p:txBody>
      </p:sp>
    </p:spTree>
    <p:extLst>
      <p:ext uri="{BB962C8B-B14F-4D97-AF65-F5344CB8AC3E}">
        <p14:creationId xmlns:p14="http://schemas.microsoft.com/office/powerpoint/2010/main" val="405460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D8D93472-49B6-B5EC-C7B6-A49A56BA4EF6}"/>
              </a:ext>
            </a:extLst>
          </p:cNvPr>
          <p:cNvSpPr txBox="1"/>
          <p:nvPr/>
        </p:nvSpPr>
        <p:spPr>
          <a:xfrm>
            <a:off x="399930" y="3723712"/>
            <a:ext cx="9824632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202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00"/>
                </a:highlight>
              </a:rPr>
              <a:t>addDays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55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xmas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2022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"55 days from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 is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"There are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currentDate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00"/>
                </a:highlight>
              </a:rPr>
              <a:t>daysTo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xmas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 days till Christmas"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CDDF91A-D42F-6EF7-DFDB-A9F6BCE52B46}"/>
              </a:ext>
            </a:extLst>
          </p:cNvPr>
          <p:cNvSpPr txBox="1"/>
          <p:nvPr/>
        </p:nvSpPr>
        <p:spPr>
          <a:xfrm>
            <a:off x="4838700" y="4903219"/>
            <a:ext cx="5486564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55 days from  </a:t>
            </a:r>
            <a:r>
              <a:rPr lang="en-US" altLang="zh-CN">
                <a:highlight>
                  <a:srgbClr val="FF0000"/>
                </a:highlight>
              </a:rPr>
              <a:t>"Wed May 11 2022"</a:t>
            </a:r>
            <a:r>
              <a:rPr lang="en-US" altLang="zh-CN"/>
              <a:t>  is  </a:t>
            </a:r>
            <a:r>
              <a:rPr lang="en-US" altLang="zh-CN">
                <a:highlight>
                  <a:srgbClr val="0000FF"/>
                </a:highlight>
              </a:rPr>
              <a:t>"Tue Jul 5 2022"</a:t>
            </a:r>
          </a:p>
          <a:p>
            <a:r>
              <a:rPr lang="en-US" altLang="zh-CN"/>
              <a:t>There are  161  days till Christmas</a:t>
            </a:r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2253A4B-FA61-5862-C1ED-B96E78931822}"/>
              </a:ext>
            </a:extLst>
          </p:cNvPr>
          <p:cNvSpPr txBox="1"/>
          <p:nvPr/>
        </p:nvSpPr>
        <p:spPr>
          <a:xfrm>
            <a:off x="7464775" y="3734561"/>
            <a:ext cx="2760433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000" b="1" i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addDays, daysTo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B3749D7-FDC2-9B98-00B5-58426EE27DD3}"/>
              </a:ext>
            </a:extLst>
          </p:cNvPr>
          <p:cNvSpPr txBox="1"/>
          <p:nvPr/>
        </p:nvSpPr>
        <p:spPr>
          <a:xfrm>
            <a:off x="5011838" y="4203727"/>
            <a:ext cx="5354066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addDays</a:t>
            </a:r>
            <a:r>
              <a:rPr lang="zh-CN" altLang="en-US"/>
              <a:t>：从一个特定日期算起</a:t>
            </a:r>
            <a:r>
              <a:rPr lang="en-US" altLang="zh-CN"/>
              <a:t>n</a:t>
            </a:r>
            <a:r>
              <a:rPr lang="zh-CN" altLang="en-US"/>
              <a:t>天后的日期。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daysTo</a:t>
            </a:r>
            <a:r>
              <a:rPr lang="zh-CN" altLang="en-US"/>
              <a:t>：返回到所选日期的天数。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E714DA-1DF5-7B3A-E26C-23FB76414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9" y="3323855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2AEA1EA-7A43-4A29-BD01-63934881AE79}"/>
              </a:ext>
            </a:extLst>
          </p:cNvPr>
          <p:cNvSpPr txBox="1"/>
          <p:nvPr/>
        </p:nvSpPr>
        <p:spPr>
          <a:xfrm>
            <a:off x="399930" y="6756499"/>
            <a:ext cx="9824632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cdt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currentDateTime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 current datetime is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cdt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 current date is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cdt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 current time is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cdt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FE6940F-8E68-D4DE-D602-B422C0E4CFDC}"/>
              </a:ext>
            </a:extLst>
          </p:cNvPr>
          <p:cNvSpPr txBox="1"/>
          <p:nvPr/>
        </p:nvSpPr>
        <p:spPr>
          <a:xfrm>
            <a:off x="5561506" y="6964829"/>
            <a:ext cx="4804398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The current datetime is Fri Jun 17 14:41:27 2022</a:t>
            </a:r>
          </a:p>
          <a:p>
            <a:r>
              <a:rPr lang="en-US" altLang="zh-CN"/>
              <a:t>The current date is Fri Jun 17 2022</a:t>
            </a:r>
          </a:p>
          <a:p>
            <a:r>
              <a:rPr lang="en-US" altLang="zh-CN"/>
              <a:t>The current time is 14:41:27</a:t>
            </a:r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CBC9909-FDA5-33D9-760D-9BBE5B99160F}"/>
              </a:ext>
            </a:extLst>
          </p:cNvPr>
          <p:cNvSpPr txBox="1"/>
          <p:nvPr/>
        </p:nvSpPr>
        <p:spPr>
          <a:xfrm>
            <a:off x="7464128" y="6563622"/>
            <a:ext cx="2760433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000" b="1" i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QDateTime 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19299ED-71C2-AB21-A38A-76D2C0B8147F}"/>
              </a:ext>
            </a:extLst>
          </p:cNvPr>
          <p:cNvSpPr txBox="1"/>
          <p:nvPr/>
        </p:nvSpPr>
        <p:spPr>
          <a:xfrm>
            <a:off x="6530438" y="8120679"/>
            <a:ext cx="3835466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/>
              <a:t>QDateTime</a:t>
            </a:r>
            <a:r>
              <a:rPr lang="zh-CN" altLang="en-US"/>
              <a:t>对象包含日历日期和时钟时间。它是</a:t>
            </a:r>
            <a:r>
              <a:rPr lang="en-US" altLang="zh-CN"/>
              <a:t>QDate</a:t>
            </a:r>
            <a:r>
              <a:rPr lang="zh-CN" altLang="en-US"/>
              <a:t>和</a:t>
            </a:r>
            <a:r>
              <a:rPr lang="en-US" altLang="zh-CN"/>
              <a:t>QTime</a:t>
            </a:r>
            <a:r>
              <a:rPr lang="zh-CN" altLang="en-US"/>
              <a:t>类的组合。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D8E954D-340E-2BDF-74DC-FE8DB4FB9017}"/>
              </a:ext>
            </a:extLst>
          </p:cNvPr>
          <p:cNvSpPr txBox="1"/>
          <p:nvPr/>
        </p:nvSpPr>
        <p:spPr>
          <a:xfrm>
            <a:off x="399930" y="9194215"/>
            <a:ext cx="9824632" cy="45243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00FF00"/>
                </a:highlight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00FF00"/>
                </a:highlight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00FF00"/>
                </a:highlight>
              </a:rPr>
              <a:t>&lt;ctime&gt;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FF"/>
                </a:highlight>
              </a:rPr>
              <a:t>setSecsSinceEpoch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FF"/>
                </a:highlight>
              </a:rPr>
              <a:t>setSecsSinceEpoch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00"/>
                </a:highlight>
              </a:rPr>
              <a:t>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00FF00"/>
                </a:highlight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)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currentDateTime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677C"/>
                </a:solidFill>
                <a:effectLst/>
              </a:rPr>
              <a:t>&lt;&lt;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677C"/>
                </a:solidFill>
                <a:effectLst/>
                <a:highlight>
                  <a:srgbClr val="00FF00"/>
                </a:highlight>
              </a:rPr>
              <a:t>time</a:t>
            </a:r>
            <a:r>
              <a:rPr lang="en-US" altLang="zh-CN">
                <a:highlight>
                  <a:srgbClr val="00FF00"/>
                </a:highlight>
              </a:rPr>
              <a:t>(</a:t>
            </a:r>
            <a:r>
              <a:rPr lang="en-US" altLang="zh-CN">
                <a:solidFill>
                  <a:srgbClr val="000080"/>
                </a:solidFill>
                <a:effectLst/>
                <a:highlight>
                  <a:srgbClr val="00FF00"/>
                </a:highlight>
              </a:rPr>
              <a:t>0</a:t>
            </a:r>
            <a:r>
              <a:rPr lang="en-US" altLang="zh-CN">
                <a:highlight>
                  <a:srgbClr val="00FF00"/>
                </a:highlight>
              </a:rPr>
              <a:t>)</a:t>
            </a:r>
            <a:r>
              <a:rPr lang="en-US" altLang="zh-CN">
                <a:solidFill>
                  <a:srgbClr val="C0C0C0"/>
                </a:solidFill>
                <a:effectLst/>
                <a:highlight>
                  <a:srgbClr val="00FF00"/>
                </a:highlight>
              </a:rPr>
              <a:t> </a:t>
            </a:r>
            <a:r>
              <a:rPr lang="en-US" altLang="zh-CN"/>
              <a:t>;</a:t>
            </a:r>
            <a:endParaRPr lang="en-US" altLang="zh-CN">
              <a:solidFill>
                <a:schemeClr val="tx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677C"/>
                </a:solidFill>
                <a:effectLst/>
              </a:rPr>
              <a:t>&lt;&lt;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92E64"/>
                </a:solidFill>
                <a:effectLst/>
              </a:rPr>
              <a:t>cd</a:t>
            </a:r>
            <a:r>
              <a:rPr lang="en-US" altLang="zh-CN"/>
              <a:t>.</a:t>
            </a:r>
            <a:r>
              <a:rPr lang="en-US" altLang="zh-CN">
                <a:solidFill>
                  <a:srgbClr val="00677C"/>
                </a:solidFill>
                <a:effectLst/>
                <a:highlight>
                  <a:srgbClr val="00FFFF"/>
                </a:highlight>
              </a:rPr>
              <a:t>toSecsSinceEpoch</a:t>
            </a:r>
            <a:r>
              <a:rPr lang="en-US" altLang="zh-CN"/>
              <a:t>();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57827FE-F9AE-F6B2-88F5-6430B49B8052}"/>
              </a:ext>
            </a:extLst>
          </p:cNvPr>
          <p:cNvSpPr txBox="1"/>
          <p:nvPr/>
        </p:nvSpPr>
        <p:spPr>
          <a:xfrm>
            <a:off x="7446190" y="11133705"/>
            <a:ext cx="2879074" cy="14773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da-DK" altLang="zh-CN"/>
              <a:t>Thu Jan 1 08:00:00 1970</a:t>
            </a:r>
          </a:p>
          <a:p>
            <a:r>
              <a:rPr lang="da-DK" altLang="zh-CN"/>
              <a:t>Sat Jun 18 15:03:32 2022</a:t>
            </a:r>
          </a:p>
          <a:p>
            <a:r>
              <a:rPr lang="da-DK" altLang="zh-CN"/>
              <a:t>Sat Jun 18 15:03:32 2022</a:t>
            </a:r>
          </a:p>
          <a:p>
            <a:r>
              <a:rPr lang="da-DK" altLang="zh-CN"/>
              <a:t>1655535812</a:t>
            </a:r>
          </a:p>
          <a:p>
            <a:r>
              <a:rPr lang="da-DK" altLang="zh-CN"/>
              <a:t>1655535812</a:t>
            </a:r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50D57F4-A4A1-0FB2-2AFD-D9AAC873B0F6}"/>
              </a:ext>
            </a:extLst>
          </p:cNvPr>
          <p:cNvSpPr txBox="1"/>
          <p:nvPr/>
        </p:nvSpPr>
        <p:spPr>
          <a:xfrm>
            <a:off x="7464775" y="9152748"/>
            <a:ext cx="2760433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chemeClr val="bg1"/>
                </a:solidFill>
                <a:latin typeface="georgia" panose="02040502050405020303" pitchFamily="18" charset="0"/>
              </a:rPr>
              <a:t>UNIX</a:t>
            </a:r>
            <a:r>
              <a:rPr lang="zh-CN" altLang="en-US" sz="2000" b="1">
                <a:solidFill>
                  <a:schemeClr val="bg1"/>
                </a:solidFill>
                <a:latin typeface="georgia" panose="02040502050405020303" pitchFamily="18" charset="0"/>
              </a:rPr>
              <a:t>新纪元</a:t>
            </a:r>
            <a:endParaRPr lang="en-US" altLang="zh-CN" sz="2000" b="1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5875D95-CFE4-9642-E9AA-84F9815BCB5D}"/>
              </a:ext>
            </a:extLst>
          </p:cNvPr>
          <p:cNvSpPr txBox="1"/>
          <p:nvPr/>
        </p:nvSpPr>
        <p:spPr>
          <a:xfrm>
            <a:off x="4971198" y="9766787"/>
            <a:ext cx="5354066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time</a:t>
            </a:r>
            <a:r>
              <a:rPr lang="en-US" altLang="zh-CN">
                <a:solidFill>
                  <a:srgbClr val="333333"/>
                </a:solidFill>
                <a:latin typeface="Arial" panose="020B0604020202020204" pitchFamily="34" charset="0"/>
              </a:rPr>
              <a:t>(0)</a:t>
            </a:r>
            <a:r>
              <a:rPr lang="zh-CN" altLang="en-US">
                <a:solidFill>
                  <a:srgbClr val="333333"/>
                </a:solidFill>
                <a:latin typeface="Arial" panose="020B0604020202020204" pitchFamily="34" charset="0"/>
              </a:rPr>
              <a:t>返回</a:t>
            </a:r>
            <a:r>
              <a:rPr lang="en-US" altLang="zh-CN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UNIX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新纪元以来的秒数</a:t>
            </a:r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899DE0D-1492-2750-A7E6-B8DF17049553}"/>
              </a:ext>
            </a:extLst>
          </p:cNvPr>
          <p:cNvSpPr txBox="1"/>
          <p:nvPr/>
        </p:nvSpPr>
        <p:spPr>
          <a:xfrm>
            <a:off x="399930" y="733127"/>
            <a:ext cx="9824632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" panose="020B0604020202020204" pitchFamily="34" charset="0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" panose="020B0604020202020204" pitchFamily="34" charset="0"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" panose="020B0604020202020204" pitchFamily="34" charset="0"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QList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dates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2020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11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2020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8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2020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30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dates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++)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dates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at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isValid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  <a:latin typeface="Arial Unicode MS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    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"Date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 is a valid date"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  <a:latin typeface="Arial Unicode MS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    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"Date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 is not a valid date"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zh-CN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A65095A-2FED-F37E-4330-615A54B8713E}"/>
              </a:ext>
            </a:extLst>
          </p:cNvPr>
          <p:cNvSpPr txBox="1"/>
          <p:nvPr/>
        </p:nvSpPr>
        <p:spPr>
          <a:xfrm>
            <a:off x="7464129" y="698154"/>
            <a:ext cx="2760433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</a:rPr>
              <a:t>检查日期有效性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9D61414-FB37-078B-7721-592C334ACB1D}"/>
              </a:ext>
            </a:extLst>
          </p:cNvPr>
          <p:cNvSpPr txBox="1"/>
          <p:nvPr/>
        </p:nvSpPr>
        <p:spPr>
          <a:xfrm>
            <a:off x="7333848" y="2556908"/>
            <a:ext cx="2939233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Date 1 is a valid date</a:t>
            </a:r>
          </a:p>
          <a:p>
            <a:r>
              <a:rPr lang="en-US" altLang="zh-CN"/>
              <a:t>Date 2 is a valid date</a:t>
            </a:r>
          </a:p>
          <a:p>
            <a:r>
              <a:rPr lang="en-US" altLang="zh-CN"/>
              <a:t>Date 3 is not a valid date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6189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FjYTU0NWJkMWQ1YTMwMTViZThhYTk5YTFlZGRhMzgifQ=="/>
</p:tagLst>
</file>

<file path=ppt/theme/theme1.xml><?xml version="1.0" encoding="utf-8"?>
<a:theme xmlns:a="http://schemas.openxmlformats.org/drawingml/2006/main" name="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第4章：程序流程之循环</Template>
  <TotalTime>1482</TotalTime>
  <Words>2264</Words>
  <Application>Microsoft Office PowerPoint</Application>
  <PresentationFormat>自定义</PresentationFormat>
  <Paragraphs>257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 Unicode MS</vt:lpstr>
      <vt:lpstr>等线</vt:lpstr>
      <vt:lpstr>华文琥珀</vt:lpstr>
      <vt:lpstr>Arial</vt:lpstr>
      <vt:lpstr>Calibri</vt:lpstr>
      <vt:lpstr>Cambria</vt:lpstr>
      <vt:lpstr>Georgia</vt:lpstr>
      <vt:lpstr>Georgia</vt:lpstr>
      <vt:lpstr>第一PPT，www.1ppt.com</vt:lpstr>
      <vt:lpstr>4_第一PPT，www.1ppt.com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蔡乐</dc:creator>
  <cp:lastModifiedBy>乐</cp:lastModifiedBy>
  <cp:revision>1439</cp:revision>
  <dcterms:created xsi:type="dcterms:W3CDTF">2020-06-26T01:00:00Z</dcterms:created>
  <dcterms:modified xsi:type="dcterms:W3CDTF">2022-07-16T03:54:53Z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2052-11.1.0.11744</vt:lpwstr>
  </property>
  <property fmtid="{D5CDD505-2E9C-101B-9397-08002B2CF9AE}" pid="3" name="ICV">
    <vt:lpwstr>35C8A0B9FA4B4BC7B03E97E74C2317FB</vt:lpwstr>
  </property>
</Properties>
</file>