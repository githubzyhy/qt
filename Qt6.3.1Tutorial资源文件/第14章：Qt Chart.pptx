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9" r:id="rId2"/>
    <p:sldId id="341" r:id="rId3"/>
    <p:sldId id="342" r:id="rId4"/>
    <p:sldId id="347" r:id="rId5"/>
    <p:sldId id="349" r:id="rId6"/>
    <p:sldId id="350" r:id="rId7"/>
    <p:sldId id="351" r:id="rId8"/>
    <p:sldId id="346" r:id="rId9"/>
    <p:sldId id="353" r:id="rId10"/>
    <p:sldId id="354" r:id="rId11"/>
    <p:sldId id="355" r:id="rId12"/>
    <p:sldId id="357" r:id="rId13"/>
    <p:sldId id="356" r:id="rId14"/>
    <p:sldId id="358" r:id="rId15"/>
  </p:sldIdLst>
  <p:sldSz cx="10625138" cy="14400213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2">
          <p15:clr>
            <a:srgbClr val="A4A3A4"/>
          </p15:clr>
        </p15:guide>
        <p15:guide id="2" orient="horz" pos="45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3" autoAdjust="0"/>
    <p:restoredTop sz="95244" autoAdjust="0"/>
  </p:normalViewPr>
  <p:slideViewPr>
    <p:cSldViewPr snapToGrid="0" showGuides="1">
      <p:cViewPr>
        <p:scale>
          <a:sx n="100" d="100"/>
          <a:sy n="100" d="100"/>
        </p:scale>
        <p:origin x="912" y="48"/>
      </p:cViewPr>
      <p:guideLst>
        <p:guide pos="412"/>
        <p:guide orient="horz" pos="45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227" y="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54208-A716-42FF-80CF-57B00CE66560}" type="datetimeFigureOut">
              <a:rPr lang="zh-CN" altLang="en-US" smtClean="0"/>
              <a:t>2023/8/16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DB86B2-45FA-46FD-932F-E74808AB18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13B3F-2B31-4A61-B985-2117CDAFE2AD}" type="datetimeFigureOut">
              <a:rPr lang="zh-CN" altLang="en-US" smtClean="0"/>
              <a:t>2023/8/16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1143000"/>
            <a:ext cx="2276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0FF05-BDD8-42F0-BA90-04AD6ABB1C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1143000"/>
            <a:ext cx="22764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0FF05-BDD8-42F0-BA90-04AD6ABB1C0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8142" y="2356703"/>
            <a:ext cx="7968854" cy="50134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8142" y="7563446"/>
            <a:ext cx="7968854" cy="3476717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850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775" indent="0" algn="ctr">
              <a:buNone/>
              <a:defRPr sz="1395"/>
            </a:lvl7pPr>
            <a:lvl8pPr marL="2788920" indent="0" algn="ctr">
              <a:buNone/>
              <a:defRPr sz="1395"/>
            </a:lvl8pPr>
            <a:lvl9pPr marL="3187700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944" y="3590055"/>
            <a:ext cx="9164182" cy="5990088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944" y="9636811"/>
            <a:ext cx="9164182" cy="3150046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85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77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92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70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0478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78976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2" y="766679"/>
            <a:ext cx="916418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863" y="3530053"/>
            <a:ext cx="4494931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863" y="5260078"/>
            <a:ext cx="449493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78976" y="3530053"/>
            <a:ext cx="4517068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78976" y="5260078"/>
            <a:ext cx="451706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>
              <a:defRPr sz="2790"/>
            </a:lvl1pPr>
            <a:lvl2pPr>
              <a:defRPr sz="2440"/>
            </a:lvl2pPr>
            <a:lvl3pPr>
              <a:defRPr sz="2090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850" indent="0">
              <a:buNone/>
              <a:defRPr sz="1745"/>
            </a:lvl5pPr>
            <a:lvl6pPr marL="1991995" indent="0">
              <a:buNone/>
              <a:defRPr sz="1745"/>
            </a:lvl6pPr>
            <a:lvl7pPr marL="2390775" indent="0">
              <a:buNone/>
              <a:defRPr sz="1745"/>
            </a:lvl7pPr>
            <a:lvl8pPr marL="2788920" indent="0">
              <a:buNone/>
              <a:defRPr sz="1745"/>
            </a:lvl8pPr>
            <a:lvl9pPr marL="3187700" indent="0">
              <a:buNone/>
              <a:defRPr sz="174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03615" y="766678"/>
            <a:ext cx="22910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0478" y="766678"/>
            <a:ext cx="6740322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0478" y="766679"/>
            <a:ext cx="916418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0478" y="3833390"/>
            <a:ext cx="916418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0478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034-5666-4088-908E-90BF970F5519}" type="datetimeFigureOut">
              <a:rPr lang="zh-CN" altLang="en-US" smtClean="0"/>
              <a:t>2023/8/16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19577" y="13346865"/>
            <a:ext cx="358598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04004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657" y="160559"/>
            <a:ext cx="458896" cy="4588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659041" y="213096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@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阿西拜</a:t>
            </a:r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南昌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96925" rtl="0" eaLnBrk="1" latinLnBrk="0" hangingPunct="1">
        <a:lnSpc>
          <a:spcPct val="90000"/>
        </a:lnSpc>
        <a:spcBef>
          <a:spcPct val="0"/>
        </a:spcBef>
        <a:buNone/>
        <a:defRPr sz="38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99631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79324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219138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016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8831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8709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85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77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70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.qt.io/qt-6/qtcharts-overview.html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screen"/>
          <a:srcRect l="3265" t="6325" r="4323" b="12927"/>
          <a:stretch>
            <a:fillRect/>
          </a:stretch>
        </p:blipFill>
        <p:spPr>
          <a:xfrm>
            <a:off x="2191043" y="1088639"/>
            <a:ext cx="6429671" cy="180741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441524" y="1358360"/>
            <a:ext cx="617022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solidFill>
                  <a:schemeClr val="bg1"/>
                </a:solidFill>
                <a:cs typeface="+mn-ea"/>
                <a:sym typeface="+mn-lt"/>
              </a:rPr>
              <a:t>QT Chart</a:t>
            </a:r>
          </a:p>
        </p:txBody>
      </p:sp>
      <p:grpSp>
        <p:nvGrpSpPr>
          <p:cNvPr id="60" name="组合 1274"/>
          <p:cNvGrpSpPr/>
          <p:nvPr/>
        </p:nvGrpSpPr>
        <p:grpSpPr>
          <a:xfrm>
            <a:off x="2441526" y="3237675"/>
            <a:ext cx="338686" cy="261779"/>
            <a:chOff x="5248276" y="1095375"/>
            <a:chExt cx="727075" cy="561976"/>
          </a:xfrm>
        </p:grpSpPr>
        <p:sp>
          <p:nvSpPr>
            <p:cNvPr id="61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2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3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4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5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6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7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8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9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0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1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2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3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4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5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6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7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8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9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0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1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2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3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4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5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6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7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8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9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0" name="文本框 89"/>
          <p:cNvSpPr txBox="1"/>
          <p:nvPr/>
        </p:nvSpPr>
        <p:spPr>
          <a:xfrm>
            <a:off x="2833453" y="3140572"/>
            <a:ext cx="2994875" cy="46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40">
                <a:solidFill>
                  <a:schemeClr val="bg1"/>
                </a:solidFill>
                <a:cs typeface="+mn-ea"/>
                <a:sym typeface="+mn-lt"/>
              </a:rPr>
              <a:t>QT6 C++ 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开发教程</a:t>
            </a:r>
          </a:p>
        </p:txBody>
      </p:sp>
      <p:grpSp>
        <p:nvGrpSpPr>
          <p:cNvPr id="160" name="组合 1274"/>
          <p:cNvGrpSpPr/>
          <p:nvPr/>
        </p:nvGrpSpPr>
        <p:grpSpPr>
          <a:xfrm>
            <a:off x="6245741" y="3237675"/>
            <a:ext cx="338686" cy="261779"/>
            <a:chOff x="5248276" y="1095375"/>
            <a:chExt cx="727075" cy="561976"/>
          </a:xfrm>
        </p:grpSpPr>
        <p:sp>
          <p:nvSpPr>
            <p:cNvPr id="162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3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4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5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6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7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8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9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0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1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2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3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4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5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6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7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8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9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0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1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2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3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4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5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6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7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8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9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90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61" name="文本框 160"/>
          <p:cNvSpPr txBox="1"/>
          <p:nvPr/>
        </p:nvSpPr>
        <p:spPr>
          <a:xfrm>
            <a:off x="6637671" y="3140572"/>
            <a:ext cx="1553157" cy="46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第</a:t>
            </a:r>
            <a:r>
              <a:rPr lang="en-US" altLang="zh-CN" sz="2440">
                <a:solidFill>
                  <a:schemeClr val="bg1"/>
                </a:solidFill>
                <a:cs typeface="+mn-ea"/>
                <a:sym typeface="+mn-lt"/>
              </a:rPr>
              <a:t>14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章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0" grpId="0"/>
      <p:bldP spid="16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38031" y="219760"/>
            <a:ext cx="9174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chemeClr val="accent3"/>
                </a:solidFill>
              </a:rPr>
              <a:t>Qt Charts</a:t>
            </a:r>
            <a:r>
              <a:rPr lang="zh-CN" altLang="en-US" sz="2000" b="1">
                <a:solidFill>
                  <a:schemeClr val="accent3"/>
                </a:solidFill>
              </a:rPr>
              <a:t>概述</a:t>
            </a:r>
            <a:endParaRPr lang="en-US" altLang="zh-CN" sz="2000" b="1">
              <a:solidFill>
                <a:schemeClr val="accent3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481180" y="786817"/>
            <a:ext cx="2436471" cy="34778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000" b="0" i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Qt</a:t>
            </a:r>
            <a:r>
              <a:rPr lang="zh-CN" altLang="en-US" sz="2000" b="0" i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图表模块提供如下类型：</a:t>
            </a:r>
            <a:endParaRPr lang="en-US" altLang="zh-CN" sz="2000" b="0" i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zh-CN" altLang="en-US" sz="2000" i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折线图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zh-CN" altLang="en-US" sz="2000" i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样条曲线图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zh-CN" altLang="en-US" sz="2000" i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面积图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zh-CN" altLang="en-US" sz="2000" i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散点图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zh-CN" altLang="en-US" sz="2000" i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条形图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zh-CN" altLang="en-US" sz="2000" i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饼图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zh-CN" altLang="en-US" sz="2000" i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方块胡须图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zh-CN" altLang="en-US" sz="2000" i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蜡烛图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zh-CN" altLang="en-US" sz="2000" i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极坐标图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371" y="10639627"/>
            <a:ext cx="9121140" cy="502920"/>
          </a:xfrm>
          <a:prstGeom prst="rect">
            <a:avLst/>
          </a:prstGeom>
        </p:spPr>
      </p:pic>
      <p:sp>
        <p:nvSpPr>
          <p:cNvPr id="23" name="AutoShape 10"/>
          <p:cNvSpPr>
            <a:spLocks noChangeAspect="1" noChangeArrowheads="1"/>
          </p:cNvSpPr>
          <p:nvPr/>
        </p:nvSpPr>
        <p:spPr bwMode="auto">
          <a:xfrm>
            <a:off x="5121014" y="1054024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B06F7F2-0B4B-7064-52AC-5AF16284EA7C}"/>
              </a:ext>
            </a:extLst>
          </p:cNvPr>
          <p:cNvSpPr txBox="1"/>
          <p:nvPr/>
        </p:nvSpPr>
        <p:spPr>
          <a:xfrm>
            <a:off x="950053" y="8326309"/>
            <a:ext cx="554181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 find_package(Qt6 REQUIRED COMPONENTS Charts)</a:t>
            </a:r>
          </a:p>
          <a:p>
            <a:r>
              <a:rPr lang="zh-CN" altLang="en-US" dirty="0"/>
              <a:t> target_link_libraries(mytarget PRIVATE Qt6::Charts)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72118BF-0D5E-BAEC-B88C-3CA625ACEAEC}"/>
              </a:ext>
            </a:extLst>
          </p:cNvPr>
          <p:cNvSpPr txBox="1"/>
          <p:nvPr/>
        </p:nvSpPr>
        <p:spPr>
          <a:xfrm>
            <a:off x="874280" y="7591965"/>
            <a:ext cx="56175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highlight>
                  <a:srgbClr val="0000FF"/>
                </a:highlight>
              </a:rPr>
              <a:t>CMake</a:t>
            </a:r>
            <a:r>
              <a:rPr lang="zh-CN" altLang="en-US" dirty="0">
                <a:solidFill>
                  <a:schemeClr val="bg1"/>
                </a:solidFill>
              </a:rPr>
              <a:t>：使用</a:t>
            </a:r>
            <a:r>
              <a:rPr lang="en-US" altLang="zh-CN" dirty="0" err="1">
                <a:solidFill>
                  <a:schemeClr val="bg1"/>
                </a:solidFill>
              </a:rPr>
              <a:t>find_package</a:t>
            </a:r>
            <a:r>
              <a:rPr lang="zh-CN" altLang="en-US" dirty="0">
                <a:solidFill>
                  <a:schemeClr val="bg1"/>
                </a:solidFill>
              </a:rPr>
              <a:t>命令在</a:t>
            </a:r>
            <a:r>
              <a:rPr lang="en-US" altLang="zh-CN" dirty="0">
                <a:solidFill>
                  <a:schemeClr val="bg1"/>
                </a:solidFill>
              </a:rPr>
              <a:t>Qt6</a:t>
            </a:r>
            <a:r>
              <a:rPr lang="zh-CN" altLang="en-US" dirty="0">
                <a:solidFill>
                  <a:schemeClr val="bg1"/>
                </a:solidFill>
              </a:rPr>
              <a:t>包中查找所需的模块组件：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579E39F-D196-D248-A076-5F4371281708}"/>
              </a:ext>
            </a:extLst>
          </p:cNvPr>
          <p:cNvSpPr txBox="1"/>
          <p:nvPr/>
        </p:nvSpPr>
        <p:spPr>
          <a:xfrm>
            <a:off x="952182" y="9511711"/>
            <a:ext cx="545866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/>
              <a:t> QT += charts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9513FD3-1B9A-944F-F356-0385E5E1666B}"/>
              </a:ext>
            </a:extLst>
          </p:cNvPr>
          <p:cNvSpPr txBox="1"/>
          <p:nvPr/>
        </p:nvSpPr>
        <p:spPr>
          <a:xfrm>
            <a:off x="951165" y="9090422"/>
            <a:ext cx="5111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ighlight>
                  <a:srgbClr val="0000FF"/>
                </a:highlight>
              </a:rPr>
              <a:t>qmake</a:t>
            </a:r>
            <a:r>
              <a:rPr lang="zh-CN" altLang="en-US">
                <a:solidFill>
                  <a:schemeClr val="bg1"/>
                </a:solidFill>
              </a:rPr>
              <a:t>：该模块作为</a:t>
            </a:r>
            <a:r>
              <a:rPr lang="en-US" altLang="zh-CN">
                <a:solidFill>
                  <a:schemeClr val="bg1"/>
                </a:solidFill>
              </a:rPr>
              <a:t>QT</a:t>
            </a:r>
            <a:r>
              <a:rPr lang="zh-CN" altLang="en-US">
                <a:solidFill>
                  <a:schemeClr val="bg1"/>
                </a:solidFill>
              </a:rPr>
              <a:t>变量的值添加到项目的中：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85B533-FE5C-CA17-F6AC-9B32DD0537FE}"/>
              </a:ext>
            </a:extLst>
          </p:cNvPr>
          <p:cNvSpPr/>
          <p:nvPr/>
        </p:nvSpPr>
        <p:spPr>
          <a:xfrm>
            <a:off x="648847" y="786817"/>
            <a:ext cx="6610103" cy="136147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/>
              <a:t>Qt</a:t>
            </a:r>
            <a:r>
              <a:rPr lang="zh-CN" altLang="en-US"/>
              <a:t>图表支持创建时尚、交互式、以数据为中心的用户界面。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QChart</a:t>
            </a:r>
            <a:r>
              <a:rPr lang="zh-CN" altLang="en-US"/>
              <a:t>类管理不同类型的数据（</a:t>
            </a:r>
            <a:r>
              <a:rPr lang="en-US" altLang="zh-CN"/>
              <a:t>series</a:t>
            </a:r>
            <a:r>
              <a:rPr lang="zh-CN" altLang="en-US"/>
              <a:t>）和其他图表相关对象，如图例（</a:t>
            </a:r>
            <a:r>
              <a:rPr lang="en-US" altLang="zh-CN"/>
              <a:t>legend</a:t>
            </a:r>
            <a:r>
              <a:rPr lang="zh-CN" altLang="en-US"/>
              <a:t>）和轴（</a:t>
            </a:r>
            <a:r>
              <a:rPr lang="en-US" altLang="zh-CN"/>
              <a:t>axes</a:t>
            </a:r>
            <a:r>
              <a:rPr lang="zh-CN" altLang="en-US"/>
              <a:t>）的图形表示。</a:t>
            </a:r>
            <a:endParaRPr lang="en-US" altLang="zh-CN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3007BCB-1EB7-A882-2675-7135224D2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371" y="2270264"/>
            <a:ext cx="2993740" cy="195549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C47AC8A-8F97-1D5A-AD9F-2998CAA182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339" y="7860278"/>
            <a:ext cx="2168648" cy="2120148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3B0DD16-E29F-3227-1893-D43BBFBE49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2467" y="2301181"/>
            <a:ext cx="2861357" cy="1893660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F063AE65-9ADD-E985-EA82-40B071282392}"/>
              </a:ext>
            </a:extLst>
          </p:cNvPr>
          <p:cNvSpPr txBox="1"/>
          <p:nvPr/>
        </p:nvSpPr>
        <p:spPr>
          <a:xfrm>
            <a:off x="874280" y="4725947"/>
            <a:ext cx="8876577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/>
              <a:t>每个图表数据类型都由一个</a:t>
            </a:r>
            <a:r>
              <a:rPr lang="en-US" altLang="zh-CN"/>
              <a:t>QAbstractSeries</a:t>
            </a:r>
            <a:r>
              <a:rPr lang="zh-CN" altLang="en-US"/>
              <a:t>派生类表示。图表是通过使用</a:t>
            </a:r>
            <a:r>
              <a:rPr lang="en-US" altLang="zh-CN"/>
              <a:t>series</a:t>
            </a:r>
            <a:r>
              <a:rPr lang="zh-CN" altLang="en-US"/>
              <a:t>类的实例并将其添加到</a:t>
            </a:r>
            <a:r>
              <a:rPr lang="en-US" altLang="zh-CN"/>
              <a:t>QChart</a:t>
            </a:r>
            <a:r>
              <a:rPr lang="zh-CN" altLang="en-US"/>
              <a:t>实例来创建的。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A6A2A13-37B8-FFFC-8D59-907F92FBC8F9}"/>
              </a:ext>
            </a:extLst>
          </p:cNvPr>
          <p:cNvSpPr txBox="1"/>
          <p:nvPr/>
        </p:nvSpPr>
        <p:spPr>
          <a:xfrm>
            <a:off x="874280" y="5654202"/>
            <a:ext cx="8876576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QLineSeries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QLineSeries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//数据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……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//图表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……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//视图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AB5C98-AD63-4F4B-7AFA-9642BB92AEC3}"/>
              </a:ext>
            </a:extLst>
          </p:cNvPr>
          <p:cNvSpPr txBox="1"/>
          <p:nvPr/>
        </p:nvSpPr>
        <p:spPr>
          <a:xfrm>
            <a:off x="3506689" y="11747213"/>
            <a:ext cx="32474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  <a:hlinkClick r:id="rId6"/>
              </a:rPr>
              <a:t>Qt Charts</a:t>
            </a:r>
            <a:r>
              <a:rPr lang="zh-CN" altLang="en-US" sz="2000">
                <a:solidFill>
                  <a:schemeClr val="bg1"/>
                </a:solidFill>
                <a:hlinkClick r:id="rId6"/>
              </a:rPr>
              <a:t>官方</a:t>
            </a:r>
            <a:r>
              <a:rPr lang="en-US" altLang="zh-CN" sz="2000">
                <a:solidFill>
                  <a:schemeClr val="bg1"/>
                </a:solidFill>
                <a:hlinkClick r:id="rId6"/>
              </a:rPr>
              <a:t>Reference</a:t>
            </a:r>
            <a:r>
              <a:rPr lang="zh-CN" altLang="en-US" sz="2000">
                <a:solidFill>
                  <a:schemeClr val="bg1"/>
                </a:solidFill>
                <a:hlinkClick r:id="rId6"/>
              </a:rPr>
              <a:t>文档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5FDFCDA2-3DA1-FA40-FED8-F4B78C2529FF}"/>
              </a:ext>
            </a:extLst>
          </p:cNvPr>
          <p:cNvSpPr/>
          <p:nvPr/>
        </p:nvSpPr>
        <p:spPr>
          <a:xfrm>
            <a:off x="7412942" y="5277608"/>
            <a:ext cx="1870501" cy="40386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  <a:effectLst/>
              </a:rPr>
              <a:t>QAbstractSeries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7AE3150C-A1DE-CE95-6A7A-01DA42B31FF4}"/>
              </a:ext>
            </a:extLst>
          </p:cNvPr>
          <p:cNvSpPr/>
          <p:nvPr/>
        </p:nvSpPr>
        <p:spPr>
          <a:xfrm>
            <a:off x="7273774" y="5923506"/>
            <a:ext cx="2148839" cy="40386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  <a:effectLst/>
              </a:rPr>
              <a:t>QXYSeries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156A0515-9E76-6AE5-E191-A0F1EA0AA24E}"/>
              </a:ext>
            </a:extLst>
          </p:cNvPr>
          <p:cNvSpPr/>
          <p:nvPr/>
        </p:nvSpPr>
        <p:spPr>
          <a:xfrm>
            <a:off x="7010401" y="6664552"/>
            <a:ext cx="2675586" cy="40386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QLineSeries</a:t>
            </a:r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234" name="直接箭头连接符 233">
            <a:extLst>
              <a:ext uri="{FF2B5EF4-FFF2-40B4-BE49-F238E27FC236}">
                <a16:creationId xmlns:a16="http://schemas.microsoft.com/office/drawing/2014/main" id="{A8BDA942-4459-631F-714D-7A4344E6092F}"/>
              </a:ext>
            </a:extLst>
          </p:cNvPr>
          <p:cNvCxnSpPr>
            <a:cxnSpLocks/>
            <a:stCxn id="231" idx="0"/>
            <a:endCxn id="228" idx="2"/>
          </p:cNvCxnSpPr>
          <p:nvPr/>
        </p:nvCxnSpPr>
        <p:spPr>
          <a:xfrm flipH="1" flipV="1">
            <a:off x="8348193" y="5681468"/>
            <a:ext cx="1" cy="242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>
            <a:extLst>
              <a:ext uri="{FF2B5EF4-FFF2-40B4-BE49-F238E27FC236}">
                <a16:creationId xmlns:a16="http://schemas.microsoft.com/office/drawing/2014/main" id="{1B783C1E-FF1A-BC75-0434-04114C6BE610}"/>
              </a:ext>
            </a:extLst>
          </p:cNvPr>
          <p:cNvCxnSpPr>
            <a:cxnSpLocks/>
            <a:stCxn id="232" idx="0"/>
            <a:endCxn id="231" idx="2"/>
          </p:cNvCxnSpPr>
          <p:nvPr/>
        </p:nvCxnSpPr>
        <p:spPr>
          <a:xfrm flipV="1">
            <a:off x="8348194" y="6327366"/>
            <a:ext cx="0" cy="337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4008218D-2BC3-8A7F-E587-C69CA4DCB35A}"/>
              </a:ext>
            </a:extLst>
          </p:cNvPr>
          <p:cNvSpPr txBox="1"/>
          <p:nvPr/>
        </p:nvSpPr>
        <p:spPr>
          <a:xfrm>
            <a:off x="594412" y="198099"/>
            <a:ext cx="9174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solidFill>
                  <a:schemeClr val="accent3"/>
                </a:solidFill>
              </a:rPr>
              <a:t>简单的折线图</a:t>
            </a:r>
            <a:endParaRPr lang="en-US" altLang="zh-CN" sz="2000" b="1">
              <a:solidFill>
                <a:schemeClr val="accent3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CFBF1B0-3932-2DE9-E84E-EF6AFA895A22}"/>
              </a:ext>
            </a:extLst>
          </p:cNvPr>
          <p:cNvSpPr txBox="1"/>
          <p:nvPr/>
        </p:nvSpPr>
        <p:spPr>
          <a:xfrm>
            <a:off x="635765" y="1020454"/>
            <a:ext cx="9353607" cy="92332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"mainwindow.h"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&lt;QApplication&gt;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&lt;QChartView&gt;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&lt;QLineSeries&gt;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char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[]) 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QApplication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a(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argc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argv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MainWindow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w.setWindowTitle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("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简单折线图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");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</a:rPr>
              <a:t>    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//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数据归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chart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管，显示的好不好看归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View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管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QLineSeries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*series=new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QLineSeries</a:t>
            </a: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;//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创建了一个折线图数据系列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    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//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向数据系列添加一些数据点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series-&gt;append(0, 6);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series-&gt;append(2, 4);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series-&gt;append(3, 8);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series-&gt;append(7, 4);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series-&gt;append(10, 5);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*series &lt;&lt;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QPointF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(11, 1) &lt;&lt;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QPointF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(13, 3) &lt;&lt;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QPointF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(17, 6)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    &lt;&lt;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QPointF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(18, 3) &lt;&lt;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QPointF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(20, 2);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    //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要显示就必须将此数据系列添加到图标中进行可视化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QChart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*chart = new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QChart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();//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图表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chart-&gt;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addSeries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(series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);//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添加数据到图标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chart-&gt;legend()-&gt;hide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();//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将图例隐藏，并且将图例隐藏。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chart-&gt;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createDefaultAxes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();//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用于在图表中创建默认的坐标轴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chart-&gt;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setTitle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("Simple line chart example");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QChartView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*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chartView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=new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QChartView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(chart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);//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视图 显示数据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chartView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setRenderHint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QPainter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 Antialiasing);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//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告诉画家打开抗锯齿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w.setCentralWidget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chartView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//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显示在中央控件中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w.resize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(400,300);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w.show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return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a.exec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D18BF36-DAC9-EBE7-9120-03432CD24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010" y="398154"/>
            <a:ext cx="3526078" cy="28591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822C282-6AA4-13F3-E3B9-3BB47F884168}"/>
              </a:ext>
            </a:extLst>
          </p:cNvPr>
          <p:cNvSpPr txBox="1"/>
          <p:nvPr/>
        </p:nvSpPr>
        <p:spPr>
          <a:xfrm>
            <a:off x="799703" y="625088"/>
            <a:ext cx="9025731" cy="5078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QPieSeries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QPieSeries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append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"Jane"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append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"Joe"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append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"Andy"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append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"Barbara"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append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"Axel"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QPieSlice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slices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setExploded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setLabelVisible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setPen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QPen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darkGreen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setBrush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green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>
                <a:solidFill>
                  <a:srgbClr val="092E64"/>
                </a:solidFill>
                <a:effectLst/>
              </a:rPr>
              <a:t>chart</a:t>
            </a:r>
            <a:r>
              <a:rPr lang="en-US" altLang="zh-CN"/>
              <a:t>-&gt;</a:t>
            </a:r>
            <a:r>
              <a:rPr lang="en-US" altLang="zh-CN">
                <a:solidFill>
                  <a:srgbClr val="00677C"/>
                </a:solidFill>
                <a:effectLst/>
              </a:rPr>
              <a:t>setTitle</a:t>
            </a:r>
            <a:r>
              <a:rPr lang="en-US" altLang="zh-CN"/>
              <a:t>(</a:t>
            </a:r>
            <a:r>
              <a:rPr lang="en-US" altLang="zh-CN">
                <a:solidFill>
                  <a:srgbClr val="008000"/>
                </a:solidFill>
                <a:effectLst/>
              </a:rPr>
              <a:t>"Simple piechart example"</a:t>
            </a:r>
            <a:r>
              <a:rPr lang="en-US" altLang="zh-CN"/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91C5012-16DD-F37E-B725-91E29CF6E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944" y="1368395"/>
            <a:ext cx="4438650" cy="33147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421E533-5B12-07F0-F2FA-09AF696D906F}"/>
              </a:ext>
            </a:extLst>
          </p:cNvPr>
          <p:cNvSpPr txBox="1"/>
          <p:nvPr/>
        </p:nvSpPr>
        <p:spPr>
          <a:xfrm>
            <a:off x="594412" y="198099"/>
            <a:ext cx="9174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solidFill>
                  <a:schemeClr val="accent3"/>
                </a:solidFill>
              </a:rPr>
              <a:t>简单的饼状图图</a:t>
            </a:r>
            <a:endParaRPr lang="en-US" altLang="zh-CN" sz="2000" b="1">
              <a:solidFill>
                <a:schemeClr val="accent3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3125057-A2F4-D3CF-CF14-70EF55DEFB78}"/>
              </a:ext>
            </a:extLst>
          </p:cNvPr>
          <p:cNvSpPr txBox="1"/>
          <p:nvPr/>
        </p:nvSpPr>
        <p:spPr>
          <a:xfrm>
            <a:off x="650954" y="5822825"/>
            <a:ext cx="9174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solidFill>
                  <a:schemeClr val="accent3"/>
                </a:solidFill>
              </a:rPr>
              <a:t>有层次的饼状图</a:t>
            </a:r>
            <a:endParaRPr lang="en-US" altLang="zh-CN" sz="2000" b="1">
              <a:solidFill>
                <a:schemeClr val="accent3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C9EDA5B-52D4-FE74-737A-41E2A9416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03" y="6396875"/>
            <a:ext cx="9907929" cy="3179457"/>
          </a:xfrm>
          <a:prstGeom prst="rect">
            <a:avLst/>
          </a:prstGeom>
        </p:spPr>
      </p:pic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3442FDB-8C87-675F-5BE8-EDDBFFAD0F0A}"/>
              </a:ext>
            </a:extLst>
          </p:cNvPr>
          <p:cNvCxnSpPr>
            <a:stCxn id="17" idx="0"/>
            <a:endCxn id="17" idx="2"/>
          </p:cNvCxnSpPr>
          <p:nvPr/>
        </p:nvCxnSpPr>
        <p:spPr>
          <a:xfrm>
            <a:off x="5388768" y="6396875"/>
            <a:ext cx="0" cy="3179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DCA34752-17B2-D48F-46CE-B49775B8949D}"/>
              </a:ext>
            </a:extLst>
          </p:cNvPr>
          <p:cNvCxnSpPr>
            <a:cxnSpLocks/>
          </p:cNvCxnSpPr>
          <p:nvPr/>
        </p:nvCxnSpPr>
        <p:spPr>
          <a:xfrm>
            <a:off x="2857500" y="7338060"/>
            <a:ext cx="29794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8EFC224D-2D8D-402B-9965-58B3A213FBAA}"/>
              </a:ext>
            </a:extLst>
          </p:cNvPr>
          <p:cNvSpPr txBox="1"/>
          <p:nvPr/>
        </p:nvSpPr>
        <p:spPr>
          <a:xfrm>
            <a:off x="3659306" y="6946317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highlight>
                  <a:srgbClr val="0000FF"/>
                </a:highlight>
              </a:rPr>
              <a:t>点击</a:t>
            </a:r>
            <a:endParaRPr lang="zh-CN" altLang="en-US" sz="2000" dirty="0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B37BA37-8269-3261-843B-6DA9D5AD7C9E}"/>
              </a:ext>
            </a:extLst>
          </p:cNvPr>
          <p:cNvCxnSpPr/>
          <p:nvPr/>
        </p:nvCxnSpPr>
        <p:spPr>
          <a:xfrm flipH="1">
            <a:off x="2796540" y="7505700"/>
            <a:ext cx="30403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B772079B-3D74-4716-0D94-B0C6551C29DE}"/>
              </a:ext>
            </a:extLst>
          </p:cNvPr>
          <p:cNvSpPr txBox="1"/>
          <p:nvPr/>
        </p:nvSpPr>
        <p:spPr>
          <a:xfrm>
            <a:off x="434803" y="9761220"/>
            <a:ext cx="829425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通过饼状图展示每个业务员的销售业绩：</a:t>
            </a:r>
            <a:endParaRPr lang="en-US" altLang="zh-CN" sz="200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bg1"/>
                </a:solidFill>
              </a:rPr>
              <a:t>第一层：展示所有业务员全年的销售总额，按比例划分</a:t>
            </a:r>
            <a:r>
              <a:rPr lang="en-US" altLang="zh-CN" sz="2000">
                <a:solidFill>
                  <a:schemeClr val="bg1"/>
                </a:solidFill>
              </a:rPr>
              <a:t>pie</a:t>
            </a:r>
            <a:r>
              <a:rPr lang="zh-CN" altLang="en-US" sz="2000">
                <a:solidFill>
                  <a:schemeClr val="bg1"/>
                </a:solidFill>
              </a:rPr>
              <a:t>的大小。</a:t>
            </a:r>
            <a:endParaRPr lang="en-US" altLang="zh-CN" sz="200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bg1"/>
                </a:solidFill>
              </a:rPr>
              <a:t>第二层：展示每个业务员</a:t>
            </a:r>
            <a:r>
              <a:rPr lang="en-US" altLang="zh-CN" sz="2000">
                <a:solidFill>
                  <a:schemeClr val="bg1"/>
                </a:solidFill>
              </a:rPr>
              <a:t>12</a:t>
            </a:r>
            <a:r>
              <a:rPr lang="zh-CN" altLang="en-US" sz="2000">
                <a:solidFill>
                  <a:schemeClr val="bg1"/>
                </a:solidFill>
              </a:rPr>
              <a:t>个月的详细数据。按比例划分</a:t>
            </a:r>
            <a:r>
              <a:rPr lang="en-US" altLang="zh-CN" sz="2000">
                <a:solidFill>
                  <a:schemeClr val="bg1"/>
                </a:solidFill>
              </a:rPr>
              <a:t>pie</a:t>
            </a:r>
            <a:r>
              <a:rPr lang="zh-CN" altLang="en-US" sz="2000">
                <a:solidFill>
                  <a:schemeClr val="bg1"/>
                </a:solidFill>
              </a:rPr>
              <a:t>的大小。</a:t>
            </a:r>
            <a:endParaRPr lang="en-US" altLang="zh-CN" sz="200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bg1"/>
                </a:solidFill>
              </a:rPr>
              <a:t>通过点击第一层中的</a:t>
            </a:r>
            <a:r>
              <a:rPr lang="en-US" altLang="zh-CN" sz="2000">
                <a:solidFill>
                  <a:schemeClr val="bg1"/>
                </a:solidFill>
              </a:rPr>
              <a:t>pie</a:t>
            </a:r>
            <a:r>
              <a:rPr lang="zh-CN" altLang="en-US" sz="2000">
                <a:solidFill>
                  <a:schemeClr val="bg1"/>
                </a:solidFill>
              </a:rPr>
              <a:t>，可以跳转到该业务员的详细数据。</a:t>
            </a:r>
            <a:endParaRPr lang="en-US" altLang="zh-CN" sz="200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bg1"/>
                </a:solidFill>
              </a:rPr>
              <a:t>通过点击第二层中的任意</a:t>
            </a:r>
            <a:r>
              <a:rPr lang="en-US" altLang="zh-CN" sz="2000">
                <a:solidFill>
                  <a:schemeClr val="bg1"/>
                </a:solidFill>
              </a:rPr>
              <a:t>pie</a:t>
            </a:r>
            <a:r>
              <a:rPr lang="zh-CN" altLang="en-US" sz="2000">
                <a:solidFill>
                  <a:schemeClr val="bg1"/>
                </a:solidFill>
              </a:rPr>
              <a:t>，可以回到第一层。</a:t>
            </a:r>
            <a:endParaRPr lang="en-US" altLang="zh-CN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543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822C282-6AA4-13F3-E3B9-3BB47F884168}"/>
              </a:ext>
            </a:extLst>
          </p:cNvPr>
          <p:cNvSpPr txBox="1"/>
          <p:nvPr/>
        </p:nvSpPr>
        <p:spPr>
          <a:xfrm>
            <a:off x="300427" y="1356068"/>
            <a:ext cx="10104277" cy="86792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char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[])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QApplication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QStringList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"Jan"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"Feb"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"Mar"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"Apr"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"May"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"Jun"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"Jul"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"Aug"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"Sep"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"Oct"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"Nov"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"Dec"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};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QStringList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names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“Jane”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“John”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“Axel”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“Mary”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“Susan”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“Bob”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};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8000"/>
                </a:solidFill>
                <a:effectLst/>
              </a:rPr>
              <a:t>//</a:t>
            </a:r>
            <a:r>
              <a:rPr lang="zh-CN" altLang="en-US">
                <a:solidFill>
                  <a:srgbClr val="008000"/>
                </a:solidFill>
                <a:effectLst/>
              </a:rPr>
              <a:t>在总表中，每个人一个</a:t>
            </a:r>
            <a:r>
              <a:rPr lang="en-US" altLang="zh-CN">
                <a:solidFill>
                  <a:srgbClr val="008000"/>
                </a:solidFill>
              </a:rPr>
              <a:t>pie(</a:t>
            </a:r>
            <a:r>
              <a:rPr lang="zh-CN" altLang="zh-CN">
                <a:solidFill>
                  <a:srgbClr val="008000"/>
                </a:solidFill>
              </a:rPr>
              <a:t>yearseries</a:t>
            </a:r>
            <a:r>
              <a:rPr lang="en-US" altLang="zh-CN">
                <a:solidFill>
                  <a:srgbClr val="008000"/>
                </a:solidFill>
              </a:rPr>
              <a:t>)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QPieSeries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year</a:t>
            </a:r>
            <a:r>
              <a:rPr kumimoji="0" lang="en-US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QPieSeries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(&amp;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92E64"/>
                </a:solidFill>
                <a:effectLst/>
              </a:rPr>
              <a:t>yearseries</a:t>
            </a:r>
            <a:r>
              <a:rPr lang="en-US" altLang="zh-CN">
                <a:solidFill>
                  <a:srgbClr val="C0C0C0"/>
                </a:solidFill>
                <a:effectLst/>
              </a:rPr>
              <a:t>-&gt;</a:t>
            </a:r>
            <a:r>
              <a:rPr lang="en-US" altLang="zh-CN">
                <a:solidFill>
                  <a:srgbClr val="00677C"/>
                </a:solidFill>
                <a:effectLst/>
              </a:rPr>
              <a:t>setName</a:t>
            </a:r>
            <a:r>
              <a:rPr lang="en-US" altLang="zh-CN">
                <a:solidFill>
                  <a:srgbClr val="C0C0C0"/>
                </a:solidFill>
                <a:effectLst/>
              </a:rPr>
              <a:t>(</a:t>
            </a:r>
            <a:r>
              <a:rPr lang="en-US" altLang="zh-CN">
                <a:solidFill>
                  <a:srgbClr val="008000"/>
                </a:solidFill>
                <a:effectLst/>
              </a:rPr>
              <a:t>"</a:t>
            </a:r>
            <a:r>
              <a:rPr lang="zh-CN" altLang="en-US">
                <a:solidFill>
                  <a:srgbClr val="008000"/>
                </a:solidFill>
                <a:effectLst/>
              </a:rPr>
              <a:t>全年销售数据</a:t>
            </a:r>
            <a:r>
              <a:rPr lang="en-US" altLang="zh-CN">
                <a:solidFill>
                  <a:srgbClr val="008000"/>
                </a:solidFill>
                <a:effectLst/>
              </a:rPr>
              <a:t>-</a:t>
            </a:r>
            <a:r>
              <a:rPr lang="zh-CN" altLang="en-US">
                <a:solidFill>
                  <a:srgbClr val="008000"/>
                </a:solidFill>
                <a:effectLst/>
              </a:rPr>
              <a:t>全员</a:t>
            </a:r>
            <a:r>
              <a:rPr lang="en-US" altLang="zh-CN">
                <a:solidFill>
                  <a:srgbClr val="008000"/>
                </a:solidFill>
                <a:effectLst/>
              </a:rPr>
              <a:t>"</a:t>
            </a:r>
            <a:r>
              <a:rPr lang="en-US" altLang="zh-CN">
                <a:solidFill>
                  <a:srgbClr val="C0C0C0"/>
                </a:solidFill>
                <a:effectLst/>
              </a:rPr>
              <a:t>);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yearseries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name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names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	</a:t>
            </a:r>
            <a:r>
              <a:rPr lang="en-US" altLang="zh-CN">
                <a:solidFill>
                  <a:srgbClr val="008000"/>
                </a:solidFill>
                <a:effectLst/>
              </a:rPr>
              <a:t>//</a:t>
            </a:r>
            <a:r>
              <a:rPr lang="zh-CN" altLang="en-US">
                <a:solidFill>
                  <a:srgbClr val="008000"/>
                </a:solidFill>
                <a:effectLst/>
              </a:rPr>
              <a:t>在</a:t>
            </a:r>
            <a:r>
              <a:rPr lang="zh-CN" altLang="en-US">
                <a:solidFill>
                  <a:srgbClr val="008000"/>
                </a:solidFill>
              </a:rPr>
              <a:t>个人</a:t>
            </a:r>
            <a:r>
              <a:rPr lang="zh-CN" altLang="en-US">
                <a:solidFill>
                  <a:srgbClr val="008000"/>
                </a:solidFill>
                <a:effectLst/>
              </a:rPr>
              <a:t>表中，每个月一</a:t>
            </a:r>
            <a:r>
              <a:rPr lang="zh-CN" altLang="en-US">
                <a:solidFill>
                  <a:srgbClr val="008000"/>
                </a:solidFill>
              </a:rPr>
              <a:t>个</a:t>
            </a:r>
            <a:r>
              <a:rPr lang="en-US" altLang="zh-CN">
                <a:solidFill>
                  <a:srgbClr val="008000"/>
                </a:solidFill>
              </a:rPr>
              <a:t>pie(</a:t>
            </a:r>
            <a:r>
              <a:rPr lang="zh-CN" altLang="zh-CN">
                <a:solidFill>
                  <a:srgbClr val="008000"/>
                </a:solidFill>
              </a:rPr>
              <a:t>monthseries</a:t>
            </a:r>
            <a:r>
              <a:rPr lang="en-US" altLang="zh-CN">
                <a:solidFill>
                  <a:srgbClr val="008000"/>
                </a:solidFill>
              </a:rPr>
              <a:t>)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QPieSeries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</a:t>
            </a:r>
            <a:r>
              <a:rPr kumimoji="0" lang="en-US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QPieSeries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(&amp;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92E64"/>
                </a:solidFill>
                <a:effectLst/>
              </a:rPr>
              <a:t>monthSeries</a:t>
            </a:r>
            <a:r>
              <a:rPr lang="en-US" altLang="zh-CN"/>
              <a:t>-&gt;</a:t>
            </a:r>
            <a:r>
              <a:rPr lang="en-US" altLang="zh-CN">
                <a:solidFill>
                  <a:srgbClr val="00677C"/>
                </a:solidFill>
                <a:effectLst/>
              </a:rPr>
              <a:t>setName</a:t>
            </a:r>
            <a:r>
              <a:rPr lang="en-US" altLang="zh-CN"/>
              <a:t>(</a:t>
            </a:r>
            <a:r>
              <a:rPr lang="en-US" altLang="zh-CN">
                <a:solidFill>
                  <a:srgbClr val="008000"/>
                </a:solidFill>
                <a:effectLst/>
              </a:rPr>
              <a:t>"</a:t>
            </a:r>
            <a:r>
              <a:rPr lang="zh-CN" altLang="en-US">
                <a:solidFill>
                  <a:srgbClr val="008000"/>
                </a:solidFill>
                <a:effectLst/>
              </a:rPr>
              <a:t>月销售数据 </a:t>
            </a:r>
            <a:r>
              <a:rPr lang="en-US" altLang="zh-CN">
                <a:solidFill>
                  <a:srgbClr val="008000"/>
                </a:solidFill>
                <a:effectLst/>
              </a:rPr>
              <a:t>- "</a:t>
            </a:r>
            <a:r>
              <a:rPr lang="zh-CN" altLang="en-US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677C"/>
                </a:solidFill>
                <a:effectLst/>
              </a:rPr>
              <a:t>+</a:t>
            </a:r>
            <a:r>
              <a:rPr lang="zh-CN" altLang="en-US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92E64"/>
                </a:solidFill>
                <a:effectLst/>
              </a:rPr>
              <a:t>name</a:t>
            </a:r>
            <a:r>
              <a:rPr lang="en-US" altLang="zh-CN"/>
              <a:t>);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</a:rPr>
              <a:t>QPieSlice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QRandomGenerator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global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bounded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1000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),&amp;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//series-&gt;sum()返回每个业务员的销售总额（value之和）.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yearseries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</a:rPr>
              <a:t>QPieSlice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name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sum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(),&amp;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setCentralWidget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resize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800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500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show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exec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5FA9E6B-BC9C-8AA8-A708-81598A7E0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197" y="3392228"/>
            <a:ext cx="2473041" cy="271647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F4CAA63-2E13-D151-574E-F4FD181B1FC1}"/>
              </a:ext>
            </a:extLst>
          </p:cNvPr>
          <p:cNvSpPr txBox="1"/>
          <p:nvPr/>
        </p:nvSpPr>
        <p:spPr>
          <a:xfrm>
            <a:off x="300427" y="648182"/>
            <a:ext cx="95237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第一步：生成所有业务员的销售额数据，随机每个月的值，并统计全年的值。</a:t>
            </a:r>
            <a:endParaRPr lang="en-US" altLang="zh-CN" sz="200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bg1"/>
                </a:solidFill>
              </a:rPr>
              <a:t>每个业务员需要</a:t>
            </a:r>
            <a:r>
              <a:rPr lang="en-US" altLang="zh-CN" sz="2000">
                <a:solidFill>
                  <a:schemeClr val="bg1"/>
                </a:solidFill>
              </a:rPr>
              <a:t>13</a:t>
            </a:r>
            <a:r>
              <a:rPr lang="zh-CN" altLang="en-US" sz="2000">
                <a:solidFill>
                  <a:schemeClr val="bg1"/>
                </a:solidFill>
              </a:rPr>
              <a:t>份数据（</a:t>
            </a:r>
            <a:r>
              <a:rPr lang="en-US" altLang="zh-CN" sz="2000">
                <a:solidFill>
                  <a:schemeClr val="bg1"/>
                </a:solidFill>
              </a:rPr>
              <a:t>12</a:t>
            </a:r>
            <a:r>
              <a:rPr lang="zh-CN" altLang="en-US" sz="2000">
                <a:solidFill>
                  <a:schemeClr val="bg1"/>
                </a:solidFill>
              </a:rPr>
              <a:t>个月</a:t>
            </a:r>
            <a:r>
              <a:rPr lang="en-US" altLang="zh-CN" sz="2000">
                <a:solidFill>
                  <a:schemeClr val="bg1"/>
                </a:solidFill>
              </a:rPr>
              <a:t>+</a:t>
            </a:r>
            <a:r>
              <a:rPr lang="zh-CN" altLang="en-US" sz="2000">
                <a:solidFill>
                  <a:schemeClr val="bg1"/>
                </a:solidFill>
              </a:rPr>
              <a:t>全年总额），使用</a:t>
            </a:r>
            <a:r>
              <a:rPr lang="en-US" altLang="zh-CN" sz="2000">
                <a:solidFill>
                  <a:schemeClr val="bg1"/>
                </a:solidFill>
              </a:rPr>
              <a:t>qt</a:t>
            </a:r>
            <a:r>
              <a:rPr lang="zh-CN" altLang="en-US" sz="2000">
                <a:solidFill>
                  <a:schemeClr val="bg1"/>
                </a:solidFill>
              </a:rPr>
              <a:t>内置的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</a:rPr>
              <a:t>QPieSlice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和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</a:rPr>
              <a:t>QChart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11987A-FD9E-CB21-A5F1-FD70A0282C1F}"/>
              </a:ext>
            </a:extLst>
          </p:cNvPr>
          <p:cNvSpPr txBox="1"/>
          <p:nvPr/>
        </p:nvSpPr>
        <p:spPr>
          <a:xfrm>
            <a:off x="220434" y="10035367"/>
            <a:ext cx="95628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第二步：生成自定义的</a:t>
            </a:r>
            <a:r>
              <a:rPr lang="en-US" altLang="zh-CN" sz="2000">
                <a:solidFill>
                  <a:srgbClr val="FF0000"/>
                </a:solidFill>
                <a:effectLst/>
                <a:highlight>
                  <a:srgbClr val="00FF00"/>
                </a:highlight>
              </a:rPr>
              <a:t>DrilldownSlice</a:t>
            </a:r>
            <a:r>
              <a:rPr lang="zh-CN" altLang="en-US" sz="2000">
                <a:solidFill>
                  <a:schemeClr val="bg1"/>
                </a:solidFill>
                <a:effectLst/>
              </a:rPr>
              <a:t>替换掉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</a:rPr>
              <a:t>QPieSlice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并将数据文字显示放到右边：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3E23148-9E13-9367-3B5D-B72A57894393}"/>
              </a:ext>
            </a:extLst>
          </p:cNvPr>
          <p:cNvSpPr txBox="1"/>
          <p:nvPr/>
        </p:nvSpPr>
        <p:spPr>
          <a:xfrm>
            <a:off x="300427" y="10428562"/>
            <a:ext cx="10104277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>
                <a:solidFill>
                  <a:srgbClr val="092E64"/>
                </a:solidFill>
                <a:effectLst/>
              </a:rPr>
              <a:t>chart</a:t>
            </a:r>
            <a:r>
              <a:rPr lang="en-US" altLang="zh-CN"/>
              <a:t>-&gt;</a:t>
            </a:r>
            <a:r>
              <a:rPr lang="en-US" altLang="zh-CN">
                <a:solidFill>
                  <a:srgbClr val="00677C"/>
                </a:solidFill>
                <a:effectLst/>
              </a:rPr>
              <a:t>setTitle</a:t>
            </a:r>
            <a:r>
              <a:rPr lang="en-US" altLang="zh-CN"/>
              <a:t>(</a:t>
            </a:r>
            <a:r>
              <a:rPr lang="en-US" altLang="zh-CN">
                <a:solidFill>
                  <a:srgbClr val="092E64"/>
                </a:solidFill>
                <a:effectLst/>
              </a:rPr>
              <a:t>yearSeries</a:t>
            </a:r>
            <a:r>
              <a:rPr lang="en-US" altLang="zh-CN"/>
              <a:t>-&gt;</a:t>
            </a:r>
            <a:r>
              <a:rPr lang="en-US" altLang="zh-CN">
                <a:solidFill>
                  <a:srgbClr val="00677C"/>
                </a:solidFill>
                <a:effectLst/>
              </a:rPr>
              <a:t>name</a:t>
            </a:r>
            <a:r>
              <a:rPr lang="en-US" altLang="zh-CN"/>
              <a:t>());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ChartThemeLight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setAnimationOptions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AllAnimations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legend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setVisible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true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legend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setAlignment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AlignRight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year</a:t>
            </a:r>
            <a:r>
              <a:rPr kumimoji="0" lang="en-US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>
                <a:solidFill>
                  <a:schemeClr val="tx1"/>
                </a:solidFill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/>
              <a:t>*</a:t>
            </a:r>
            <a:r>
              <a:rPr lang="en-US" altLang="zh-CN">
                <a:solidFill>
                  <a:srgbClr val="092E64"/>
                </a:solidFill>
                <a:effectLst/>
              </a:rPr>
              <a:t>monthSeries</a:t>
            </a:r>
            <a:r>
              <a:rPr lang="en-US" altLang="zh-CN"/>
              <a:t>&lt;&lt;</a:t>
            </a:r>
            <a:r>
              <a:rPr lang="en-US" altLang="zh-CN">
                <a:solidFill>
                  <a:srgbClr val="808000"/>
                </a:solidFill>
                <a:effectLst/>
              </a:rPr>
              <a:t>new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 sz="1800">
                <a:solidFill>
                  <a:srgbClr val="FF0000"/>
                </a:solidFill>
                <a:effectLst/>
                <a:highlight>
                  <a:srgbClr val="00FF00"/>
                </a:highlight>
              </a:rPr>
              <a:t>DrilldownSlice</a:t>
            </a:r>
            <a:r>
              <a:rPr lang="en-US" altLang="zh-CN"/>
              <a:t>(</a:t>
            </a:r>
            <a:r>
              <a:rPr lang="en-US" altLang="zh-CN">
                <a:solidFill>
                  <a:srgbClr val="800080"/>
                </a:solidFill>
                <a:effectLst/>
              </a:rPr>
              <a:t>QRandomGenerator</a:t>
            </a:r>
            <a:r>
              <a:rPr lang="en-US" altLang="zh-CN"/>
              <a:t>::</a:t>
            </a:r>
            <a:r>
              <a:rPr lang="en-US" altLang="zh-CN">
                <a:solidFill>
                  <a:srgbClr val="00677C"/>
                </a:solidFill>
                <a:effectLst/>
              </a:rPr>
              <a:t>global</a:t>
            </a:r>
            <a:r>
              <a:rPr lang="en-US" altLang="zh-CN"/>
              <a:t>()-&gt;</a:t>
            </a:r>
            <a:r>
              <a:rPr lang="en-US" altLang="zh-CN">
                <a:solidFill>
                  <a:srgbClr val="00677C"/>
                </a:solidFill>
                <a:effectLst/>
              </a:rPr>
              <a:t>bounded</a:t>
            </a:r>
            <a:r>
              <a:rPr lang="en-US" altLang="zh-CN"/>
              <a:t>(</a:t>
            </a:r>
            <a:r>
              <a:rPr lang="en-US" altLang="zh-CN">
                <a:solidFill>
                  <a:srgbClr val="000080"/>
                </a:solidFill>
                <a:effectLst/>
              </a:rPr>
              <a:t>1000</a:t>
            </a:r>
            <a:r>
              <a:rPr lang="en-US" altLang="zh-CN"/>
              <a:t>),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92E64"/>
                </a:solidFill>
                <a:effectLst/>
              </a:rPr>
              <a:t>month</a:t>
            </a:r>
            <a:r>
              <a:rPr lang="en-US" altLang="zh-CN"/>
              <a:t>,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 i="1">
                <a:solidFill>
                  <a:srgbClr val="092E64"/>
                </a:solidFill>
                <a:effectLst/>
              </a:rPr>
              <a:t>yearSeries</a:t>
            </a:r>
            <a:r>
              <a:rPr lang="en-US" altLang="zh-CN"/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>
                <a:solidFill>
                  <a:schemeClr val="tx1"/>
                </a:solidFill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/>
              <a:t>*</a:t>
            </a:r>
            <a:r>
              <a:rPr lang="en-US" altLang="zh-CN">
                <a:solidFill>
                  <a:srgbClr val="092E64"/>
                </a:solidFill>
                <a:effectLst/>
              </a:rPr>
              <a:t>yearSeries</a:t>
            </a:r>
            <a:r>
              <a:rPr lang="en-US" altLang="zh-CN">
                <a:solidFill>
                  <a:srgbClr val="00677C"/>
                </a:solidFill>
                <a:effectLst/>
              </a:rPr>
              <a:t>&lt;&lt;</a:t>
            </a:r>
            <a:r>
              <a:rPr lang="en-US" altLang="zh-CN">
                <a:solidFill>
                  <a:srgbClr val="808000"/>
                </a:solidFill>
                <a:effectLst/>
              </a:rPr>
              <a:t>new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 sz="1800">
                <a:solidFill>
                  <a:srgbClr val="FF0000"/>
                </a:solidFill>
                <a:effectLst/>
                <a:highlight>
                  <a:srgbClr val="00FF00"/>
                </a:highlight>
              </a:rPr>
              <a:t>DrilldownSlice</a:t>
            </a:r>
            <a:r>
              <a:rPr lang="en-US" altLang="zh-CN"/>
              <a:t>(</a:t>
            </a:r>
            <a:r>
              <a:rPr lang="en-US" altLang="zh-CN">
                <a:solidFill>
                  <a:srgbClr val="092E64"/>
                </a:solidFill>
                <a:effectLst/>
              </a:rPr>
              <a:t>monthSeries</a:t>
            </a:r>
            <a:r>
              <a:rPr lang="en-US" altLang="zh-CN"/>
              <a:t>-&gt;</a:t>
            </a:r>
            <a:r>
              <a:rPr lang="en-US" altLang="zh-CN">
                <a:solidFill>
                  <a:srgbClr val="00677C"/>
                </a:solidFill>
                <a:effectLst/>
              </a:rPr>
              <a:t>sum</a:t>
            </a:r>
            <a:r>
              <a:rPr lang="en-US" altLang="zh-CN"/>
              <a:t>(),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92E64"/>
                </a:solidFill>
                <a:effectLst/>
              </a:rPr>
              <a:t>name</a:t>
            </a:r>
            <a:r>
              <a:rPr lang="en-US" altLang="zh-CN"/>
              <a:t>,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 i="1">
                <a:solidFill>
                  <a:srgbClr val="092E64"/>
                </a:solidFill>
                <a:effectLst/>
              </a:rPr>
              <a:t>monthSeries</a:t>
            </a:r>
            <a:r>
              <a:rPr lang="en-US" altLang="zh-CN"/>
              <a:t>);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E4399C-53A1-B2FF-DBCB-42383FD4E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60" y="-138499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52382B0-30AC-23D9-F892-823EA9871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491" y="10427606"/>
            <a:ext cx="3426288" cy="214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663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822C282-6AA4-13F3-E3B9-3BB47F884168}"/>
              </a:ext>
            </a:extLst>
          </p:cNvPr>
          <p:cNvSpPr txBox="1"/>
          <p:nvPr/>
        </p:nvSpPr>
        <p:spPr>
          <a:xfrm>
            <a:off x="260430" y="624548"/>
            <a:ext cx="10104277" cy="4247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&lt;QPieSlice&gt;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QAbstractSeries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DrilldownSlice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QPieSlice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Q_OBJECT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DrilldownSlice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qreal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prefix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QAbstractSeries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drilldownSeries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QAbstractSeries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drilldownSeries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Q_SLOTS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updateLabel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showHighlight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bool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show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private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QAbstractSeries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m_drilldownSeries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m_prefix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E4399C-53A1-B2FF-DBCB-42383FD4E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60" y="-138499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3F27654-E8F7-0E0B-340C-A218E90BFFAE}"/>
              </a:ext>
            </a:extLst>
          </p:cNvPr>
          <p:cNvSpPr txBox="1"/>
          <p:nvPr/>
        </p:nvSpPr>
        <p:spPr>
          <a:xfrm>
            <a:off x="260429" y="4867574"/>
            <a:ext cx="10104277" cy="72943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DrilldownSlice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DrilldownSlice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qreal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prefix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QAbstractSeries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drilldownSeries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highlight>
                  <a:srgbClr val="00FF00"/>
                </a:highlight>
              </a:rPr>
              <a:t>m_drilldownSeries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highlight>
                  <a:srgbClr val="00FF00"/>
                </a:highlight>
              </a:rPr>
              <a:t>drilldownSeries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m_prefix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prefix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updateLabel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setLabelFont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QFont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"Arial"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8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connect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DrilldownSlice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percentageChanged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DrilldownSlice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updateLabel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connect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DrilldownSlice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hovered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DrilldownSlice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showHighlight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QAbstractSeries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DrilldownSlice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drilldownSeries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highlight>
                  <a:srgbClr val="00FF00"/>
                </a:highlight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00FF00"/>
                </a:highlight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highlight>
                  <a:srgbClr val="00FF00"/>
                </a:highlight>
              </a:rPr>
              <a:t>m_drilldownSeries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;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DrilldownSlice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updateLabel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label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m_prefix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label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+=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 $"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label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+=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number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label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+=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",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label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+=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number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percentage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100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'f'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label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+=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"%"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setLabel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label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DrilldownSlice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showHighlight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bool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show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setLabelVisible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show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setExploded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show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337EA08-A9B3-D5FE-418E-BA90AB408C4C}"/>
              </a:ext>
            </a:extLst>
          </p:cNvPr>
          <p:cNvSpPr txBox="1"/>
          <p:nvPr/>
        </p:nvSpPr>
        <p:spPr>
          <a:xfrm>
            <a:off x="4363720" y="255216"/>
            <a:ext cx="1640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>
                <a:solidFill>
                  <a:srgbClr val="FF0000"/>
                </a:solidFill>
                <a:effectLst/>
                <a:highlight>
                  <a:srgbClr val="00FF00"/>
                </a:highlight>
              </a:rPr>
              <a:t>DrilldownSlice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178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822C282-6AA4-13F3-E3B9-3BB47F884168}"/>
              </a:ext>
            </a:extLst>
          </p:cNvPr>
          <p:cNvSpPr txBox="1"/>
          <p:nvPr/>
        </p:nvSpPr>
        <p:spPr>
          <a:xfrm>
            <a:off x="260430" y="1003135"/>
            <a:ext cx="10104277" cy="53553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DrilldownChart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DrilldownChart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92E64"/>
                </a:solidFill>
              </a:rPr>
              <a:t>……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changeSeries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yearseries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name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names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QPieSeries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QPieSeries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(&amp;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setName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"月销售数据 -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name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8000"/>
                </a:solidFill>
                <a:effectLst/>
              </a:rPr>
              <a:t>	//</a:t>
            </a:r>
            <a:r>
              <a:rPr lang="zh-CN" altLang="en-US">
                <a:solidFill>
                  <a:srgbClr val="008000"/>
                </a:solidFill>
                <a:effectLst/>
              </a:rPr>
              <a:t>个人月数据</a:t>
            </a:r>
            <a:r>
              <a:rPr lang="en-US" altLang="zh-CN">
                <a:solidFill>
                  <a:srgbClr val="008000"/>
                </a:solidFill>
                <a:effectLst/>
              </a:rPr>
              <a:t>pie</a:t>
            </a:r>
            <a:r>
              <a:rPr lang="zh-CN" altLang="en-US">
                <a:solidFill>
                  <a:srgbClr val="008000"/>
                </a:solidFill>
                <a:effectLst/>
              </a:rPr>
              <a:t>里存着年数据的指针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*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</a:rPr>
              <a:t>monthseries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00FF00"/>
                </a:highlight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highlight>
                  <a:srgbClr val="00FF00"/>
                </a:highlight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00FF00"/>
                </a:highlight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highlight>
                  <a:srgbClr val="00FF00"/>
                </a:highlight>
              </a:rPr>
              <a:t>DrilldownSlice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highlight>
                  <a:srgbClr val="00FF00"/>
                </a:highlight>
              </a:rPr>
              <a:t>QRandomGenerator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00FF00"/>
                </a:highlight>
              </a:rPr>
              <a:t>global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()-&gt;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00FF00"/>
                </a:highlight>
              </a:rPr>
              <a:t>bounded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00FF00"/>
                </a:highlight>
              </a:rPr>
              <a:t>1000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),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00FF00"/>
                </a:highlight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  <a:highlight>
                <a:srgbClr val="00FF00"/>
              </a:highlight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C0C0C0"/>
                </a:solidFill>
                <a:highlight>
                  <a:srgbClr val="00FF00"/>
                </a:highlight>
              </a:rPr>
              <a:t>					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highlight>
                  <a:srgbClr val="00FF00"/>
                </a:highlight>
              </a:rPr>
              <a:t>month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00FF00"/>
                </a:highlight>
              </a:rPr>
              <a:t> 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FF0000"/>
                </a:highlight>
              </a:rPr>
              <a:t>yearseries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highlight>
                <a:srgbClr val="00FF00"/>
              </a:highlight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connect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monthseries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QPieSeries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clicked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</a:rPr>
              <a:t>	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DrilldownChart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handleSliceClicked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//series-&gt;sum()返回每个业务员的销售总额（value之和）.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8000"/>
                </a:solidFill>
                <a:effectLst/>
              </a:rPr>
              <a:t>//</a:t>
            </a:r>
            <a:r>
              <a:rPr lang="zh-CN" altLang="en-US">
                <a:solidFill>
                  <a:srgbClr val="008000"/>
                </a:solidFill>
                <a:effectLst/>
              </a:rPr>
              <a:t>个人年数据</a:t>
            </a:r>
            <a:r>
              <a:rPr lang="en-US" altLang="zh-CN">
                <a:solidFill>
                  <a:srgbClr val="008000"/>
                </a:solidFill>
                <a:effectLst/>
              </a:rPr>
              <a:t>pie</a:t>
            </a:r>
            <a:r>
              <a:rPr lang="zh-CN" altLang="en-US">
                <a:solidFill>
                  <a:srgbClr val="008000"/>
                </a:solidFill>
                <a:effectLst/>
              </a:rPr>
              <a:t>里存着个人月数据的指针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*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FF0000"/>
                </a:highlight>
              </a:rPr>
              <a:t>yearseries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00FF00"/>
                </a:highlight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highlight>
                  <a:srgbClr val="00FF00"/>
                </a:highlight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00FF00"/>
                </a:highlight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highlight>
                  <a:srgbClr val="00FF00"/>
                </a:highlight>
              </a:rPr>
              <a:t>DrilldownSlice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highlight>
                  <a:srgbClr val="00FF00"/>
                </a:highlight>
              </a:rPr>
              <a:t>monthseries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00FF00"/>
                </a:highlight>
              </a:rPr>
              <a:t>sum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(),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00FF00"/>
                </a:highlight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highlight>
                  <a:srgbClr val="00FF00"/>
                </a:highlight>
              </a:rPr>
              <a:t>name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00FF00"/>
                </a:highlight>
              </a:rPr>
              <a:t> 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</a:rPr>
              <a:t>monthseries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highlight>
                <a:srgbClr val="00FF00"/>
              </a:highlight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connect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yearseries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QPieSeries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clicked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DrilldownChart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handleSliceClicked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E4399C-53A1-B2FF-DBCB-42383FD4E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60" y="-138499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48728B2-3073-4901-71A6-985F66F9210A}"/>
              </a:ext>
            </a:extLst>
          </p:cNvPr>
          <p:cNvSpPr txBox="1"/>
          <p:nvPr/>
        </p:nvSpPr>
        <p:spPr>
          <a:xfrm>
            <a:off x="260430" y="603025"/>
            <a:ext cx="79608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第三步：生成自定义的</a:t>
            </a:r>
            <a:r>
              <a:rPr lang="en-US" altLang="zh-CN" sz="2000">
                <a:solidFill>
                  <a:srgbClr val="800080"/>
                </a:solidFill>
                <a:effectLst/>
                <a:highlight>
                  <a:srgbClr val="00FF00"/>
                </a:highlight>
              </a:rPr>
              <a:t>DrilldownChart</a:t>
            </a:r>
            <a:r>
              <a:rPr lang="zh-CN" altLang="en-US" sz="2000">
                <a:solidFill>
                  <a:schemeClr val="bg1"/>
                </a:solidFill>
                <a:effectLst/>
              </a:rPr>
              <a:t>替换掉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</a:rPr>
              <a:t>QChart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，并添加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connect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A8FB32D-B7FB-B3EE-90C3-20094303EC1C}"/>
              </a:ext>
            </a:extLst>
          </p:cNvPr>
          <p:cNvSpPr txBox="1"/>
          <p:nvPr/>
        </p:nvSpPr>
        <p:spPr>
          <a:xfrm>
            <a:off x="260430" y="6469215"/>
            <a:ext cx="10104277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&lt;QChart&gt;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QAbstractSeries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QPieSlice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DrilldownChart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Q_OBJECT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explicit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DrilldownChart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QGraphicsItem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nullptr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WindowFlags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wFlags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{});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changeSeries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QAbstractSeries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Q_SLOTS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handleSliceClicked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QPieSlice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private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QAbstractSeries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m_currentSeries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6E4CEDD-F385-B228-1EFE-C1EB6C8A124C}"/>
              </a:ext>
            </a:extLst>
          </p:cNvPr>
          <p:cNvSpPr/>
          <p:nvPr/>
        </p:nvSpPr>
        <p:spPr>
          <a:xfrm>
            <a:off x="8107680" y="1003135"/>
            <a:ext cx="2257027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main</a:t>
            </a:r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572ABC0-69A6-C48E-1063-0CD8DC78D969}"/>
              </a:ext>
            </a:extLst>
          </p:cNvPr>
          <p:cNvSpPr/>
          <p:nvPr/>
        </p:nvSpPr>
        <p:spPr>
          <a:xfrm>
            <a:off x="8107679" y="6469215"/>
            <a:ext cx="2257027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DrilldownChart</a:t>
            </a:r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532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A2EB736-65BE-49B3-A741-AB80F73B9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78" y="6116730"/>
            <a:ext cx="9907929" cy="3179457"/>
          </a:xfrm>
          <a:prstGeom prst="rect">
            <a:avLst/>
          </a:prstGeom>
        </p:spPr>
      </p:pic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ADD60F8-3AE3-DF2D-5BFD-6A6E43531264}"/>
              </a:ext>
            </a:extLst>
          </p:cNvPr>
          <p:cNvCxnSpPr>
            <a:cxnSpLocks/>
            <a:stCxn id="2" idx="0"/>
            <a:endCxn id="2" idx="2"/>
          </p:cNvCxnSpPr>
          <p:nvPr/>
        </p:nvCxnSpPr>
        <p:spPr>
          <a:xfrm>
            <a:off x="5410743" y="6116730"/>
            <a:ext cx="0" cy="3179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ABA540CE-9710-CCD0-D98D-1F58D65A0D2D}"/>
              </a:ext>
            </a:extLst>
          </p:cNvPr>
          <p:cNvCxnSpPr>
            <a:cxnSpLocks/>
          </p:cNvCxnSpPr>
          <p:nvPr/>
        </p:nvCxnSpPr>
        <p:spPr>
          <a:xfrm>
            <a:off x="2879475" y="7057915"/>
            <a:ext cx="29794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90EDB8BE-CAF4-B28C-0C7A-C20986675CF8}"/>
              </a:ext>
            </a:extLst>
          </p:cNvPr>
          <p:cNvSpPr txBox="1"/>
          <p:nvPr/>
        </p:nvSpPr>
        <p:spPr>
          <a:xfrm>
            <a:off x="3681281" y="666617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highlight>
                  <a:srgbClr val="0000FF"/>
                </a:highlight>
              </a:rPr>
              <a:t>点击</a:t>
            </a:r>
            <a:endParaRPr lang="zh-CN" altLang="en-US" sz="2000" dirty="0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306A109-69F2-729E-8C93-5E0CD165B4E5}"/>
              </a:ext>
            </a:extLst>
          </p:cNvPr>
          <p:cNvCxnSpPr/>
          <p:nvPr/>
        </p:nvCxnSpPr>
        <p:spPr>
          <a:xfrm flipH="1">
            <a:off x="2818515" y="7225555"/>
            <a:ext cx="30403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D5F324BA-F701-3191-EC64-DF3CA36EE29A}"/>
              </a:ext>
            </a:extLst>
          </p:cNvPr>
          <p:cNvSpPr txBox="1"/>
          <p:nvPr/>
        </p:nvSpPr>
        <p:spPr>
          <a:xfrm>
            <a:off x="260430" y="681409"/>
            <a:ext cx="10104277" cy="5078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DrilldownChart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DrilldownChart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QGraphicsItem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WindowFlags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wFlags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ChartTypeCartesian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wFlags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m_currentSeries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DrilldownChart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changeSeries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QAbstractSeries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{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NOTE: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the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owned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by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the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will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be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deleted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here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the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"window"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owns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the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series...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m_currentSeries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removeSeries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m_currentSeries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m_currentSeries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setTitle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name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DrilldownChart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handleSliceClicked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QPieSlice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DrilldownSlice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drilldownSlice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static_cast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DrilldownSlice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*&gt;(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changeSeries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drilldownSlice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drilldownSeries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84452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A421E533-5B12-07F0-F2FA-09AF696D906F}"/>
              </a:ext>
            </a:extLst>
          </p:cNvPr>
          <p:cNvSpPr txBox="1"/>
          <p:nvPr/>
        </p:nvSpPr>
        <p:spPr>
          <a:xfrm>
            <a:off x="594412" y="198099"/>
            <a:ext cx="9174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solidFill>
                  <a:schemeClr val="accent3"/>
                </a:solidFill>
              </a:rPr>
              <a:t>主题设置</a:t>
            </a:r>
            <a:endParaRPr lang="en-US" altLang="zh-CN" sz="2000" b="1">
              <a:solidFill>
                <a:schemeClr val="accent3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B95B2E-D0B8-4C98-659A-22C120B2C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09" y="1059436"/>
            <a:ext cx="4347992" cy="297085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A68CF77-F13E-169B-653B-FC911CC8C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52" y="1059435"/>
            <a:ext cx="4490171" cy="297085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E3BA79E-B028-0DCD-F47D-96EC5C437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09" y="4541793"/>
            <a:ext cx="5048726" cy="277875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2BB9859-0EA3-8473-21A8-88E53693E9E6}"/>
              </a:ext>
            </a:extLst>
          </p:cNvPr>
          <p:cNvSpPr txBox="1"/>
          <p:nvPr/>
        </p:nvSpPr>
        <p:spPr>
          <a:xfrm>
            <a:off x="594412" y="615561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为图表设置不同的风格：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48011CB-9291-6194-A763-247FD727FDAA}"/>
              </a:ext>
            </a:extLst>
          </p:cNvPr>
          <p:cNvSpPr txBox="1"/>
          <p:nvPr/>
        </p:nvSpPr>
        <p:spPr>
          <a:xfrm>
            <a:off x="693409" y="4132846"/>
            <a:ext cx="12779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</a:rPr>
              <a:t>1</a:t>
            </a:r>
            <a:r>
              <a:rPr lang="zh-CN" altLang="en-US" sz="2000">
                <a:solidFill>
                  <a:schemeClr val="bg1"/>
                </a:solidFill>
              </a:rPr>
              <a:t>、</a:t>
            </a:r>
            <a:r>
              <a:rPr lang="en-US" altLang="zh-CN" sz="2000">
                <a:solidFill>
                  <a:schemeClr val="bg1"/>
                </a:solidFill>
              </a:rPr>
              <a:t>ui</a:t>
            </a:r>
            <a:r>
              <a:rPr lang="zh-CN" altLang="en-US" sz="2000">
                <a:solidFill>
                  <a:schemeClr val="bg1"/>
                </a:solidFill>
              </a:rPr>
              <a:t>准备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1EB62C4F-9FCC-6C8D-1A06-A8BE4FAD35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948" y="4673871"/>
            <a:ext cx="3571875" cy="251460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5339E129-1159-0A88-9DC9-0ACFCC80643E}"/>
              </a:ext>
            </a:extLst>
          </p:cNvPr>
          <p:cNvSpPr txBox="1"/>
          <p:nvPr/>
        </p:nvSpPr>
        <p:spPr>
          <a:xfrm>
            <a:off x="693409" y="7431941"/>
            <a:ext cx="5317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</a:rPr>
              <a:t>1</a:t>
            </a:r>
            <a:r>
              <a:rPr lang="zh-CN" altLang="en-US" sz="2000">
                <a:solidFill>
                  <a:schemeClr val="bg1"/>
                </a:solidFill>
              </a:rPr>
              <a:t>、数据准备：随机产生三组数据，每组</a:t>
            </a:r>
            <a:r>
              <a:rPr lang="en-US" altLang="zh-CN" sz="2000">
                <a:solidFill>
                  <a:schemeClr val="bg1"/>
                </a:solidFill>
              </a:rPr>
              <a:t>7</a:t>
            </a:r>
            <a:r>
              <a:rPr lang="zh-CN" altLang="en-US" sz="2000">
                <a:solidFill>
                  <a:schemeClr val="bg1"/>
                </a:solidFill>
              </a:rPr>
              <a:t>个。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4F33840-01AD-831A-FDED-B127BEA98103}"/>
              </a:ext>
            </a:extLst>
          </p:cNvPr>
          <p:cNvSpPr txBox="1"/>
          <p:nvPr/>
        </p:nvSpPr>
        <p:spPr>
          <a:xfrm>
            <a:off x="386080" y="7851290"/>
            <a:ext cx="9763760" cy="4801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</a:rPr>
              <a:t>DataTable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</a:rPr>
              <a:t>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</a:rPr>
              <a:t>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" panose="020B0604020202020204" pitchFamily="34" charset="0"/>
              </a:rPr>
              <a:t>generateRandomData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" panose="020B0604020202020204" pitchFamily="34" charset="0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" panose="020B0604020202020204" pitchFamily="34" charset="0"/>
              </a:rPr>
              <a:t>listCount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" panose="020B0604020202020204" pitchFamily="34" charset="0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" panose="020B0604020202020204" pitchFamily="34" charset="0"/>
              </a:rPr>
              <a:t>valueMax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" panose="020B0604020202020204" pitchFamily="34" charset="0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" panose="020B0604020202020204" pitchFamily="34" charset="0"/>
              </a:rPr>
              <a:t>valueCount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" panose="020B0604020202020204" pitchFamily="34" charset="0"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DataTable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dataTable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" panose="020B0604020202020204" pitchFamily="34" charset="0"/>
              </a:rPr>
              <a:t>//typedef</a:t>
            </a: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" panose="020B0604020202020204" pitchFamily="34" charset="0"/>
              </a:rPr>
              <a:t>QList&lt;DataList&gt;</a:t>
            </a: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" panose="020B0604020202020204" pitchFamily="34" charset="0"/>
              </a:rPr>
              <a:t>DataTable;</a:t>
            </a: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//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generate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random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data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listCount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++)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DataList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dataList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//typedef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QList&lt;Data&gt;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DataList;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qreal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yValue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valueCount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++)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yValue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+=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QRandomGenerator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global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bounded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1.5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QPointF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yValue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label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"Slice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number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":"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number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dataList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Data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label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//typedef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QPair&lt;QPointF,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QString&gt;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Data;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dataTable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dataList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dataTable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473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5339E129-1159-0A88-9DC9-0ACFCC80643E}"/>
              </a:ext>
            </a:extLst>
          </p:cNvPr>
          <p:cNvSpPr txBox="1"/>
          <p:nvPr/>
        </p:nvSpPr>
        <p:spPr>
          <a:xfrm>
            <a:off x="738018" y="650141"/>
            <a:ext cx="18533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</a:rPr>
              <a:t>3</a:t>
            </a:r>
            <a:r>
              <a:rPr lang="zh-CN" altLang="en-US" sz="2000">
                <a:solidFill>
                  <a:schemeClr val="bg1"/>
                </a:solidFill>
              </a:rPr>
              <a:t>、框架搭建。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4F33840-01AD-831A-FDED-B127BEA98103}"/>
              </a:ext>
            </a:extLst>
          </p:cNvPr>
          <p:cNvSpPr txBox="1"/>
          <p:nvPr/>
        </p:nvSpPr>
        <p:spPr>
          <a:xfrm>
            <a:off x="738018" y="1050251"/>
            <a:ext cx="9038431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char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[])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QApplication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setWindowIcon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QIcon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"../images/ball.png"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setCentralWidget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resize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900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600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show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show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exec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04F791B-61C3-1C67-8E76-445EB76E49AC}"/>
              </a:ext>
            </a:extLst>
          </p:cNvPr>
          <p:cNvSpPr/>
          <p:nvPr/>
        </p:nvSpPr>
        <p:spPr>
          <a:xfrm>
            <a:off x="8463280" y="1050251"/>
            <a:ext cx="1313169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main</a:t>
            </a:r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4495648-B160-6456-0F7C-EF1C3D5FC4F0}"/>
              </a:ext>
            </a:extLst>
          </p:cNvPr>
          <p:cNvSpPr txBox="1"/>
          <p:nvPr/>
        </p:nvSpPr>
        <p:spPr>
          <a:xfrm>
            <a:off x="738018" y="4047451"/>
            <a:ext cx="9038431" cy="59093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Q_OBJECT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explicit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nullptr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~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private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Q_SLOTS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updateUI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private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createAreaChart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DataTable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generateRandomData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listCount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valueMax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valueCount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populateThemeBox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populateAnimationBox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populateLegendBox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private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m_listCount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m_valueMax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m_valueCount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DataTable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m_dataTable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m_chartView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Ui_theme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629A15B-0B05-F8A1-1CCF-6503620EA81B}"/>
              </a:ext>
            </a:extLst>
          </p:cNvPr>
          <p:cNvSpPr/>
          <p:nvPr/>
        </p:nvSpPr>
        <p:spPr>
          <a:xfrm>
            <a:off x="8463280" y="4047451"/>
            <a:ext cx="1313169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Theme</a:t>
            </a:r>
            <a:r>
              <a:rPr lang="zh-CN" altLang="en-US"/>
              <a:t>声明</a:t>
            </a:r>
          </a:p>
        </p:txBody>
      </p:sp>
    </p:spTree>
    <p:extLst>
      <p:ext uri="{BB962C8B-B14F-4D97-AF65-F5344CB8AC3E}">
        <p14:creationId xmlns:p14="http://schemas.microsoft.com/office/powerpoint/2010/main" val="2967300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56278DF3-5E67-A484-E4EC-ACDD69AA5A88}"/>
              </a:ext>
            </a:extLst>
          </p:cNvPr>
          <p:cNvSpPr txBox="1"/>
          <p:nvPr/>
        </p:nvSpPr>
        <p:spPr>
          <a:xfrm>
            <a:off x="793353" y="736798"/>
            <a:ext cx="9038431" cy="75713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</a:rPr>
              <a:t>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" panose="020B0604020202020204" pitchFamily="34" charset="0"/>
              </a:rPr>
              <a:t>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" panose="020B0604020202020204" pitchFamily="34" charset="0"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m_listCount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m_valueMax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10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m_valueCount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7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),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m_dataTable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generateRandomData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m_listCount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m_valueMax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m_valueCount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)),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Ui_theme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setupUi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populateThemeBox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populateAnimationBox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populateLegendBox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m_chartView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QChartView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createAreaChart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gridLayout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addWidget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m_chartView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//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Set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defaults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antialiasCheckBox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setChecked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true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updateUI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connect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themeComboBox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SIGNAL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(currentIndexChanged(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)),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SLOT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(updateUI()));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connect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antialiasCheckBox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SIGNAL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(toggled(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bool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)),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SLOT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(updateUI()));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connect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legendComboBox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SIGNAL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(currentIndexChanged(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)),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SLOT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(updateUI()));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connect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animatedComboBox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SIGNAL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(currentIndexChanged(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)),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SLOT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(updateUI()));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6BBA8DF-FA84-7957-16E6-035BD970B73B}"/>
              </a:ext>
            </a:extLst>
          </p:cNvPr>
          <p:cNvSpPr/>
          <p:nvPr/>
        </p:nvSpPr>
        <p:spPr>
          <a:xfrm>
            <a:off x="7995921" y="724119"/>
            <a:ext cx="1835864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Theme</a:t>
            </a:r>
            <a:r>
              <a:rPr lang="zh-CN" altLang="en-US"/>
              <a:t>构造函数</a:t>
            </a:r>
          </a:p>
        </p:txBody>
      </p:sp>
    </p:spTree>
    <p:extLst>
      <p:ext uri="{BB962C8B-B14F-4D97-AF65-F5344CB8AC3E}">
        <p14:creationId xmlns:p14="http://schemas.microsoft.com/office/powerpoint/2010/main" val="533717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56278DF3-5E67-A484-E4EC-ACDD69AA5A88}"/>
              </a:ext>
            </a:extLst>
          </p:cNvPr>
          <p:cNvSpPr txBox="1"/>
          <p:nvPr/>
        </p:nvSpPr>
        <p:spPr>
          <a:xfrm>
            <a:off x="793353" y="736798"/>
            <a:ext cx="9038431" cy="78483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populateThemeBox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add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items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themeComboBox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"Light"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ChartThemeLight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themeComboBox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"Blue Cerulean"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ChartThemeBlueCerulean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themeComboBox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"Dark"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ChartThemeDark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themeComboBox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"Brown Sand"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ChartThemeBrownSand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themeComboBox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"Blue NCS"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ChartThemeBlueNcs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themeComboBox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"High Contrast"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ChartThemeHighContrast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themeComboBox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"Blue Icy"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ChartThemeBlueIcy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themeComboBox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"Qt"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ChartThemeQt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populateAnimationBox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add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items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animation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animatedComboBox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"No Animations"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NoAnimation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animatedComboBox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"GridAxis Animations"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GridAxisAnimations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animatedComboBox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"Series Animations"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SeriesAnimations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animatedComboBox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"All Animations"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AllAnimations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populateLegendBox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add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items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legend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legendComboBox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"No Legend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legendComboBox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"Legend Top"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AlignTop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legendComboBox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"Legend Bottom"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AlignBottom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legendComboBox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"Legend Left"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AlignLeft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legendComboBox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"Legend Right"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AlignRight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6BBA8DF-FA84-7957-16E6-035BD970B73B}"/>
              </a:ext>
            </a:extLst>
          </p:cNvPr>
          <p:cNvSpPr/>
          <p:nvPr/>
        </p:nvSpPr>
        <p:spPr>
          <a:xfrm>
            <a:off x="6963508" y="724119"/>
            <a:ext cx="2868277" cy="3544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Theme</a:t>
            </a:r>
            <a:r>
              <a:rPr lang="zh-CN" altLang="en-US"/>
              <a:t>：</a:t>
            </a:r>
            <a:r>
              <a:rPr lang="en-US" altLang="zh-CN"/>
              <a:t>ComboBox</a:t>
            </a:r>
            <a:r>
              <a:rPr lang="zh-CN" altLang="en-US"/>
              <a:t>初始化</a:t>
            </a:r>
          </a:p>
        </p:txBody>
      </p:sp>
    </p:spTree>
    <p:extLst>
      <p:ext uri="{BB962C8B-B14F-4D97-AF65-F5344CB8AC3E}">
        <p14:creationId xmlns:p14="http://schemas.microsoft.com/office/powerpoint/2010/main" val="1018030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56278DF3-5E67-A484-E4EC-ACDD69AA5A88}"/>
              </a:ext>
            </a:extLst>
          </p:cNvPr>
          <p:cNvSpPr txBox="1"/>
          <p:nvPr/>
        </p:nvSpPr>
        <p:spPr>
          <a:xfrm>
            <a:off x="793353" y="736798"/>
            <a:ext cx="9038431" cy="81253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createAreaChart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setTitle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"Area chart"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The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lower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initialized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zero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values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QLineSeries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lowerSeries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name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"Series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nameIndex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m_dataTable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count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++)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QLineSeries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upperSeries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QLineSeries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m_dataTable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]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count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++)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Data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data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m_dataTable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]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lowerSeries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points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lowerSeries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points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upperSeries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append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QPointF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points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]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data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first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upperSeries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append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QPointF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data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first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QAreaSeries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area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QAreaSeries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upperSeries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lowerSeries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area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setName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name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number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nameIndex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nameIndex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++;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area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lowerSeries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upperSeries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createDefaultAxes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QValueAxis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axisX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qobject_cast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QValueAxis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*&gt;(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axes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Horizontal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first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axisX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setTickCount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m_valueCount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axisX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setLabelFormat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"%d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6BBA8DF-FA84-7957-16E6-035BD970B73B}"/>
              </a:ext>
            </a:extLst>
          </p:cNvPr>
          <p:cNvSpPr/>
          <p:nvPr/>
        </p:nvSpPr>
        <p:spPr>
          <a:xfrm>
            <a:off x="7995921" y="724119"/>
            <a:ext cx="1835864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Theme</a:t>
            </a:r>
            <a:r>
              <a:rPr lang="zh-CN" altLang="en-US"/>
              <a:t>创建图表</a:t>
            </a:r>
          </a:p>
        </p:txBody>
      </p:sp>
    </p:spTree>
    <p:extLst>
      <p:ext uri="{BB962C8B-B14F-4D97-AF65-F5344CB8AC3E}">
        <p14:creationId xmlns:p14="http://schemas.microsoft.com/office/powerpoint/2010/main" val="278990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56278DF3-5E67-A484-E4EC-ACDD69AA5A88}"/>
              </a:ext>
            </a:extLst>
          </p:cNvPr>
          <p:cNvSpPr txBox="1"/>
          <p:nvPr/>
        </p:nvSpPr>
        <p:spPr>
          <a:xfrm>
            <a:off x="743495" y="630765"/>
            <a:ext cx="9670161" cy="13388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updateUI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ChartTheme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static_cast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ChartTheme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&gt;(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</a:rPr>
              <a:t>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themeComboBox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itemData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themeComboBox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currentIndex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m_chartView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Set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palette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colors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based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selected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QPalette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qApp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palette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ChartThemeLight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setColor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QPalette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QRgb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0xf0f0f0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setColor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QPalette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WindowText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QRgb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0x404044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ChartThemeDark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setColor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QPalette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QRgb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0x121218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setColor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QPalette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WindowText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QRgb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0xd6d6d6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ChartThemeBlueCerulean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setColor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QPalette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QRgb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0x40434a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setColor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QPalette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WindowText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QRgb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0xd6d6d6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ChartThemeBrownSand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setColor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QPalette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QRgb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0x9e8965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setColor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QPalette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WindowText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QRgb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0x404044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ChartThemeBlueNcs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setColor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QPalette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QRgb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0x018bba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setColor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QPalette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WindowText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QRgb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0x404044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ChartThemeHighContrast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setColor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QPalette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QRgb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0xffab03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setColor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QPalette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WindowText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QRgb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0x181818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theme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ChartThemeBlueIcy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setColor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QPalette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QRgb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0xcee7f0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setColor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QPalette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WindowText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QRgb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0x404044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setColor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QPalette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QRgb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0xf0f0f0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setColor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QPalette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WindowText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QRgb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0x404044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qApp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setPalette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Update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antialiasing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bool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checked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antialiasCheckBox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isChecked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m_chartView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setRenderHint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QPainter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Antialiasing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checked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Update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animation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options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AnimationOptions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options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</a:rPr>
              <a:t>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animatedComboBox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itemData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animatedComboBox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currentIndex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m_chartView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setAnimationOptions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options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Update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legend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alignment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Alignment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alignment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</a:rPr>
              <a:t>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legendComboBox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itemData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legendComboBox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currentIndex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!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alignment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m_chartView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legend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hide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m_chartView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legend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setAlignment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alignment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m_chartView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chart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legend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show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6BBA8DF-FA84-7957-16E6-035BD970B73B}"/>
              </a:ext>
            </a:extLst>
          </p:cNvPr>
          <p:cNvSpPr/>
          <p:nvPr/>
        </p:nvSpPr>
        <p:spPr>
          <a:xfrm>
            <a:off x="8531704" y="723362"/>
            <a:ext cx="1835864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Theme</a:t>
            </a:r>
            <a:r>
              <a:rPr lang="zh-CN" altLang="en-US"/>
              <a:t>：更新</a:t>
            </a:r>
            <a:r>
              <a:rPr lang="en-US" altLang="zh-CN"/>
              <a:t>UI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9201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FjYTU0NWJkMWQ1YTMwMTViZThhYTk5YTFlZGRhMzgifQ=="/>
</p:tagLst>
</file>

<file path=ppt/theme/theme1.xml><?xml version="1.0" encoding="utf-8"?>
<a:theme xmlns:a="http://schemas.openxmlformats.org/drawingml/2006/main" name="第一PPT，www.1ppt.com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反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第4章：程序流程之循环</Template>
  <TotalTime>6286</TotalTime>
  <Words>3585</Words>
  <Application>Microsoft Office PowerPoint</Application>
  <PresentationFormat>自定义</PresentationFormat>
  <Paragraphs>378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 Unicode MS</vt:lpstr>
      <vt:lpstr>等线</vt:lpstr>
      <vt:lpstr>华文琥珀</vt:lpstr>
      <vt:lpstr>微软雅黑</vt:lpstr>
      <vt:lpstr>Arial</vt:lpstr>
      <vt:lpstr>Calibri</vt:lpstr>
      <vt:lpstr>Cambria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蔡乐</dc:creator>
  <cp:lastModifiedBy>宇恒 张</cp:lastModifiedBy>
  <cp:revision>1481</cp:revision>
  <dcterms:created xsi:type="dcterms:W3CDTF">2020-06-26T01:00:00Z</dcterms:created>
  <dcterms:modified xsi:type="dcterms:W3CDTF">2023-08-16T02:54:17Z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2052-11.1.0.11744</vt:lpwstr>
  </property>
  <property fmtid="{D5CDD505-2E9C-101B-9397-08002B2CF9AE}" pid="3" name="ICV">
    <vt:lpwstr>35C8A0B9FA4B4BC7B03E97E74C2317FB</vt:lpwstr>
  </property>
</Properties>
</file>