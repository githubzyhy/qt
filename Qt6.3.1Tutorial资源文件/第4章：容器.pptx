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258" r:id="rId3"/>
    <p:sldId id="330" r:id="rId4"/>
    <p:sldId id="331" r:id="rId5"/>
    <p:sldId id="332" r:id="rId6"/>
    <p:sldId id="333" r:id="rId7"/>
  </p:sldIdLst>
  <p:sldSz cx="10625138" cy="1440021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480" y="-4771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0T02:13:16.1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22 423 24575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容器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3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962152" y="353887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容器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3AD4F-1742-B663-4EA8-1B5F890FC976}"/>
              </a:ext>
            </a:extLst>
          </p:cNvPr>
          <p:cNvSpPr txBox="1"/>
          <p:nvPr/>
        </p:nvSpPr>
        <p:spPr>
          <a:xfrm>
            <a:off x="1076203" y="732731"/>
            <a:ext cx="81127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我们将学习以下容器：</a:t>
            </a:r>
            <a:r>
              <a:rPr lang="en-US" altLang="zh-CN">
                <a:solidFill>
                  <a:schemeClr val="bg1"/>
                </a:solidFill>
              </a:rPr>
              <a:t>QList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QSet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>
                <a:solidFill>
                  <a:schemeClr val="bg1"/>
                </a:solidFill>
              </a:rPr>
              <a:t>QMap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有两种容器：顺序容器和关联容器。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顺序（</a:t>
            </a:r>
            <a:r>
              <a:rPr lang="en-US" altLang="zh-CN">
                <a:solidFill>
                  <a:schemeClr val="bg1"/>
                </a:solidFill>
              </a:rPr>
              <a:t>sequence</a:t>
            </a:r>
            <a:r>
              <a:rPr lang="zh-CN" altLang="en-US">
                <a:solidFill>
                  <a:schemeClr val="bg1"/>
                </a:solidFill>
              </a:rPr>
              <a:t>）容器一个接一个地存储项</a:t>
            </a:r>
            <a:endParaRPr lang="en-US" altLang="zh-CN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QList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、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QVector(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在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qt6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中，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QVector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是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QList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别名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)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而关联容器存储键值对。</a:t>
            </a:r>
            <a:endParaRPr lang="en-US" altLang="zh-CN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QSet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QMap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76203" y="2477099"/>
            <a:ext cx="8489435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&lt;QList&gt;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</a:rPr>
              <a:t>”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vector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容器大小是：</a:t>
            </a:r>
            <a:r>
              <a:rPr lang="en-US" altLang="zh-CN">
                <a:solidFill>
                  <a:srgbClr val="008000"/>
                </a:solidFill>
              </a:rPr>
              <a:t>”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</a:rPr>
              <a:t>”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第一个元素是：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first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</a:rPr>
              <a:t>”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最后一个元素是</a:t>
            </a:r>
            <a:r>
              <a:rPr lang="zh-CN" altLang="en-US">
                <a:solidFill>
                  <a:srgbClr val="008000"/>
                </a:solidFill>
              </a:rPr>
              <a:t>：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last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6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prepend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"Elements: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 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26A9CD-7124-2322-F0EA-85F3A739697D}"/>
              </a:ext>
            </a:extLst>
          </p:cNvPr>
          <p:cNvSpPr txBox="1"/>
          <p:nvPr/>
        </p:nvSpPr>
        <p:spPr>
          <a:xfrm>
            <a:off x="6855362" y="3087870"/>
            <a:ext cx="2799080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/>
              <a:t>vector容器大小是：5</a:t>
            </a:r>
          </a:p>
          <a:p>
            <a:r>
              <a:rPr lang="zh-CN" altLang="en-US"/>
              <a:t>第一个元素是： 1</a:t>
            </a:r>
          </a:p>
          <a:p>
            <a:r>
              <a:rPr lang="zh-CN" altLang="en-US"/>
              <a:t>最后一个元素是： 5</a:t>
            </a:r>
          </a:p>
          <a:p>
            <a:r>
              <a:rPr lang="zh-CN" altLang="en-US"/>
              <a:t>Elements: </a:t>
            </a:r>
            <a:endParaRPr lang="en-US" altLang="zh-CN"/>
          </a:p>
          <a:p>
            <a:r>
              <a:rPr lang="zh-CN" altLang="en-US"/>
              <a:t>0</a:t>
            </a:r>
            <a:endParaRPr lang="en-US" altLang="zh-CN"/>
          </a:p>
          <a:p>
            <a:r>
              <a:rPr lang="zh-CN" altLang="en-US"/>
              <a:t>1</a:t>
            </a:r>
            <a:endParaRPr lang="en-US" altLang="zh-CN"/>
          </a:p>
          <a:p>
            <a:r>
              <a:rPr lang="zh-CN" altLang="en-US"/>
              <a:t>2</a:t>
            </a:r>
            <a:endParaRPr lang="en-US" altLang="zh-CN"/>
          </a:p>
          <a:p>
            <a:r>
              <a:rPr lang="zh-CN" altLang="en-US"/>
              <a:t>3</a:t>
            </a:r>
            <a:endParaRPr lang="en-US" altLang="zh-CN"/>
          </a:p>
          <a:p>
            <a:r>
              <a:rPr lang="zh-CN" altLang="en-US"/>
              <a:t>4</a:t>
            </a:r>
            <a:endParaRPr lang="en-US" altLang="zh-CN"/>
          </a:p>
          <a:p>
            <a:r>
              <a:rPr lang="zh-CN" altLang="en-US"/>
              <a:t>5</a:t>
            </a:r>
            <a:endParaRPr lang="en-US" altLang="zh-CN"/>
          </a:p>
          <a:p>
            <a:r>
              <a:rPr lang="zh-CN" altLang="en-US"/>
              <a:t>6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69200" y="2498312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QList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CFB3F5-6776-F183-A219-A54378F2417C}"/>
              </a:ext>
            </a:extLst>
          </p:cNvPr>
          <p:cNvSpPr txBox="1"/>
          <p:nvPr/>
        </p:nvSpPr>
        <p:spPr>
          <a:xfrm>
            <a:off x="1067851" y="6667643"/>
            <a:ext cx="8489435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&lt;QList&gt;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&lt;QLocale&gt;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&lt;QCollator&gt;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&lt;algorithm&gt;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"张三"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"李四"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"王五"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"莫言"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"刘慈欣"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"***********************"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QLocale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Chinese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QCollator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collator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sort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begin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collator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"按拼音排序:"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0064AA-51BF-38F3-D7D5-123A83A27F46}"/>
              </a:ext>
            </a:extLst>
          </p:cNvPr>
          <p:cNvSpPr txBox="1"/>
          <p:nvPr/>
        </p:nvSpPr>
        <p:spPr>
          <a:xfrm>
            <a:off x="6779162" y="7472102"/>
            <a:ext cx="2934775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/>
              <a:t>张三</a:t>
            </a:r>
          </a:p>
          <a:p>
            <a:r>
              <a:rPr lang="zh-CN" altLang="en-US"/>
              <a:t>李四</a:t>
            </a:r>
          </a:p>
          <a:p>
            <a:r>
              <a:rPr lang="zh-CN" altLang="en-US"/>
              <a:t>王五</a:t>
            </a:r>
          </a:p>
          <a:p>
            <a:r>
              <a:rPr lang="zh-CN" altLang="en-US"/>
              <a:t>***********************</a:t>
            </a:r>
          </a:p>
          <a:p>
            <a:r>
              <a:rPr lang="en-US" altLang="zh-CN"/>
              <a:t>Sorted:</a:t>
            </a:r>
          </a:p>
          <a:p>
            <a:r>
              <a:rPr lang="zh-CN" altLang="en-US"/>
              <a:t>李四</a:t>
            </a:r>
          </a:p>
          <a:p>
            <a:r>
              <a:rPr lang="zh-CN" altLang="en-US"/>
              <a:t>刘慈欣</a:t>
            </a:r>
          </a:p>
          <a:p>
            <a:r>
              <a:rPr lang="zh-CN" altLang="en-US"/>
              <a:t>莫言</a:t>
            </a:r>
          </a:p>
          <a:p>
            <a:r>
              <a:rPr lang="zh-CN" altLang="en-US"/>
              <a:t>王五</a:t>
            </a:r>
          </a:p>
          <a:p>
            <a:r>
              <a:rPr lang="zh-CN" altLang="en-US"/>
              <a:t>张三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1A0EFA33-F452-6A4C-18F1-F4192E05FF38}"/>
              </a:ext>
            </a:extLst>
          </p:cNvPr>
          <p:cNvSpPr txBox="1"/>
          <p:nvPr/>
        </p:nvSpPr>
        <p:spPr>
          <a:xfrm>
            <a:off x="6355423" y="436751"/>
            <a:ext cx="2637517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chemeClr val="tx1"/>
                </a:solidFill>
              </a:rPr>
              <a:t>数据结构与算法</a:t>
            </a:r>
            <a:endParaRPr lang="en-US" altLang="zh-CN" sz="2000">
              <a:solidFill>
                <a:schemeClr val="tx1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2000">
                <a:solidFill>
                  <a:schemeClr val="tx1"/>
                </a:solidFill>
              </a:rPr>
              <a:t>C++ </a:t>
            </a:r>
            <a:r>
              <a:rPr lang="zh-CN" altLang="en-US" sz="2000">
                <a:solidFill>
                  <a:schemeClr val="tx1"/>
                </a:solidFill>
              </a:rPr>
              <a:t>标准库：容器</a:t>
            </a:r>
            <a:endParaRPr lang="en-US" altLang="zh-CN" sz="2000">
              <a:solidFill>
                <a:schemeClr val="tx1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2000">
                <a:solidFill>
                  <a:schemeClr val="tx1"/>
                </a:solidFill>
              </a:rPr>
              <a:t>Qt</a:t>
            </a:r>
            <a:r>
              <a:rPr lang="zh-CN" altLang="en-US" sz="2000">
                <a:solidFill>
                  <a:schemeClr val="tx1"/>
                </a:solidFill>
              </a:rPr>
              <a:t>里的容器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986570" y="844418"/>
            <a:ext cx="8489435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&lt;QList&gt;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"coin, book, cup, pencil, clock, bookmark"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split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","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QStringListIterator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while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hasNext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qDebug()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trimmed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26A9CD-7124-2322-F0EA-85F3A739697D}"/>
              </a:ext>
            </a:extLst>
          </p:cNvPr>
          <p:cNvSpPr txBox="1"/>
          <p:nvPr/>
        </p:nvSpPr>
        <p:spPr>
          <a:xfrm>
            <a:off x="7825007" y="1249603"/>
            <a:ext cx="1694178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coin</a:t>
            </a:r>
          </a:p>
          <a:p>
            <a:r>
              <a:rPr lang="en-US" altLang="zh-CN"/>
              <a:t>book</a:t>
            </a:r>
          </a:p>
          <a:p>
            <a:r>
              <a:rPr lang="en-US" altLang="zh-CN"/>
              <a:t>cup</a:t>
            </a:r>
          </a:p>
          <a:p>
            <a:r>
              <a:rPr lang="en-US" altLang="zh-CN"/>
              <a:t>pencil</a:t>
            </a:r>
          </a:p>
          <a:p>
            <a:r>
              <a:rPr lang="en-US" altLang="zh-CN"/>
              <a:t>clock</a:t>
            </a:r>
          </a:p>
          <a:p>
            <a:r>
              <a:rPr lang="en-US" altLang="zh-CN"/>
              <a:t>bookmark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7990C-5445-47C0-D063-A3BD7350EF14}"/>
              </a:ext>
            </a:extLst>
          </p:cNvPr>
          <p:cNvSpPr txBox="1"/>
          <p:nvPr/>
        </p:nvSpPr>
        <p:spPr>
          <a:xfrm>
            <a:off x="2896702" y="560771"/>
            <a:ext cx="3511037" cy="6563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QStringListIterator</a:t>
            </a:r>
            <a:r>
              <a:rPr lang="zh-CN" altLang="en-US"/>
              <a:t>为</a:t>
            </a:r>
            <a:r>
              <a:rPr lang="en-US" altLang="zh-CN"/>
              <a:t>QStringList</a:t>
            </a:r>
            <a:r>
              <a:rPr lang="zh-CN" altLang="en-US"/>
              <a:t>提供了</a:t>
            </a:r>
            <a:r>
              <a:rPr lang="en-US" altLang="zh-CN"/>
              <a:t>Java</a:t>
            </a:r>
            <a:r>
              <a:rPr lang="zh-CN" altLang="en-US"/>
              <a:t>风格的</a:t>
            </a:r>
            <a:r>
              <a:rPr lang="en-US" altLang="zh-CN"/>
              <a:t>const</a:t>
            </a:r>
            <a:r>
              <a:rPr lang="zh-CN" altLang="en-US"/>
              <a:t>迭代器。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22746" y="762399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QStringList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F7F83F-1F84-A777-57ED-E0A911EF28F7}"/>
              </a:ext>
            </a:extLst>
          </p:cNvPr>
          <p:cNvSpPr txBox="1"/>
          <p:nvPr/>
        </p:nvSpPr>
        <p:spPr>
          <a:xfrm>
            <a:off x="923803" y="4629177"/>
            <a:ext cx="8489435" cy="7294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" panose="020B0604020202020204" pitchFamily="34" charset="0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&lt;QTextStream&gt;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&lt;QSet&gt;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&lt;QList&gt;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&lt;algorithm&gt;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using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namespace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QTextStream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stdout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"yellow"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"red"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blue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blue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"pink"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"orange"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 values in the set"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insert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"brown"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 values in the set"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  <a:latin typeface="Arial Unicode MS"/>
              </a:rPr>
              <a:t>unite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"There are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 values in the set"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cols1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lang="en-US" altLang="zh-CN">
                <a:solidFill>
                  <a:srgbClr val="008000"/>
                </a:solidFill>
                <a:effectLst/>
              </a:rPr>
              <a:t>//QList&lt;QString&gt;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lcols=cols1.values();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lang="en-US" altLang="zh-CN">
                <a:solidFill>
                  <a:srgbClr val="800080"/>
                </a:solidFill>
                <a:effectLst/>
              </a:rPr>
              <a:t>QList</a:t>
            </a:r>
            <a:r>
              <a:rPr lang="en-US" altLang="zh-CN"/>
              <a:t>&lt;</a:t>
            </a:r>
            <a:r>
              <a:rPr lang="en-US" altLang="zh-CN">
                <a:solidFill>
                  <a:srgbClr val="800080"/>
                </a:solidFill>
                <a:effectLst/>
              </a:rPr>
              <a:t>QString</a:t>
            </a:r>
            <a:r>
              <a:rPr lang="en-US" altLang="zh-CN"/>
              <a:t>&gt;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>
                <a:solidFill>
                  <a:srgbClr val="092E64"/>
                </a:solidFill>
                <a:effectLst/>
              </a:rPr>
              <a:t>lcols</a:t>
            </a:r>
            <a:r>
              <a:rPr lang="en-US" altLang="zh-CN"/>
              <a:t>(</a:t>
            </a:r>
            <a:r>
              <a:rPr lang="en-US" altLang="zh-CN">
                <a:solidFill>
                  <a:srgbClr val="092E64"/>
                </a:solidFill>
                <a:effectLst/>
              </a:rPr>
              <a:t>cols1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begin</a:t>
            </a:r>
            <a:r>
              <a:rPr lang="en-US" altLang="zh-CN"/>
              <a:t>(),</a:t>
            </a:r>
            <a:r>
              <a:rPr lang="en-US" altLang="zh-CN">
                <a:solidFill>
                  <a:srgbClr val="092E64"/>
                </a:solidFill>
                <a:effectLst/>
              </a:rPr>
              <a:t>cols1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end</a:t>
            </a:r>
            <a:r>
              <a:rPr lang="en-US" altLang="zh-CN"/>
              <a:t>());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sort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lcols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begin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lcols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"*********************"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"Sorted:"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lcols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9B8797-016F-3F20-486F-00FB507EF6AE}"/>
              </a:ext>
            </a:extLst>
          </p:cNvPr>
          <p:cNvSpPr txBox="1"/>
          <p:nvPr/>
        </p:nvSpPr>
        <p:spPr>
          <a:xfrm>
            <a:off x="6187440" y="8701249"/>
            <a:ext cx="3599177" cy="480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There are 3 values in the set</a:t>
            </a:r>
          </a:p>
          <a:p>
            <a:r>
              <a:rPr lang="en-US" altLang="zh-CN"/>
              <a:t>There are 4 values in the set</a:t>
            </a:r>
          </a:p>
          <a:p>
            <a:r>
              <a:rPr lang="en-US" altLang="zh-CN"/>
              <a:t>There are 6 values in the set</a:t>
            </a:r>
          </a:p>
          <a:p>
            <a:r>
              <a:rPr lang="en-US" altLang="zh-CN"/>
              <a:t>orange</a:t>
            </a:r>
          </a:p>
          <a:p>
            <a:r>
              <a:rPr lang="en-US" altLang="zh-CN"/>
              <a:t>yellow</a:t>
            </a:r>
          </a:p>
          <a:p>
            <a:r>
              <a:rPr lang="en-US" altLang="zh-CN"/>
              <a:t>brown</a:t>
            </a:r>
          </a:p>
          <a:p>
            <a:r>
              <a:rPr lang="en-US" altLang="zh-CN"/>
              <a:t>red</a:t>
            </a:r>
          </a:p>
          <a:p>
            <a:r>
              <a:rPr lang="en-US" altLang="zh-CN"/>
              <a:t>pink</a:t>
            </a:r>
          </a:p>
          <a:p>
            <a:r>
              <a:rPr lang="en-US" altLang="zh-CN"/>
              <a:t>blue</a:t>
            </a:r>
          </a:p>
          <a:p>
            <a:r>
              <a:rPr lang="en-US" altLang="zh-CN"/>
              <a:t>*********************</a:t>
            </a:r>
          </a:p>
          <a:p>
            <a:r>
              <a:rPr lang="en-US" altLang="zh-CN"/>
              <a:t>Sorted:</a:t>
            </a:r>
          </a:p>
          <a:p>
            <a:r>
              <a:rPr lang="en-US" altLang="zh-CN"/>
              <a:t>blue</a:t>
            </a:r>
          </a:p>
          <a:p>
            <a:r>
              <a:rPr lang="en-US" altLang="zh-CN"/>
              <a:t>brown</a:t>
            </a:r>
          </a:p>
          <a:p>
            <a:r>
              <a:rPr lang="en-US" altLang="zh-CN"/>
              <a:t>orange</a:t>
            </a:r>
          </a:p>
          <a:p>
            <a:r>
              <a:rPr lang="en-US" altLang="zh-CN"/>
              <a:t>pink</a:t>
            </a:r>
          </a:p>
          <a:p>
            <a:r>
              <a:rPr lang="en-US" altLang="zh-CN"/>
              <a:t>red</a:t>
            </a:r>
          </a:p>
          <a:p>
            <a:r>
              <a:rPr lang="en-US" altLang="zh-CN"/>
              <a:t>yellow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81B108-B072-B9A8-514E-52B012285EAE}"/>
              </a:ext>
            </a:extLst>
          </p:cNvPr>
          <p:cNvSpPr txBox="1"/>
          <p:nvPr/>
        </p:nvSpPr>
        <p:spPr>
          <a:xfrm>
            <a:off x="5231288" y="4998509"/>
            <a:ext cx="422513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提供具有快速查找功能的单值集。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不支持排序。</a:t>
            </a:r>
            <a:r>
              <a:rPr lang="en-US" altLang="zh-CN"/>
              <a:t>values</a:t>
            </a:r>
            <a:r>
              <a:rPr lang="zh-CN" altLang="en-US"/>
              <a:t>方法返回一个</a:t>
            </a:r>
            <a:r>
              <a:rPr lang="en-US" altLang="zh-CN"/>
              <a:t>QList</a:t>
            </a:r>
            <a:r>
              <a:rPr lang="zh-CN" altLang="en-US"/>
              <a:t>，其中包含</a:t>
            </a:r>
            <a:r>
              <a:rPr lang="en-US" altLang="zh-CN"/>
              <a:t>QSet</a:t>
            </a:r>
            <a:r>
              <a:rPr lang="zh-CN" altLang="en-US"/>
              <a:t>中的元素。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highlight>
                  <a:srgbClr val="00FF00"/>
                </a:highlight>
              </a:rPr>
              <a:t>unite</a:t>
            </a:r>
            <a:r>
              <a:rPr lang="zh-CN" altLang="en-US"/>
              <a:t>方法执行两个集合的并集。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EFA3813-DC59-8AD8-15EC-58CB5B9EE31E}"/>
              </a:ext>
            </a:extLst>
          </p:cNvPr>
          <p:cNvSpPr txBox="1"/>
          <p:nvPr/>
        </p:nvSpPr>
        <p:spPr>
          <a:xfrm>
            <a:off x="7459979" y="4547158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QSet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0F5CBA-C99C-9B5C-FCA2-462FDFC95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250" y="1249603"/>
            <a:ext cx="2786250" cy="9395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BCE575-6339-6E2F-7B78-0F93A68E2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603" y="2622696"/>
            <a:ext cx="2957390" cy="81606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E77D876-7840-3F9A-05FD-EE79F0351165}"/>
              </a:ext>
            </a:extLst>
          </p:cNvPr>
          <p:cNvSpPr txBox="1"/>
          <p:nvPr/>
        </p:nvSpPr>
        <p:spPr>
          <a:xfrm>
            <a:off x="5092479" y="3503717"/>
            <a:ext cx="3511037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QStringList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Iterator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items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begin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();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while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!=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items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qDebug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&lt;&lt;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(*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++).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trimmed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8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923803" y="821019"/>
            <a:ext cx="8489435" cy="8402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&lt;QTextStream&gt;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&lt;QMap&gt;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using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namespace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QTextStream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stdout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"coins"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"books"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insert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"bottles"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7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//QList&lt;int&gt;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values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=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items.values();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800080"/>
                </a:solidFill>
                <a:effectLst/>
              </a:rPr>
              <a:t>QList</a:t>
            </a:r>
            <a:r>
              <a:rPr lang="en-US" altLang="zh-CN"/>
              <a:t>&lt;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/>
              <a:t>&gt;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>
                <a:solidFill>
                  <a:srgbClr val="092E64"/>
                </a:solidFill>
                <a:effectLst/>
              </a:rPr>
              <a:t>values</a:t>
            </a:r>
            <a:r>
              <a:rPr lang="en-US" altLang="zh-CN"/>
              <a:t>(</a:t>
            </a:r>
            <a:r>
              <a:rPr lang="en-US" altLang="zh-CN">
                <a:solidFill>
                  <a:srgbClr val="092E64"/>
                </a:solidFill>
                <a:effectLst/>
              </a:rPr>
              <a:t>items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cbegin</a:t>
            </a:r>
            <a:r>
              <a:rPr lang="en-US" altLang="zh-CN"/>
              <a:t>(),</a:t>
            </a:r>
            <a:r>
              <a:rPr lang="en-US" altLang="zh-CN">
                <a:solidFill>
                  <a:srgbClr val="092E64"/>
                </a:solidFill>
                <a:effectLst/>
              </a:rPr>
              <a:t>items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cend</a:t>
            </a:r>
            <a:r>
              <a:rPr lang="en-US" altLang="zh-CN"/>
              <a:t>());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"Values:"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8000"/>
                </a:solidFill>
                <a:effectLst/>
              </a:rPr>
              <a:t>//QList&lt;QString&gt;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keys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=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items.keys();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0080"/>
                </a:solidFill>
                <a:effectLst/>
              </a:rPr>
              <a:t>QList</a:t>
            </a:r>
            <a:r>
              <a:rPr lang="en-US" altLang="zh-CN"/>
              <a:t>&lt;</a:t>
            </a:r>
            <a:r>
              <a:rPr lang="en-US" altLang="zh-CN">
                <a:solidFill>
                  <a:srgbClr val="800080"/>
                </a:solidFill>
                <a:effectLst/>
              </a:rPr>
              <a:t>QString</a:t>
            </a:r>
            <a:r>
              <a:rPr lang="en-US" altLang="zh-CN"/>
              <a:t>&gt;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>
                <a:solidFill>
                  <a:srgbClr val="092E64"/>
                </a:solidFill>
                <a:effectLst/>
              </a:rPr>
              <a:t>keys</a:t>
            </a:r>
            <a:r>
              <a:rPr lang="en-US" altLang="zh-CN"/>
              <a:t>(</a:t>
            </a:r>
            <a:r>
              <a:rPr lang="en-US" altLang="zh-CN">
                <a:solidFill>
                  <a:srgbClr val="092E64"/>
                </a:solidFill>
                <a:effectLst/>
              </a:rPr>
              <a:t>items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keyBegin</a:t>
            </a:r>
            <a:r>
              <a:rPr lang="en-US" altLang="zh-CN"/>
              <a:t>(),</a:t>
            </a:r>
            <a:r>
              <a:rPr lang="en-US" altLang="zh-CN">
                <a:solidFill>
                  <a:srgbClr val="092E64"/>
                </a:solidFill>
                <a:effectLst/>
              </a:rPr>
              <a:t>items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keyEnd</a:t>
            </a:r>
            <a:r>
              <a:rPr lang="en-US" altLang="zh-CN"/>
              <a:t>());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"Keys:"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keys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QMapIterator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"Pairs:"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while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hasNext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26A9CD-7124-2322-F0EA-85F3A739697D}"/>
              </a:ext>
            </a:extLst>
          </p:cNvPr>
          <p:cNvSpPr txBox="1"/>
          <p:nvPr/>
        </p:nvSpPr>
        <p:spPr>
          <a:xfrm>
            <a:off x="7762240" y="2251491"/>
            <a:ext cx="1694178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Values:</a:t>
            </a:r>
          </a:p>
          <a:p>
            <a:r>
              <a:rPr lang="en-US" altLang="zh-CN"/>
              <a:t>3</a:t>
            </a:r>
          </a:p>
          <a:p>
            <a:r>
              <a:rPr lang="en-US" altLang="zh-CN"/>
              <a:t>7</a:t>
            </a:r>
          </a:p>
          <a:p>
            <a:r>
              <a:rPr lang="en-US" altLang="zh-CN"/>
              <a:t>5</a:t>
            </a:r>
          </a:p>
          <a:p>
            <a:r>
              <a:rPr lang="en-US" altLang="zh-CN"/>
              <a:t>Keys:</a:t>
            </a:r>
          </a:p>
          <a:p>
            <a:r>
              <a:rPr lang="en-US" altLang="zh-CN"/>
              <a:t>books</a:t>
            </a:r>
          </a:p>
          <a:p>
            <a:r>
              <a:rPr lang="en-US" altLang="zh-CN"/>
              <a:t>bottles</a:t>
            </a:r>
          </a:p>
          <a:p>
            <a:r>
              <a:rPr lang="en-US" altLang="zh-CN"/>
              <a:t>coins</a:t>
            </a:r>
          </a:p>
          <a:p>
            <a:r>
              <a:rPr lang="en-US" altLang="zh-CN"/>
              <a:t>Pairs:</a:t>
            </a:r>
          </a:p>
          <a:p>
            <a:r>
              <a:rPr lang="en-US" altLang="zh-CN"/>
              <a:t>books: 3</a:t>
            </a:r>
          </a:p>
          <a:p>
            <a:r>
              <a:rPr lang="en-US" altLang="zh-CN"/>
              <a:t>bottles: 7</a:t>
            </a:r>
          </a:p>
          <a:p>
            <a:r>
              <a:rPr lang="en-US" altLang="zh-CN"/>
              <a:t>coins: 5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7990C-5445-47C0-D063-A3BD7350EF14}"/>
              </a:ext>
            </a:extLst>
          </p:cNvPr>
          <p:cNvSpPr txBox="1"/>
          <p:nvPr/>
        </p:nvSpPr>
        <p:spPr>
          <a:xfrm>
            <a:off x="4474465" y="6164639"/>
            <a:ext cx="5112763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QMapIterator</a:t>
            </a:r>
            <a:r>
              <a:rPr lang="zh-CN" altLang="en-US"/>
              <a:t>是</a:t>
            </a:r>
            <a:r>
              <a:rPr lang="en-US" altLang="zh-CN"/>
              <a:t>QMap</a:t>
            </a:r>
            <a:r>
              <a:rPr lang="zh-CN" altLang="en-US"/>
              <a:t>的</a:t>
            </a:r>
            <a:r>
              <a:rPr lang="en-US" altLang="zh-CN"/>
              <a:t>Java</a:t>
            </a:r>
            <a:r>
              <a:rPr lang="zh-CN" altLang="en-US"/>
              <a:t>风格迭代器。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next()</a:t>
            </a:r>
            <a:r>
              <a:rPr lang="zh-CN" altLang="en-US"/>
              <a:t>：返回下一项并将迭代器前进一个位置。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459979" y="73900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QMap</a:t>
            </a:r>
            <a:endParaRPr lang="zh-CN" altLang="en-US"/>
          </a:p>
        </p:txBody>
      </p:sp>
      <p:pic>
        <p:nvPicPr>
          <p:cNvPr id="159" name="图片 158">
            <a:extLst>
              <a:ext uri="{FF2B5EF4-FFF2-40B4-BE49-F238E27FC236}">
                <a16:creationId xmlns:a16="http://schemas.microsoft.com/office/drawing/2014/main" id="{C9C2762B-9AAF-6DC7-9A0F-1C8F60170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854" y="6939053"/>
            <a:ext cx="2786250" cy="93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6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923803" y="821019"/>
            <a:ext cx="8489435" cy="111722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&lt;QTextStream&gt;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using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namespace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compareByTitle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chemeClr val="tx1"/>
                </a:solidFill>
              </a:rPr>
              <a:t>      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QTextStream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stdout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books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"Jack London"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Call of the Wild"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"Leo Tolstoy"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"War and Peace"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"Gustave Flaubert"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"Sentimental education"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"Guy de Maupassant"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"Une vie"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"William Shakespeare"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"Hamlet"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sort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books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begin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books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compareByTitle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books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92E64"/>
                </a:solidFill>
              </a:rPr>
              <a:t>      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book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26A9CD-7124-2322-F0EA-85F3A739697D}"/>
              </a:ext>
            </a:extLst>
          </p:cNvPr>
          <p:cNvSpPr txBox="1"/>
          <p:nvPr/>
        </p:nvSpPr>
        <p:spPr>
          <a:xfrm>
            <a:off x="5532957" y="7506397"/>
            <a:ext cx="4004742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William Shakespeare: Hamlet</a:t>
            </a:r>
          </a:p>
          <a:p>
            <a:r>
              <a:rPr lang="en-US" altLang="zh-CN"/>
              <a:t>Gustave Flaubert: Sentimental education</a:t>
            </a:r>
          </a:p>
          <a:p>
            <a:r>
              <a:rPr lang="en-US" altLang="zh-CN"/>
              <a:t>Jack London: The Call of the Wild</a:t>
            </a:r>
          </a:p>
          <a:p>
            <a:r>
              <a:rPr lang="en-US" altLang="zh-CN"/>
              <a:t>Guy de Maupassant: Une vie</a:t>
            </a:r>
          </a:p>
          <a:p>
            <a:r>
              <a:rPr lang="en-US" altLang="zh-CN"/>
              <a:t>Leo Tolstoy: War and Peace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459979" y="73900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自定义类型排序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76D934B5-6F5E-C866-07E5-FDA227D4838A}"/>
                  </a:ext>
                </a:extLst>
              </p14:cNvPr>
              <p14:cNvContentPartPr/>
              <p14:nvPr/>
            </p14:nvContentPartPr>
            <p14:xfrm>
              <a:off x="4450080" y="1394280"/>
              <a:ext cx="360" cy="36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76D934B5-6F5E-C866-07E5-FDA227D483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41080" y="13852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2294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2186</TotalTime>
  <Words>1359</Words>
  <Application>Microsoft Office PowerPoint</Application>
  <PresentationFormat>自定义</PresentationFormat>
  <Paragraphs>188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 Unicode MS</vt:lpstr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1444</cp:revision>
  <dcterms:created xsi:type="dcterms:W3CDTF">2020-06-26T01:00:00Z</dcterms:created>
  <dcterms:modified xsi:type="dcterms:W3CDTF">2022-07-20T03:33:53Z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