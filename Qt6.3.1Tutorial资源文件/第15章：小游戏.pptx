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30" r:id="rId4"/>
    <p:sldId id="331" r:id="rId5"/>
    <p:sldId id="332" r:id="rId6"/>
    <p:sldId id="333" r:id="rId7"/>
    <p:sldId id="340" r:id="rId8"/>
    <p:sldId id="334" r:id="rId9"/>
    <p:sldId id="335" r:id="rId10"/>
    <p:sldId id="336" r:id="rId11"/>
    <p:sldId id="337" r:id="rId12"/>
    <p:sldId id="338" r:id="rId13"/>
    <p:sldId id="339" r:id="rId14"/>
  </p:sldIdLst>
  <p:sldSz cx="10625138" cy="14400213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2">
          <p15:clr>
            <a:srgbClr val="A4A3A4"/>
          </p15:clr>
        </p15:guide>
        <p15:guide id="2" orient="horz" pos="45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3" autoAdjust="0"/>
    <p:restoredTop sz="95244" autoAdjust="0"/>
  </p:normalViewPr>
  <p:slideViewPr>
    <p:cSldViewPr snapToGrid="0" showGuides="1">
      <p:cViewPr>
        <p:scale>
          <a:sx n="66" d="100"/>
          <a:sy n="66" d="100"/>
        </p:scale>
        <p:origin x="1622" y="-106"/>
      </p:cViewPr>
      <p:guideLst>
        <p:guide pos="412"/>
        <p:guide orient="horz" pos="45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227" y="8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54208-A716-42FF-80CF-57B00CE66560}" type="datetimeFigureOut">
              <a:rPr lang="zh-CN" altLang="en-US" smtClean="0"/>
              <a:t>2022/8/26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DB86B2-45FA-46FD-932F-E74808AB18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5T07:16:17.8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6T01:45:10.0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13B3F-2B31-4A61-B985-2117CDAFE2AD}" type="datetimeFigureOut">
              <a:rPr lang="zh-CN" altLang="en-US" smtClean="0"/>
              <a:t>2022/8/26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1143000"/>
            <a:ext cx="2276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70FF05-BDD8-42F0-BA90-04AD6ABB1C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1143000"/>
            <a:ext cx="22764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0FF05-BDD8-42F0-BA90-04AD6ABB1C0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8142" y="2356703"/>
            <a:ext cx="7968854" cy="5013407"/>
          </a:xfrm>
        </p:spPr>
        <p:txBody>
          <a:bodyPr anchor="b"/>
          <a:lstStyle>
            <a:lvl1pPr algn="ctr"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28142" y="7563446"/>
            <a:ext cx="7968854" cy="3476717"/>
          </a:xfrm>
        </p:spPr>
        <p:txBody>
          <a:bodyPr/>
          <a:lstStyle>
            <a:lvl1pPr marL="0" indent="0" algn="ctr">
              <a:buNone/>
              <a:defRPr sz="2090"/>
            </a:lvl1pPr>
            <a:lvl2pPr marL="398145" indent="0" algn="ctr">
              <a:buNone/>
              <a:defRPr sz="1745"/>
            </a:lvl2pPr>
            <a:lvl3pPr marL="796925" indent="0" algn="ctr">
              <a:buNone/>
              <a:defRPr sz="1570"/>
            </a:lvl3pPr>
            <a:lvl4pPr marL="1195070" indent="0" algn="ctr">
              <a:buNone/>
              <a:defRPr sz="1395"/>
            </a:lvl4pPr>
            <a:lvl5pPr marL="1593850" indent="0" algn="ctr">
              <a:buNone/>
              <a:defRPr sz="1395"/>
            </a:lvl5pPr>
            <a:lvl6pPr marL="1991995" indent="0" algn="ctr">
              <a:buNone/>
              <a:defRPr sz="1395"/>
            </a:lvl6pPr>
            <a:lvl7pPr marL="2390775" indent="0" algn="ctr">
              <a:buNone/>
              <a:defRPr sz="1395"/>
            </a:lvl7pPr>
            <a:lvl8pPr marL="2788920" indent="0" algn="ctr">
              <a:buNone/>
              <a:defRPr sz="1395"/>
            </a:lvl8pPr>
            <a:lvl9pPr marL="3187700" indent="0" algn="ctr">
              <a:buNone/>
              <a:defRPr sz="13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4944" y="3590055"/>
            <a:ext cx="9164182" cy="5990088"/>
          </a:xfrm>
        </p:spPr>
        <p:txBody>
          <a:bodyPr anchor="b"/>
          <a:lstStyle>
            <a:lvl1pPr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4944" y="9636811"/>
            <a:ext cx="9164182" cy="3150046"/>
          </a:xfrm>
        </p:spPr>
        <p:txBody>
          <a:bodyPr/>
          <a:lstStyle>
            <a:lvl1pPr marL="0" indent="0">
              <a:buNone/>
              <a:defRPr sz="2090">
                <a:solidFill>
                  <a:schemeClr val="tx1">
                    <a:tint val="75000"/>
                  </a:schemeClr>
                </a:solidFill>
              </a:defRPr>
            </a:lvl1pPr>
            <a:lvl2pPr marL="398145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6925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50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59385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199199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39077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278892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18770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0478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78976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2" y="766679"/>
            <a:ext cx="9164182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1863" y="3530053"/>
            <a:ext cx="4494931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863" y="5260078"/>
            <a:ext cx="4494931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378976" y="3530053"/>
            <a:ext cx="4517068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78976" y="5260078"/>
            <a:ext cx="451706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2022/8/26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2022/8/26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2022/8/26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>
              <a:defRPr sz="2790"/>
            </a:lvl1pPr>
            <a:lvl2pPr>
              <a:defRPr sz="2440"/>
            </a:lvl2pPr>
            <a:lvl3pPr>
              <a:defRPr sz="2090"/>
            </a:lvl3pPr>
            <a:lvl4pPr>
              <a:defRPr sz="1745"/>
            </a:lvl4pPr>
            <a:lvl5pPr>
              <a:defRPr sz="1745"/>
            </a:lvl5pPr>
            <a:lvl6pPr>
              <a:defRPr sz="1745"/>
            </a:lvl6pPr>
            <a:lvl7pPr>
              <a:defRPr sz="1745"/>
            </a:lvl7pPr>
            <a:lvl8pPr>
              <a:defRPr sz="1745"/>
            </a:lvl8pPr>
            <a:lvl9pPr>
              <a:defRPr sz="17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 marL="0" indent="0">
              <a:buNone/>
              <a:defRPr sz="2790"/>
            </a:lvl1pPr>
            <a:lvl2pPr marL="398145" indent="0">
              <a:buNone/>
              <a:defRPr sz="2440"/>
            </a:lvl2pPr>
            <a:lvl3pPr marL="796925" indent="0">
              <a:buNone/>
              <a:defRPr sz="2090"/>
            </a:lvl3pPr>
            <a:lvl4pPr marL="1195070" indent="0">
              <a:buNone/>
              <a:defRPr sz="1745"/>
            </a:lvl4pPr>
            <a:lvl5pPr marL="1593850" indent="0">
              <a:buNone/>
              <a:defRPr sz="1745"/>
            </a:lvl5pPr>
            <a:lvl6pPr marL="1991995" indent="0">
              <a:buNone/>
              <a:defRPr sz="1745"/>
            </a:lvl6pPr>
            <a:lvl7pPr marL="2390775" indent="0">
              <a:buNone/>
              <a:defRPr sz="1745"/>
            </a:lvl7pPr>
            <a:lvl8pPr marL="2788920" indent="0">
              <a:buNone/>
              <a:defRPr sz="1745"/>
            </a:lvl8pPr>
            <a:lvl9pPr marL="3187700" indent="0">
              <a:buNone/>
              <a:defRPr sz="174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03615" y="766678"/>
            <a:ext cx="2291045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0478" y="766678"/>
            <a:ext cx="6740322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8142" y="2356703"/>
            <a:ext cx="7968854" cy="5013407"/>
          </a:xfrm>
        </p:spPr>
        <p:txBody>
          <a:bodyPr anchor="b"/>
          <a:lstStyle>
            <a:lvl1pPr algn="ctr"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28142" y="7563446"/>
            <a:ext cx="7968854" cy="3476717"/>
          </a:xfrm>
        </p:spPr>
        <p:txBody>
          <a:bodyPr/>
          <a:lstStyle>
            <a:lvl1pPr marL="0" indent="0" algn="ctr">
              <a:buNone/>
              <a:defRPr sz="2090"/>
            </a:lvl1pPr>
            <a:lvl2pPr marL="398145" indent="0" algn="ctr">
              <a:buNone/>
              <a:defRPr sz="1745"/>
            </a:lvl2pPr>
            <a:lvl3pPr marL="796925" indent="0" algn="ctr">
              <a:buNone/>
              <a:defRPr sz="1570"/>
            </a:lvl3pPr>
            <a:lvl4pPr marL="1195070" indent="0" algn="ctr">
              <a:buNone/>
              <a:defRPr sz="1395"/>
            </a:lvl4pPr>
            <a:lvl5pPr marL="1593850" indent="0" algn="ctr">
              <a:buNone/>
              <a:defRPr sz="1395"/>
            </a:lvl5pPr>
            <a:lvl6pPr marL="1991995" indent="0" algn="ctr">
              <a:buNone/>
              <a:defRPr sz="1395"/>
            </a:lvl6pPr>
            <a:lvl7pPr marL="2390775" indent="0" algn="ctr">
              <a:buNone/>
              <a:defRPr sz="1395"/>
            </a:lvl7pPr>
            <a:lvl8pPr marL="2788920" indent="0" algn="ctr">
              <a:buNone/>
              <a:defRPr sz="1395"/>
            </a:lvl8pPr>
            <a:lvl9pPr marL="3187700" indent="0" algn="ctr">
              <a:buNone/>
              <a:defRPr sz="13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4944" y="3590055"/>
            <a:ext cx="9164182" cy="5990088"/>
          </a:xfrm>
        </p:spPr>
        <p:txBody>
          <a:bodyPr anchor="b"/>
          <a:lstStyle>
            <a:lvl1pPr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4944" y="9636811"/>
            <a:ext cx="9164182" cy="3150046"/>
          </a:xfrm>
        </p:spPr>
        <p:txBody>
          <a:bodyPr/>
          <a:lstStyle>
            <a:lvl1pPr marL="0" indent="0">
              <a:buNone/>
              <a:defRPr sz="2090">
                <a:solidFill>
                  <a:schemeClr val="tx1">
                    <a:tint val="75000"/>
                  </a:schemeClr>
                </a:solidFill>
              </a:defRPr>
            </a:lvl1pPr>
            <a:lvl2pPr marL="398145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6925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50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59385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199199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39077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278892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18770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0478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78976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2" y="766679"/>
            <a:ext cx="9164182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1863" y="3530053"/>
            <a:ext cx="4494931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863" y="5260078"/>
            <a:ext cx="4494931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378976" y="3530053"/>
            <a:ext cx="4517068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78976" y="5260078"/>
            <a:ext cx="451706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2022/8/26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2022/8/26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2022/8/26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>
              <a:defRPr sz="2790"/>
            </a:lvl1pPr>
            <a:lvl2pPr>
              <a:defRPr sz="2440"/>
            </a:lvl2pPr>
            <a:lvl3pPr>
              <a:defRPr sz="2090"/>
            </a:lvl3pPr>
            <a:lvl4pPr>
              <a:defRPr sz="1745"/>
            </a:lvl4pPr>
            <a:lvl5pPr>
              <a:defRPr sz="1745"/>
            </a:lvl5pPr>
            <a:lvl6pPr>
              <a:defRPr sz="1745"/>
            </a:lvl6pPr>
            <a:lvl7pPr>
              <a:defRPr sz="1745"/>
            </a:lvl7pPr>
            <a:lvl8pPr>
              <a:defRPr sz="1745"/>
            </a:lvl8pPr>
            <a:lvl9pPr>
              <a:defRPr sz="17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 marL="0" indent="0">
              <a:buNone/>
              <a:defRPr sz="2790"/>
            </a:lvl1pPr>
            <a:lvl2pPr marL="398145" indent="0">
              <a:buNone/>
              <a:defRPr sz="2440"/>
            </a:lvl2pPr>
            <a:lvl3pPr marL="796925" indent="0">
              <a:buNone/>
              <a:defRPr sz="2090"/>
            </a:lvl3pPr>
            <a:lvl4pPr marL="1195070" indent="0">
              <a:buNone/>
              <a:defRPr sz="1745"/>
            </a:lvl4pPr>
            <a:lvl5pPr marL="1593850" indent="0">
              <a:buNone/>
              <a:defRPr sz="1745"/>
            </a:lvl5pPr>
            <a:lvl6pPr marL="1991995" indent="0">
              <a:buNone/>
              <a:defRPr sz="1745"/>
            </a:lvl6pPr>
            <a:lvl7pPr marL="2390775" indent="0">
              <a:buNone/>
              <a:defRPr sz="1745"/>
            </a:lvl7pPr>
            <a:lvl8pPr marL="2788920" indent="0">
              <a:buNone/>
              <a:defRPr sz="1745"/>
            </a:lvl8pPr>
            <a:lvl9pPr marL="3187700" indent="0">
              <a:buNone/>
              <a:defRPr sz="174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03615" y="766678"/>
            <a:ext cx="2291045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0478" y="766678"/>
            <a:ext cx="6740322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0478" y="766679"/>
            <a:ext cx="916418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0478" y="3833390"/>
            <a:ext cx="916418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0478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3034-5666-4088-908E-90BF970F5519}" type="datetimeFigureOut">
              <a:rPr lang="zh-CN" altLang="en-US" smtClean="0"/>
              <a:t>2022/8/26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19577" y="13346865"/>
            <a:ext cx="358598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04004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图标&#10;&#10;描述已自动生成"/>
          <p:cNvPicPr>
            <a:picLocks noChangeAspect="1"/>
          </p:cNvPicPr>
          <p:nvPr userDrawn="1"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657" y="160559"/>
            <a:ext cx="458896" cy="45889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659041" y="213096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@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阿西拜</a:t>
            </a:r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-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南昌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96925" rtl="0" eaLnBrk="1" latinLnBrk="0" hangingPunct="1">
        <a:lnSpc>
          <a:spcPct val="90000"/>
        </a:lnSpc>
        <a:spcBef>
          <a:spcPct val="0"/>
        </a:spcBef>
        <a:buNone/>
        <a:defRPr sz="38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390" indent="-199390" algn="l" defTabSz="796925" rtl="0" eaLnBrk="1" latinLnBrk="0" hangingPunct="1">
        <a:lnSpc>
          <a:spcPct val="90000"/>
        </a:lnSpc>
        <a:spcBef>
          <a:spcPts val="870"/>
        </a:spcBef>
        <a:buFont typeface="Arial" panose="020B06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1pPr>
      <a:lvl2pPr marL="59753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2pPr>
      <a:lvl3pPr marL="99631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745" kern="1200">
          <a:solidFill>
            <a:schemeClr val="tx1"/>
          </a:solidFill>
          <a:latin typeface="+mn-lt"/>
          <a:ea typeface="+mn-ea"/>
          <a:cs typeface="+mn-cs"/>
        </a:defRPr>
      </a:lvl3pPr>
      <a:lvl4pPr marL="139446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79324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219138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016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8831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8709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14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507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385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199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077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8770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0478" y="766679"/>
            <a:ext cx="916418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0478" y="3833390"/>
            <a:ext cx="916418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0478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3034-5666-4088-908E-90BF970F5519}" type="datetimeFigureOut">
              <a:rPr lang="zh-CN" altLang="en-US" smtClean="0"/>
              <a:t>2022/8/26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19577" y="13346865"/>
            <a:ext cx="358598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04004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图标&#10;&#10;描述已自动生成"/>
          <p:cNvPicPr>
            <a:picLocks noChangeAspect="1"/>
          </p:cNvPicPr>
          <p:nvPr userDrawn="1"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317" y="253896"/>
            <a:ext cx="458896" cy="45889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605701" y="306433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@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阿西拜</a:t>
            </a:r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-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南昌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96925" rtl="0" eaLnBrk="1" latinLnBrk="0" hangingPunct="1">
        <a:lnSpc>
          <a:spcPct val="90000"/>
        </a:lnSpc>
        <a:spcBef>
          <a:spcPct val="0"/>
        </a:spcBef>
        <a:buNone/>
        <a:defRPr sz="38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390" indent="-199390" algn="l" defTabSz="796925" rtl="0" eaLnBrk="1" latinLnBrk="0" hangingPunct="1">
        <a:lnSpc>
          <a:spcPct val="90000"/>
        </a:lnSpc>
        <a:spcBef>
          <a:spcPts val="870"/>
        </a:spcBef>
        <a:buFont typeface="Arial" panose="020B06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1pPr>
      <a:lvl2pPr marL="59753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2pPr>
      <a:lvl3pPr marL="99631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745" kern="1200">
          <a:solidFill>
            <a:schemeClr val="tx1"/>
          </a:solidFill>
          <a:latin typeface="+mn-lt"/>
          <a:ea typeface="+mn-ea"/>
          <a:cs typeface="+mn-cs"/>
        </a:defRPr>
      </a:lvl3pPr>
      <a:lvl4pPr marL="139446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79324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219138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016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8831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8709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14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507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385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199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077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8770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1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customXml" Target="../ink/ink2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screen"/>
          <a:srcRect l="3265" t="6325" r="4323" b="12927"/>
          <a:stretch>
            <a:fillRect/>
          </a:stretch>
        </p:blipFill>
        <p:spPr>
          <a:xfrm>
            <a:off x="2191043" y="1088639"/>
            <a:ext cx="6429671" cy="180741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441524" y="1358360"/>
            <a:ext cx="6170224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cs typeface="+mn-ea"/>
                <a:sym typeface="+mn-lt"/>
              </a:rPr>
              <a:t>小游戏</a:t>
            </a:r>
          </a:p>
        </p:txBody>
      </p:sp>
      <p:grpSp>
        <p:nvGrpSpPr>
          <p:cNvPr id="60" name="组合 1274"/>
          <p:cNvGrpSpPr/>
          <p:nvPr/>
        </p:nvGrpSpPr>
        <p:grpSpPr>
          <a:xfrm>
            <a:off x="2441526" y="3237675"/>
            <a:ext cx="338686" cy="261779"/>
            <a:chOff x="5248276" y="1095375"/>
            <a:chExt cx="727075" cy="561976"/>
          </a:xfrm>
        </p:grpSpPr>
        <p:sp>
          <p:nvSpPr>
            <p:cNvPr id="61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2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3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4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5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6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7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8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9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0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1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2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3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4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5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6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7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8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9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0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1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2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3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4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5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6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7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8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9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0" name="文本框 89"/>
          <p:cNvSpPr txBox="1"/>
          <p:nvPr/>
        </p:nvSpPr>
        <p:spPr>
          <a:xfrm>
            <a:off x="2833453" y="3140572"/>
            <a:ext cx="2994875" cy="46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40">
                <a:solidFill>
                  <a:schemeClr val="bg1"/>
                </a:solidFill>
                <a:cs typeface="+mn-ea"/>
                <a:sym typeface="+mn-lt"/>
              </a:rPr>
              <a:t>QT6 C++ 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开发教程</a:t>
            </a:r>
          </a:p>
        </p:txBody>
      </p:sp>
      <p:grpSp>
        <p:nvGrpSpPr>
          <p:cNvPr id="160" name="组合 1274"/>
          <p:cNvGrpSpPr/>
          <p:nvPr/>
        </p:nvGrpSpPr>
        <p:grpSpPr>
          <a:xfrm>
            <a:off x="6245741" y="3237675"/>
            <a:ext cx="338686" cy="261779"/>
            <a:chOff x="5248276" y="1095375"/>
            <a:chExt cx="727075" cy="561976"/>
          </a:xfrm>
        </p:grpSpPr>
        <p:sp>
          <p:nvSpPr>
            <p:cNvPr id="162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3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4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5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6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7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8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9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0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1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2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3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4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5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6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7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8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9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0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1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2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3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4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5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6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7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8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9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90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61" name="文本框 160"/>
          <p:cNvSpPr txBox="1"/>
          <p:nvPr/>
        </p:nvSpPr>
        <p:spPr>
          <a:xfrm>
            <a:off x="6637671" y="3140572"/>
            <a:ext cx="1553157" cy="46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第</a:t>
            </a:r>
            <a:r>
              <a:rPr lang="en-US" altLang="zh-CN" sz="2440">
                <a:solidFill>
                  <a:schemeClr val="bg1"/>
                </a:solidFill>
                <a:cs typeface="+mn-ea"/>
                <a:sym typeface="+mn-lt"/>
              </a:rPr>
              <a:t>15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章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0" grpId="0"/>
      <p:bldP spid="16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7A9E53-8EC5-5992-D310-566A65C9305D}"/>
              </a:ext>
            </a:extLst>
          </p:cNvPr>
          <p:cNvSpPr txBox="1"/>
          <p:nvPr/>
        </p:nvSpPr>
        <p:spPr>
          <a:xfrm>
            <a:off x="4820033" y="322015"/>
            <a:ext cx="9589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accent3"/>
                </a:solidFill>
              </a:rPr>
              <a:t>贪吃蛇</a:t>
            </a:r>
            <a:endParaRPr lang="zh-CN" altLang="en-US" sz="2000" b="1" dirty="0">
              <a:solidFill>
                <a:schemeClr val="accent3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3C3AD4F-1742-B663-4EA8-1B5F890FC976}"/>
              </a:ext>
            </a:extLst>
          </p:cNvPr>
          <p:cNvSpPr txBox="1"/>
          <p:nvPr/>
        </p:nvSpPr>
        <p:spPr>
          <a:xfrm>
            <a:off x="914400" y="732731"/>
            <a:ext cx="86345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玩家控制一条蛇。目标是吃尽可能多的苹果。每次蛇吃苹果，它的身体就会生长。蛇必须避开墙壁和自己的身体。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E1D55D6-03D5-AE90-5793-6DE2C6F4794B}"/>
              </a:ext>
            </a:extLst>
          </p:cNvPr>
          <p:cNvSpPr txBox="1"/>
          <p:nvPr/>
        </p:nvSpPr>
        <p:spPr>
          <a:xfrm>
            <a:off x="830550" y="1389668"/>
            <a:ext cx="9309477" cy="72943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#ifndef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SNAKE_H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#define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SNAKE_H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&lt;QMainWindow&gt;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class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snake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Q_OBJECT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snake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nullptr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~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snake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enum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moveDirection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left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right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up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down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protected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paintEvent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QPaintEvent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timerEvent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QTimerEvent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keyPressEvent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QKeyEvent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private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QImage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dot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r>
              <a:rPr lang="en-US" altLang="zh-CN">
                <a:solidFill>
                  <a:srgbClr val="008000"/>
                </a:solidFill>
                <a:effectLst/>
              </a:rPr>
              <a:t>//</a:t>
            </a:r>
            <a:r>
              <a:rPr lang="zh-CN" altLang="en-US">
                <a:solidFill>
                  <a:srgbClr val="008000"/>
                </a:solidFill>
                <a:effectLst/>
              </a:rPr>
              <a:t>身体的一节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QImage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head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QImage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apple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moveDirection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heading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static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B_WIDTH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300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static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B_HEIGHT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300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static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DOT_SIZE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r>
              <a:rPr lang="en-US" altLang="zh-CN">
                <a:solidFill>
                  <a:srgbClr val="008000"/>
                </a:solidFill>
                <a:effectLst/>
              </a:rPr>
              <a:t>//</a:t>
            </a:r>
            <a:r>
              <a:rPr lang="zh-CN" altLang="en-US">
                <a:solidFill>
                  <a:srgbClr val="008000"/>
                </a:solidFill>
                <a:effectLst/>
              </a:rPr>
              <a:t>身体一节的大小，</a:t>
            </a:r>
            <a:r>
              <a:rPr lang="en-US" altLang="zh-CN">
                <a:solidFill>
                  <a:srgbClr val="008000"/>
                </a:solidFill>
                <a:effectLst/>
              </a:rPr>
              <a:t>10</a:t>
            </a:r>
            <a:r>
              <a:rPr lang="zh-CN" altLang="en-US">
                <a:solidFill>
                  <a:srgbClr val="008000"/>
                </a:solidFill>
                <a:effectLst/>
              </a:rPr>
              <a:t>*</a:t>
            </a:r>
            <a:r>
              <a:rPr lang="en-US" altLang="zh-CN">
                <a:solidFill>
                  <a:srgbClr val="008000"/>
                </a:solidFill>
                <a:effectLst/>
              </a:rPr>
              <a:t>10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static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ALL_DOTS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B_WIDTH*B_HEIGHT/(DOT_SIZE*DOT_SIZE);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//900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initGame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#endif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SNAKE_H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594B41-8A9F-B631-A8D7-20AF71DC4ABC}"/>
              </a:ext>
            </a:extLst>
          </p:cNvPr>
          <p:cNvSpPr/>
          <p:nvPr/>
        </p:nvSpPr>
        <p:spPr>
          <a:xfrm>
            <a:off x="8143587" y="1379062"/>
            <a:ext cx="1981200" cy="457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框架搭建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EECA93A-FC16-0096-8772-8AE384642940}"/>
              </a:ext>
            </a:extLst>
          </p:cNvPr>
          <p:cNvSpPr txBox="1"/>
          <p:nvPr/>
        </p:nvSpPr>
        <p:spPr>
          <a:xfrm>
            <a:off x="830549" y="9121428"/>
            <a:ext cx="9309477" cy="20621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" panose="020B0604020202020204" pitchFamily="34" charset="0"/>
              </a:rPr>
              <a:t>#include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" panose="020B0604020202020204" pitchFamily="34" charset="0"/>
              </a:rPr>
              <a:t>"snake.h"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b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snake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snake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QWidget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*</a:t>
            </a: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parent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QMainWindow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sz="1600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parent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setFixedSize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(B_WIDTH,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B_HEIGHT);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dot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load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</a:t>
            </a:r>
            <a:r>
              <a:rPr lang="en-US" altLang="zh-CN" sz="1600">
                <a:solidFill>
                  <a:srgbClr val="008000"/>
                </a:solidFill>
                <a:effectLst/>
              </a:rPr>
              <a:t>../images/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dot.png"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head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load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</a:t>
            </a:r>
            <a:r>
              <a:rPr lang="en-US" altLang="zh-CN" sz="1600">
                <a:solidFill>
                  <a:srgbClr val="008000"/>
                </a:solidFill>
                <a:effectLst/>
              </a:rPr>
              <a:t>../images/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head.png"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apple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load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</a:t>
            </a:r>
            <a:r>
              <a:rPr lang="en-US" altLang="zh-CN" sz="1600">
                <a:solidFill>
                  <a:srgbClr val="008000"/>
                </a:solidFill>
                <a:effectLst/>
              </a:rPr>
              <a:t>../images/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apple.png"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initGame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endParaRPr kumimoji="0" lang="zh-CN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3F235B9-CBDF-182E-5CCB-6BE17E84E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099" y="2768124"/>
            <a:ext cx="346710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324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E1D55D6-03D5-AE90-5793-6DE2C6F4794B}"/>
              </a:ext>
            </a:extLst>
          </p:cNvPr>
          <p:cNvSpPr txBox="1"/>
          <p:nvPr/>
        </p:nvSpPr>
        <p:spPr>
          <a:xfrm>
            <a:off x="815310" y="764828"/>
            <a:ext cx="9309477" cy="5078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#ifndef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SNAKE_H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#define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SNAKE_H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&lt;QMainWindow&gt;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class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snake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{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</a:rPr>
              <a:t>…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private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timerId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length_snake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apple_x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apple_y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bool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game_playing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[ALL_DOTS];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[ALL_DOTS];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initGame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locateApple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#endif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SNAKE_H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56B0CA5-93E6-32D1-3EE0-F2D219B4E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776174E9-EA3B-2B78-5689-149F11B41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594B41-8A9F-B631-A8D7-20AF71DC4ABC}"/>
              </a:ext>
            </a:extLst>
          </p:cNvPr>
          <p:cNvSpPr/>
          <p:nvPr/>
        </p:nvSpPr>
        <p:spPr>
          <a:xfrm>
            <a:off x="8128347" y="754222"/>
            <a:ext cx="1981200" cy="457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初始化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1205B7A-9C8A-247B-44FC-7A9CBBFDDC26}"/>
              </a:ext>
            </a:extLst>
          </p:cNvPr>
          <p:cNvSpPr txBox="1"/>
          <p:nvPr/>
        </p:nvSpPr>
        <p:spPr>
          <a:xfrm>
            <a:off x="815310" y="6080125"/>
            <a:ext cx="9309477" cy="59093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" panose="020B0604020202020204" pitchFamily="34" charset="0"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</a:rPr>
              <a:t>SnakeWidget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" panose="020B0604020202020204" pitchFamily="34" charset="0"/>
              </a:rPr>
              <a:t>initGame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setStyleSheet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"background-color:black;"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heading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right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length_snake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3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game_playing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true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z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z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length_snake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z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++)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z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]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50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z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*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10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z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]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50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locateApple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timerId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startTimer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(DELAY);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>
              <a:solidFill>
                <a:schemeClr val="tx1"/>
              </a:solidFill>
              <a:latin typeface="Arial Unicode M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" panose="020B0604020202020204" pitchFamily="34" charset="0"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</a:rPr>
              <a:t>snake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" panose="020B0604020202020204" pitchFamily="34" charset="0"/>
              </a:rPr>
              <a:t>locateApple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QTime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time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QTime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currentTime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srand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uint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time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msec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rand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%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B_WIDTH/DOT_SIZE;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apple_x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*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DOT_SIZE);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rand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%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B_WIDTH/DOT_SIZE;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apple_y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*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DOT_SIZE);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46B479C-3457-6E5F-89BA-A67904BC5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212" y="1631806"/>
            <a:ext cx="3457575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677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E1D55D6-03D5-AE90-5793-6DE2C6F4794B}"/>
              </a:ext>
            </a:extLst>
          </p:cNvPr>
          <p:cNvSpPr txBox="1"/>
          <p:nvPr/>
        </p:nvSpPr>
        <p:spPr>
          <a:xfrm>
            <a:off x="846962" y="751962"/>
            <a:ext cx="9309477" cy="30469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snake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sz="1600" b="1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paintEvent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QPaintEvent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{ </a:t>
            </a:r>
            <a:endParaRPr kumimoji="0" lang="en-US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Q_UNUSED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QPainter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qp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game_playing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qp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drawImage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apple_x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apple_y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apple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for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z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z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length_snake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z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++)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z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==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qp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drawImage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x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z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],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y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z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],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head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qp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drawImage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x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z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],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y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z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],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dot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} } </a:t>
            </a:r>
            <a:endParaRPr kumimoji="0" lang="en-US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sz="1600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gameOver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sz="1600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qp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} </a:t>
            </a:r>
            <a:endParaRPr kumimoji="0" lang="en-US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  <a:endParaRPr kumimoji="0" lang="en-US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56B0CA5-93E6-32D1-3EE0-F2D219B4E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963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776174E9-EA3B-2B78-5689-149F11B41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963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594B41-8A9F-B631-A8D7-20AF71DC4ABC}"/>
              </a:ext>
            </a:extLst>
          </p:cNvPr>
          <p:cNvSpPr/>
          <p:nvPr/>
        </p:nvSpPr>
        <p:spPr>
          <a:xfrm>
            <a:off x="8175239" y="751962"/>
            <a:ext cx="1981200" cy="457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绘制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38E1F60-E671-B7F7-863E-13FC18C84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8941" y="1439078"/>
            <a:ext cx="3077498" cy="336106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F13898D-8113-2B5C-989D-473FC79910D7}"/>
              </a:ext>
            </a:extLst>
          </p:cNvPr>
          <p:cNvSpPr txBox="1"/>
          <p:nvPr/>
        </p:nvSpPr>
        <p:spPr>
          <a:xfrm>
            <a:off x="810104" y="4232887"/>
            <a:ext cx="9309477" cy="9787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snake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timerEvent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QTimerEvent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Q_UNUSED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game_playing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checkApple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checkCollision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move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repaint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snake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move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z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length_snake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z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z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--)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z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z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)];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z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z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)];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switch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heading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case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left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		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DOT_SIZE;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break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case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right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	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DOT_SIZE;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break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case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up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		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DOT_SIZE;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break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case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down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	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DOT_SIZE;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break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default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break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>
              <a:solidFill>
                <a:schemeClr val="tx1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" panose="020B0604020202020204" pitchFamily="34" charset="0"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</a:rPr>
              <a:t>snake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::</a:t>
            </a:r>
            <a:r>
              <a:rPr kumimoji="0" lang="zh-CN" altLang="zh-CN" b="1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" panose="020B0604020202020204" pitchFamily="34" charset="0"/>
              </a:rPr>
              <a:t>keyPressEvent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</a:rPr>
              <a:t>QKeyEvent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" panose="020B0604020202020204" pitchFamily="34" charset="0"/>
              </a:rPr>
              <a:t>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key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key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switch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key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case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Key_Left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heading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!=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right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heading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left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break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case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Key_Right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heading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!=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left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heading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right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break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case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Key_Up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heading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!=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down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heading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up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break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case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Key_Down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heading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!=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up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heading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down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break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default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break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key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Key_Space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!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game_playing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initGame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keyPressEvent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BEE3C0B-4C8C-E461-6596-2B6418FBF19F}"/>
              </a:ext>
            </a:extLst>
          </p:cNvPr>
          <p:cNvSpPr/>
          <p:nvPr/>
        </p:nvSpPr>
        <p:spPr>
          <a:xfrm>
            <a:off x="8138381" y="4232887"/>
            <a:ext cx="1981200" cy="457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移动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F995F7C9-30E3-3762-A98E-BA68424A1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581" y="5091579"/>
            <a:ext cx="3429000" cy="3133725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491534FB-DF27-8886-09E3-0D4B7FA04AD9}"/>
              </a:ext>
            </a:extLst>
          </p:cNvPr>
          <p:cNvSpPr txBox="1"/>
          <p:nvPr/>
        </p:nvSpPr>
        <p:spPr>
          <a:xfrm>
            <a:off x="3679028" y="3046406"/>
            <a:ext cx="3399913" cy="10772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checkApple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checkCollision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move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gameOver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QPainter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&amp;);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A086B9F-5CE3-9DB3-F49C-C55A9CD7BA65}"/>
              </a:ext>
            </a:extLst>
          </p:cNvPr>
          <p:cNvSpPr/>
          <p:nvPr/>
        </p:nvSpPr>
        <p:spPr>
          <a:xfrm>
            <a:off x="5743583" y="3046406"/>
            <a:ext cx="1335358" cy="32649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头文件新增</a:t>
            </a:r>
          </a:p>
        </p:txBody>
      </p:sp>
    </p:spTree>
    <p:extLst>
      <p:ext uri="{BB962C8B-B14F-4D97-AF65-F5344CB8AC3E}">
        <p14:creationId xmlns:p14="http://schemas.microsoft.com/office/powerpoint/2010/main" val="3691581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E1D55D6-03D5-AE90-5793-6DE2C6F4794B}"/>
              </a:ext>
            </a:extLst>
          </p:cNvPr>
          <p:cNvSpPr txBox="1"/>
          <p:nvPr/>
        </p:nvSpPr>
        <p:spPr>
          <a:xfrm>
            <a:off x="815310" y="764828"/>
            <a:ext cx="9309477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" panose="020B0604020202020204" pitchFamily="34" charset="0"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</a:rPr>
              <a:t>snake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" panose="020B0604020202020204" pitchFamily="34" charset="0"/>
              </a:rPr>
              <a:t>checkApple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]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apple_x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]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apple_y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length_snake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++;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  <a:latin typeface="Arial Unicode MS"/>
              </a:rPr>
              <a:t>	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locateApple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56B0CA5-93E6-32D1-3EE0-F2D219B4E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776174E9-EA3B-2B78-5689-149F11B41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594B41-8A9F-B631-A8D7-20AF71DC4ABC}"/>
              </a:ext>
            </a:extLst>
          </p:cNvPr>
          <p:cNvSpPr/>
          <p:nvPr/>
        </p:nvSpPr>
        <p:spPr>
          <a:xfrm>
            <a:off x="8128347" y="754222"/>
            <a:ext cx="1981200" cy="457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吃苹果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0C768F-1AE6-17DF-6BC3-CF5C1EE44DEE}"/>
              </a:ext>
            </a:extLst>
          </p:cNvPr>
          <p:cNvSpPr txBox="1"/>
          <p:nvPr/>
        </p:nvSpPr>
        <p:spPr>
          <a:xfrm>
            <a:off x="815310" y="2685068"/>
            <a:ext cx="9309477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snake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checkCollision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length_snake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//大于4才可能咬到自己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z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length_snake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z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z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--)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z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z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]))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game_playing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false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&gt;=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B_HEIGHT||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||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&gt;=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B_WIDTH||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game_playing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false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}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(!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game_playing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killTimer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timerId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F2F99C4-BB20-5C3B-71CE-0140709BE68A}"/>
              </a:ext>
            </a:extLst>
          </p:cNvPr>
          <p:cNvSpPr/>
          <p:nvPr/>
        </p:nvSpPr>
        <p:spPr>
          <a:xfrm>
            <a:off x="8128347" y="2674462"/>
            <a:ext cx="1981200" cy="457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碰撞检测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A60E637-C782-5CF7-9548-244FAF7CE875}"/>
              </a:ext>
            </a:extLst>
          </p:cNvPr>
          <p:cNvSpPr txBox="1"/>
          <p:nvPr/>
        </p:nvSpPr>
        <p:spPr>
          <a:xfrm>
            <a:off x="800070" y="5768945"/>
            <a:ext cx="9309477" cy="3693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snake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gameOver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QPainter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qp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setStyleSheet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"background-color:white;"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message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"Game Over!!!"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QFont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font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"Courier"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15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QFontMetrics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fm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font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textWidth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fm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horizontalAdvance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message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qp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setFont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font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height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width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qp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translate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QPoint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qp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drawText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(-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textWidth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15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message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qp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drawText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(-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textWidth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15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"按空格重新开始"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5C12403-49AE-7A39-2F10-ABA648262F01}"/>
              </a:ext>
            </a:extLst>
          </p:cNvPr>
          <p:cNvSpPr/>
          <p:nvPr/>
        </p:nvSpPr>
        <p:spPr>
          <a:xfrm>
            <a:off x="8113107" y="5758339"/>
            <a:ext cx="1981200" cy="457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游戏结束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FCD3586-055C-4E27-F5AA-95435B764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3213" y="6381453"/>
            <a:ext cx="1640987" cy="17962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E3D0DF0-B8B6-25CE-8750-68C59BFFD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987" y="1528235"/>
            <a:ext cx="2295614" cy="175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499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7A9E53-8EC5-5992-D310-566A65C9305D}"/>
              </a:ext>
            </a:extLst>
          </p:cNvPr>
          <p:cNvSpPr txBox="1"/>
          <p:nvPr/>
        </p:nvSpPr>
        <p:spPr>
          <a:xfrm>
            <a:off x="4820033" y="322015"/>
            <a:ext cx="9589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accent3"/>
                </a:solidFill>
              </a:rPr>
              <a:t>打砖块</a:t>
            </a:r>
            <a:endParaRPr lang="zh-CN" altLang="en-US" sz="2000" b="1" dirty="0">
              <a:solidFill>
                <a:schemeClr val="accent3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3C3AD4F-1742-B663-4EA8-1B5F890FC976}"/>
              </a:ext>
            </a:extLst>
          </p:cNvPr>
          <p:cNvSpPr txBox="1"/>
          <p:nvPr/>
        </p:nvSpPr>
        <p:spPr>
          <a:xfrm>
            <a:off x="633749" y="918253"/>
            <a:ext cx="86345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在这个游戏中，玩家移动一个球拍并弹起一个球。目的是摧毁顶部的砖块。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107E21F-4FBE-DDB0-83DB-A8AEDF57C77F}"/>
              </a:ext>
            </a:extLst>
          </p:cNvPr>
          <p:cNvSpPr/>
          <p:nvPr/>
        </p:nvSpPr>
        <p:spPr>
          <a:xfrm>
            <a:off x="5450763" y="5991201"/>
            <a:ext cx="1828800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BaseItem</a:t>
            </a:r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A548B99-8B76-F36B-3BE5-91A4C787A553}"/>
              </a:ext>
            </a:extLst>
          </p:cNvPr>
          <p:cNvSpPr/>
          <p:nvPr/>
        </p:nvSpPr>
        <p:spPr>
          <a:xfrm>
            <a:off x="3462040" y="7141283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Ball</a:t>
            </a:r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8E14DC-5C6D-4C21-0149-A7B92A62BFD1}"/>
              </a:ext>
            </a:extLst>
          </p:cNvPr>
          <p:cNvSpPr/>
          <p:nvPr/>
        </p:nvSpPr>
        <p:spPr>
          <a:xfrm>
            <a:off x="5450762" y="7141283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Paddle</a:t>
            </a: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C25BDC-E424-C9AE-E94B-7224A252D5B7}"/>
              </a:ext>
            </a:extLst>
          </p:cNvPr>
          <p:cNvSpPr/>
          <p:nvPr/>
        </p:nvSpPr>
        <p:spPr>
          <a:xfrm>
            <a:off x="7439484" y="7155728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Brick</a:t>
            </a:r>
            <a:endParaRPr lang="zh-CN" altLang="en-US"/>
          </a:p>
        </p:txBody>
      </p: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F4B13224-CFA4-6261-BBD1-68DDB649D08F}"/>
              </a:ext>
            </a:extLst>
          </p:cNvPr>
          <p:cNvCxnSpPr>
            <a:stCxn id="6" idx="0"/>
            <a:endCxn id="3" idx="2"/>
          </p:cNvCxnSpPr>
          <p:nvPr/>
        </p:nvCxnSpPr>
        <p:spPr>
          <a:xfrm rot="5400000" flipH="1" flipV="1">
            <a:off x="4980426" y="5756547"/>
            <a:ext cx="780750" cy="198872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581867E4-0C32-B3F1-6ABD-5B6B9D87ADF6}"/>
              </a:ext>
            </a:extLst>
          </p:cNvPr>
          <p:cNvCxnSpPr>
            <a:stCxn id="8" idx="0"/>
            <a:endCxn id="3" idx="2"/>
          </p:cNvCxnSpPr>
          <p:nvPr/>
        </p:nvCxnSpPr>
        <p:spPr>
          <a:xfrm rot="16200000" flipV="1">
            <a:off x="6961927" y="5763770"/>
            <a:ext cx="795195" cy="198872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766C72F-8D35-8FD8-EE42-653178D1B715}"/>
              </a:ext>
            </a:extLst>
          </p:cNvPr>
          <p:cNvCxnSpPr>
            <a:stCxn id="7" idx="0"/>
            <a:endCxn id="3" idx="2"/>
          </p:cNvCxnSpPr>
          <p:nvPr/>
        </p:nvCxnSpPr>
        <p:spPr>
          <a:xfrm flipV="1">
            <a:off x="6365162" y="6360533"/>
            <a:ext cx="1" cy="780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89B567D3-D6C9-2866-A3F2-31CC0AA82016}"/>
              </a:ext>
            </a:extLst>
          </p:cNvPr>
          <p:cNvSpPr/>
          <p:nvPr/>
        </p:nvSpPr>
        <p:spPr>
          <a:xfrm>
            <a:off x="5493942" y="8774867"/>
            <a:ext cx="1828800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zh-CN" altLang="zh-CN" i="0" u="none" strike="noStrike" normalizeH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Breakout</a:t>
            </a:r>
            <a:endParaRPr lang="zh-CN" altLang="en-US"/>
          </a:p>
        </p:txBody>
      </p: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CD92F606-D8C8-A35F-24FE-94464DECCF65}"/>
              </a:ext>
            </a:extLst>
          </p:cNvPr>
          <p:cNvCxnSpPr>
            <a:cxnSpLocks/>
            <a:stCxn id="6" idx="2"/>
          </p:cNvCxnSpPr>
          <p:nvPr/>
        </p:nvCxnSpPr>
        <p:spPr>
          <a:xfrm rot="16200000" flipH="1">
            <a:off x="4857643" y="7029411"/>
            <a:ext cx="1026315" cy="198872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E9B7E7AC-4060-9B2A-3218-0E06F4281545}"/>
              </a:ext>
            </a:extLst>
          </p:cNvPr>
          <p:cNvCxnSpPr>
            <a:cxnSpLocks/>
            <a:stCxn id="8" idx="2"/>
          </p:cNvCxnSpPr>
          <p:nvPr/>
        </p:nvCxnSpPr>
        <p:spPr>
          <a:xfrm rot="5400000">
            <a:off x="6877777" y="7055625"/>
            <a:ext cx="1006673" cy="194554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3B8915B0-1445-4625-DCC4-2AD53AB579A8}"/>
              </a:ext>
            </a:extLst>
          </p:cNvPr>
          <p:cNvCxnSpPr>
            <a:cxnSpLocks/>
          </p:cNvCxnSpPr>
          <p:nvPr/>
        </p:nvCxnSpPr>
        <p:spPr>
          <a:xfrm>
            <a:off x="6365161" y="7510613"/>
            <a:ext cx="0" cy="10263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流程图: 决策 22">
            <a:extLst>
              <a:ext uri="{FF2B5EF4-FFF2-40B4-BE49-F238E27FC236}">
                <a16:creationId xmlns:a16="http://schemas.microsoft.com/office/drawing/2014/main" id="{D0E652E9-8D01-CFA1-9D06-5E9FC118BC6F}"/>
              </a:ext>
            </a:extLst>
          </p:cNvPr>
          <p:cNvSpPr/>
          <p:nvPr/>
        </p:nvSpPr>
        <p:spPr>
          <a:xfrm>
            <a:off x="6285152" y="8494736"/>
            <a:ext cx="160019" cy="275903"/>
          </a:xfrm>
          <a:prstGeom prst="flowChartDecision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DA76639-9BB0-4AD7-49E3-0669A3A8C3E3}"/>
              </a:ext>
            </a:extLst>
          </p:cNvPr>
          <p:cNvSpPr txBox="1"/>
          <p:nvPr/>
        </p:nvSpPr>
        <p:spPr>
          <a:xfrm>
            <a:off x="6334681" y="6394524"/>
            <a:ext cx="24609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</a:rPr>
              <a:t>public</a:t>
            </a:r>
            <a:r>
              <a:rPr lang="zh-CN" altLang="en-US" sz="2000">
                <a:solidFill>
                  <a:srgbClr val="FF0000"/>
                </a:solidFill>
                <a:highlight>
                  <a:srgbClr val="FFFF00"/>
                </a:highlight>
              </a:rPr>
              <a:t>继承关系：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</a:rPr>
              <a:t>is-a</a:t>
            </a:r>
            <a:endParaRPr lang="zh-CN" altLang="en-US" sz="20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A11CC24-D439-A680-32AB-396126A4E1FD}"/>
              </a:ext>
            </a:extLst>
          </p:cNvPr>
          <p:cNvSpPr txBox="1"/>
          <p:nvPr/>
        </p:nvSpPr>
        <p:spPr>
          <a:xfrm>
            <a:off x="6433305" y="8109071"/>
            <a:ext cx="18405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FF0000"/>
                </a:solidFill>
                <a:highlight>
                  <a:srgbClr val="FFFF00"/>
                </a:highlight>
              </a:rPr>
              <a:t>聚合关系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</a:rPr>
              <a:t>:has-a</a:t>
            </a:r>
            <a:endParaRPr lang="zh-CN" altLang="en-US" sz="20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64D89B35-8C46-1AFB-ED97-F3471D6E1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09" y="1403933"/>
            <a:ext cx="2781396" cy="4036747"/>
          </a:xfrm>
          <a:prstGeom prst="rect">
            <a:avLst/>
          </a:prstGeom>
        </p:spPr>
      </p:pic>
      <p:sp>
        <p:nvSpPr>
          <p:cNvPr id="45" name="矩形 44">
            <a:extLst>
              <a:ext uri="{FF2B5EF4-FFF2-40B4-BE49-F238E27FC236}">
                <a16:creationId xmlns:a16="http://schemas.microsoft.com/office/drawing/2014/main" id="{0F59468A-40AE-3FDE-FFD9-F8D14FB3D800}"/>
              </a:ext>
            </a:extLst>
          </p:cNvPr>
          <p:cNvSpPr/>
          <p:nvPr/>
        </p:nvSpPr>
        <p:spPr>
          <a:xfrm>
            <a:off x="5688789" y="1804526"/>
            <a:ext cx="40386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C9F726F-3C81-FB88-BE59-F6E3D1F91AD7}"/>
              </a:ext>
            </a:extLst>
          </p:cNvPr>
          <p:cNvSpPr/>
          <p:nvPr/>
        </p:nvSpPr>
        <p:spPr>
          <a:xfrm>
            <a:off x="6105349" y="1804526"/>
            <a:ext cx="40386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872180C-6544-456D-201D-7D2AEDE16288}"/>
              </a:ext>
            </a:extLst>
          </p:cNvPr>
          <p:cNvSpPr/>
          <p:nvPr/>
        </p:nvSpPr>
        <p:spPr>
          <a:xfrm>
            <a:off x="6524449" y="1804526"/>
            <a:ext cx="403860" cy="2667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42468EF-EBD2-E6AE-A958-709C44F420E4}"/>
              </a:ext>
            </a:extLst>
          </p:cNvPr>
          <p:cNvSpPr/>
          <p:nvPr/>
        </p:nvSpPr>
        <p:spPr>
          <a:xfrm>
            <a:off x="6943549" y="1804526"/>
            <a:ext cx="40386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0E1F2B4-42A3-6D24-0642-8D391FC372A9}"/>
              </a:ext>
            </a:extLst>
          </p:cNvPr>
          <p:cNvSpPr/>
          <p:nvPr/>
        </p:nvSpPr>
        <p:spPr>
          <a:xfrm>
            <a:off x="7360109" y="1804526"/>
            <a:ext cx="40386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04D5B7B4-FA0C-B10D-8E2F-F102F7622418}"/>
              </a:ext>
            </a:extLst>
          </p:cNvPr>
          <p:cNvCxnSpPr/>
          <p:nvPr/>
        </p:nvCxnSpPr>
        <p:spPr>
          <a:xfrm flipV="1">
            <a:off x="5688789" y="2071226"/>
            <a:ext cx="0" cy="525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627C0E80-3233-64D0-8067-919F2FE35139}"/>
              </a:ext>
            </a:extLst>
          </p:cNvPr>
          <p:cNvSpPr txBox="1"/>
          <p:nvPr/>
        </p:nvSpPr>
        <p:spPr>
          <a:xfrm>
            <a:off x="5102557" y="2597006"/>
            <a:ext cx="13395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highlight>
                  <a:srgbClr val="FFFF00"/>
                </a:highlight>
              </a:rPr>
              <a:t>paddleLPos</a:t>
            </a:r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C26294B-3717-0DD6-15F9-AC6FB626140A}"/>
              </a:ext>
            </a:extLst>
          </p:cNvPr>
          <p:cNvSpPr txBox="1"/>
          <p:nvPr/>
        </p:nvSpPr>
        <p:spPr>
          <a:xfrm>
            <a:off x="3956144" y="3041801"/>
            <a:ext cx="5917004" cy="18862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bg1"/>
                </a:solidFill>
              </a:rPr>
              <a:t>根据小球与球拍或砖块的撞击位置确定回弹方向</a:t>
            </a:r>
            <a:endParaRPr lang="en-US" altLang="zh-CN" sz="200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bg1"/>
                </a:solidFill>
              </a:rPr>
              <a:t>小球与上、左、右墙壁碰撞后会改变方向</a:t>
            </a:r>
            <a:endParaRPr lang="en-US" altLang="zh-CN" sz="200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bg1"/>
                </a:solidFill>
              </a:rPr>
              <a:t>小球与砖块碰撞，砖块被销毁</a:t>
            </a:r>
            <a:endParaRPr lang="en-US" altLang="zh-CN" sz="200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bg1"/>
                </a:solidFill>
              </a:rPr>
              <a:t>小球从底部掉落游戏结束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49D0FC4-118B-6F81-8A60-7B76B5FC885B}"/>
              </a:ext>
            </a:extLst>
          </p:cNvPr>
          <p:cNvSpPr/>
          <p:nvPr/>
        </p:nvSpPr>
        <p:spPr>
          <a:xfrm>
            <a:off x="1756428" y="8774867"/>
            <a:ext cx="1828800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CN" i="0" u="none" strike="noStrike" normalizeH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QWidget</a:t>
            </a:r>
            <a:endParaRPr lang="zh-CN" altLang="en-US"/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4514212D-0D92-7724-FE57-BE7AEF03F200}"/>
              </a:ext>
            </a:extLst>
          </p:cNvPr>
          <p:cNvCxnSpPr>
            <a:stCxn id="16" idx="1"/>
            <a:endCxn id="53" idx="3"/>
          </p:cNvCxnSpPr>
          <p:nvPr/>
        </p:nvCxnSpPr>
        <p:spPr>
          <a:xfrm flipH="1">
            <a:off x="3585228" y="8959533"/>
            <a:ext cx="19087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7881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E1D55D6-03D5-AE90-5793-6DE2C6F4794B}"/>
              </a:ext>
            </a:extLst>
          </p:cNvPr>
          <p:cNvSpPr txBox="1"/>
          <p:nvPr/>
        </p:nvSpPr>
        <p:spPr>
          <a:xfrm>
            <a:off x="657830" y="825234"/>
            <a:ext cx="9309477" cy="5078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#ifndef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BASEITEM_H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#define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BASEITEM_H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&lt;QObject&gt;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&lt;QRect&gt;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&lt;QImage&gt;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class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BaseItem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8000"/>
                </a:solidFill>
                <a:latin typeface="Arial Unicode MS"/>
              </a:rPr>
              <a:t>//</a:t>
            </a:r>
            <a:r>
              <a:rPr lang="zh-CN" altLang="zh-CN">
                <a:solidFill>
                  <a:srgbClr val="008000"/>
                </a:solidFill>
                <a:latin typeface="Arial Unicode MS"/>
              </a:rPr>
              <a:t>Q_OBJECT </a:t>
            </a:r>
            <a:endParaRPr lang="en-US" altLang="zh-CN">
              <a:solidFill>
                <a:srgbClr val="008000"/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QImage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getImage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protected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QImage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image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explicit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BaseItem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nullptr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virtual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~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BaseItem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#endif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BASEITEM_H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594B41-8A9F-B631-A8D7-20AF71DC4ABC}"/>
              </a:ext>
            </a:extLst>
          </p:cNvPr>
          <p:cNvSpPr/>
          <p:nvPr/>
        </p:nvSpPr>
        <p:spPr>
          <a:xfrm>
            <a:off x="7955626" y="858173"/>
            <a:ext cx="1981200" cy="457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材料准备工作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C4BEE2-E601-97FD-FA44-02CACDEA30BD}"/>
              </a:ext>
            </a:extLst>
          </p:cNvPr>
          <p:cNvSpPr/>
          <p:nvPr/>
        </p:nvSpPr>
        <p:spPr>
          <a:xfrm>
            <a:off x="5853334" y="4079371"/>
            <a:ext cx="1828800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BaseItem</a:t>
            </a:r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52B118-32C1-0F57-AFB6-A5C5D6EE6CEE}"/>
              </a:ext>
            </a:extLst>
          </p:cNvPr>
          <p:cNvSpPr/>
          <p:nvPr/>
        </p:nvSpPr>
        <p:spPr>
          <a:xfrm>
            <a:off x="3864611" y="5229453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Ball</a:t>
            </a:r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E9CCFA-5E52-09E0-3E07-92E493F114D3}"/>
              </a:ext>
            </a:extLst>
          </p:cNvPr>
          <p:cNvSpPr/>
          <p:nvPr/>
        </p:nvSpPr>
        <p:spPr>
          <a:xfrm>
            <a:off x="5853333" y="5229453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Paddle</a:t>
            </a:r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A53C520-492B-31CF-C6C0-29122A4D6B95}"/>
              </a:ext>
            </a:extLst>
          </p:cNvPr>
          <p:cNvSpPr/>
          <p:nvPr/>
        </p:nvSpPr>
        <p:spPr>
          <a:xfrm>
            <a:off x="7842055" y="5243898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Brick</a:t>
            </a:r>
            <a:endParaRPr lang="zh-CN" altLang="en-US"/>
          </a:p>
        </p:txBody>
      </p: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C0B4D897-9DC6-719D-B3DD-6B04D3FDB233}"/>
              </a:ext>
            </a:extLst>
          </p:cNvPr>
          <p:cNvCxnSpPr>
            <a:stCxn id="13" idx="0"/>
            <a:endCxn id="5" idx="2"/>
          </p:cNvCxnSpPr>
          <p:nvPr/>
        </p:nvCxnSpPr>
        <p:spPr>
          <a:xfrm rot="5400000" flipH="1" flipV="1">
            <a:off x="5382997" y="3844717"/>
            <a:ext cx="780750" cy="198872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DB4ABB81-62F1-9D90-17D0-A3AE23223D91}"/>
              </a:ext>
            </a:extLst>
          </p:cNvPr>
          <p:cNvCxnSpPr>
            <a:stCxn id="15" idx="0"/>
            <a:endCxn id="5" idx="2"/>
          </p:cNvCxnSpPr>
          <p:nvPr/>
        </p:nvCxnSpPr>
        <p:spPr>
          <a:xfrm rot="16200000" flipV="1">
            <a:off x="7364498" y="3851940"/>
            <a:ext cx="795195" cy="198872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BAFF0593-CDF1-53CE-229B-3F8F52A15A74}"/>
              </a:ext>
            </a:extLst>
          </p:cNvPr>
          <p:cNvCxnSpPr>
            <a:stCxn id="14" idx="0"/>
            <a:endCxn id="5" idx="2"/>
          </p:cNvCxnSpPr>
          <p:nvPr/>
        </p:nvCxnSpPr>
        <p:spPr>
          <a:xfrm flipV="1">
            <a:off x="6767733" y="4448703"/>
            <a:ext cx="1" cy="780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887370A3-9135-FDF5-ADB1-FFB1B9BCCC16}"/>
              </a:ext>
            </a:extLst>
          </p:cNvPr>
          <p:cNvSpPr txBox="1"/>
          <p:nvPr/>
        </p:nvSpPr>
        <p:spPr>
          <a:xfrm>
            <a:off x="4017011" y="1731454"/>
            <a:ext cx="6193789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BaseItem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QImage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BaseItem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getImage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image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}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</a:rPr>
              <a:t>BaseItem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::~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" panose="020B0604020202020204" pitchFamily="34" charset="0"/>
              </a:rPr>
              <a:t>BaseItem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//qInfo()&lt;&lt;this-&gt;objectName()&lt;&lt;"destroyed"&lt;&lt;Qt::endl;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772E601-A5FA-C7B2-28C5-6D0B1A3C855B}"/>
              </a:ext>
            </a:extLst>
          </p:cNvPr>
          <p:cNvSpPr txBox="1"/>
          <p:nvPr/>
        </p:nvSpPr>
        <p:spPr>
          <a:xfrm>
            <a:off x="289531" y="6177867"/>
            <a:ext cx="4483130" cy="61863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" panose="020B0604020202020204" pitchFamily="34" charset="0"/>
              </a:rPr>
              <a:t>#ifndef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" panose="020B0604020202020204" pitchFamily="34" charset="0"/>
              </a:rPr>
              <a:t>BALL_H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#define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BALL_H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"baseitem.h"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class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Ball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BaseItem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zh-CN">
                <a:solidFill>
                  <a:srgbClr val="808000"/>
                </a:solidFill>
                <a:effectLst/>
              </a:rPr>
              <a:t>explicit</a:t>
            </a:r>
            <a:r>
              <a:rPr lang="fr-FR" altLang="zh-CN">
                <a:solidFill>
                  <a:srgbClr val="C0C0C0"/>
                </a:solidFill>
                <a:effectLst/>
              </a:rPr>
              <a:t> </a:t>
            </a:r>
            <a:r>
              <a:rPr lang="fr-FR" altLang="zh-CN" b="1">
                <a:solidFill>
                  <a:srgbClr val="00677C"/>
                </a:solidFill>
                <a:effectLst/>
              </a:rPr>
              <a:t>Ball</a:t>
            </a:r>
            <a:r>
              <a:rPr lang="fr-FR" altLang="zh-CN"/>
              <a:t>(</a:t>
            </a:r>
            <a:r>
              <a:rPr lang="fr-FR" altLang="zh-CN">
                <a:solidFill>
                  <a:srgbClr val="800080"/>
                </a:solidFill>
                <a:effectLst/>
              </a:rPr>
              <a:t>QObject</a:t>
            </a:r>
            <a:r>
              <a:rPr lang="fr-FR" altLang="zh-CN">
                <a:solidFill>
                  <a:srgbClr val="C0C0C0"/>
                </a:solidFill>
                <a:effectLst/>
              </a:rPr>
              <a:t> </a:t>
            </a:r>
            <a:r>
              <a:rPr lang="fr-FR" altLang="zh-CN"/>
              <a:t>*</a:t>
            </a:r>
            <a:r>
              <a:rPr lang="fr-FR" altLang="zh-CN" b="1">
                <a:solidFill>
                  <a:srgbClr val="092E64"/>
                </a:solidFill>
                <a:effectLst/>
              </a:rPr>
              <a:t>parent</a:t>
            </a:r>
            <a:r>
              <a:rPr lang="fr-FR" altLang="zh-CN">
                <a:solidFill>
                  <a:srgbClr val="C0C0C0"/>
                </a:solidFill>
                <a:effectLst/>
              </a:rPr>
              <a:t> </a:t>
            </a:r>
            <a:r>
              <a:rPr lang="fr-FR" altLang="zh-CN"/>
              <a:t>=</a:t>
            </a:r>
            <a:r>
              <a:rPr lang="fr-FR" altLang="zh-CN">
                <a:solidFill>
                  <a:srgbClr val="C0C0C0"/>
                </a:solidFill>
                <a:effectLst/>
              </a:rPr>
              <a:t> </a:t>
            </a:r>
            <a:r>
              <a:rPr lang="fr-FR" altLang="zh-CN">
                <a:solidFill>
                  <a:srgbClr val="808000"/>
                </a:solidFill>
                <a:effectLst/>
              </a:rPr>
              <a:t>nullptr</a:t>
            </a:r>
            <a:r>
              <a:rPr lang="fr-FR" altLang="zh-CN"/>
              <a:t>);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resetState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autoMove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setXDir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setYDir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getXDir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getYDir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private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xdir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ydir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static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INITIAL_X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230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static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INITIAL_Y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355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static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RIGHT_EDGE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300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#endif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//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BALL_H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Rectangle 5">
            <a:extLst>
              <a:ext uri="{FF2B5EF4-FFF2-40B4-BE49-F238E27FC236}">
                <a16:creationId xmlns:a16="http://schemas.microsoft.com/office/drawing/2014/main" id="{85ABC1B8-1E7D-4AB8-13B2-A35DA8358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852407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A8CEC7C-DBF8-9975-F5AD-B3A5AB1E56F8}"/>
              </a:ext>
            </a:extLst>
          </p:cNvPr>
          <p:cNvSpPr txBox="1"/>
          <p:nvPr/>
        </p:nvSpPr>
        <p:spPr>
          <a:xfrm>
            <a:off x="4756152" y="6210806"/>
            <a:ext cx="5579455" cy="70173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"ball.h"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>
                <a:solidFill>
                  <a:srgbClr val="800080"/>
                </a:solidFill>
                <a:effectLst/>
              </a:rPr>
              <a:t>Ball</a:t>
            </a:r>
            <a:r>
              <a:rPr lang="en-US" altLang="zh-CN"/>
              <a:t>::</a:t>
            </a:r>
            <a:r>
              <a:rPr lang="en-US" altLang="zh-CN" b="1">
                <a:solidFill>
                  <a:srgbClr val="00677C"/>
                </a:solidFill>
                <a:effectLst/>
              </a:rPr>
              <a:t>Ball</a:t>
            </a:r>
            <a:r>
              <a:rPr lang="en-US" altLang="zh-CN"/>
              <a:t>(</a:t>
            </a:r>
            <a:r>
              <a:rPr lang="en-US" altLang="zh-CN">
                <a:solidFill>
                  <a:srgbClr val="800080"/>
                </a:solidFill>
                <a:effectLst/>
              </a:rPr>
              <a:t>QObject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/>
              <a:t>*</a:t>
            </a:r>
            <a:r>
              <a:rPr lang="en-US" altLang="zh-CN" b="1">
                <a:solidFill>
                  <a:srgbClr val="092E64"/>
                </a:solidFill>
                <a:effectLst/>
              </a:rPr>
              <a:t>parent</a:t>
            </a:r>
            <a:r>
              <a:rPr lang="en-US" altLang="zh-CN"/>
              <a:t>):</a:t>
            </a:r>
            <a:r>
              <a:rPr lang="en-US" altLang="zh-CN">
                <a:solidFill>
                  <a:srgbClr val="800080"/>
                </a:solidFill>
                <a:effectLst/>
              </a:rPr>
              <a:t>BaseItem</a:t>
            </a:r>
            <a:r>
              <a:rPr lang="en-US" altLang="zh-CN"/>
              <a:t>{</a:t>
            </a:r>
            <a:r>
              <a:rPr lang="en-US" altLang="zh-CN" i="1">
                <a:solidFill>
                  <a:srgbClr val="092E64"/>
                </a:solidFill>
                <a:effectLst/>
              </a:rPr>
              <a:t>parent</a:t>
            </a:r>
            <a:r>
              <a:rPr lang="en-US" altLang="zh-CN"/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xdir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ydir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image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load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"../images/ball.png"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image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resetState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//this-&gt;setObjectName("Ball");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resetState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moveTo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(INITIAL_X,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INITIAL_Y);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autoMove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translate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xdir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ydir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left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xdir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right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RIGHT_EDGE)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xdir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ydir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setXDir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xdir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setYDir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ydir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getXDir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xdir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getYDir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ydir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} </a:t>
            </a:r>
          </a:p>
        </p:txBody>
      </p:sp>
    </p:spTree>
    <p:extLst>
      <p:ext uri="{BB962C8B-B14F-4D97-AF65-F5344CB8AC3E}">
        <p14:creationId xmlns:p14="http://schemas.microsoft.com/office/powerpoint/2010/main" val="3783685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">
            <a:extLst>
              <a:ext uri="{FF2B5EF4-FFF2-40B4-BE49-F238E27FC236}">
                <a16:creationId xmlns:a16="http://schemas.microsoft.com/office/drawing/2014/main" id="{17ED0938-204B-4450-E513-DCF4584B0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97168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F0854150-C33E-FBA4-540C-5AE5A68ED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97168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546B5D6-3E90-38AA-8AE1-AE057A644BFC}"/>
              </a:ext>
            </a:extLst>
          </p:cNvPr>
          <p:cNvSpPr txBox="1"/>
          <p:nvPr/>
        </p:nvSpPr>
        <p:spPr>
          <a:xfrm>
            <a:off x="417773" y="745199"/>
            <a:ext cx="4483130" cy="5078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#ifndef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PADDLE_H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#define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PADDLE_H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"baseitem.h"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class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Paddle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BaseItem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677C"/>
                </a:solidFill>
                <a:effectLst/>
              </a:rPr>
              <a:t>Paddle</a:t>
            </a:r>
            <a:r>
              <a:rPr lang="en-US" altLang="zh-CN"/>
              <a:t>(</a:t>
            </a:r>
            <a:r>
              <a:rPr lang="en-US" altLang="zh-CN">
                <a:solidFill>
                  <a:srgbClr val="800080"/>
                </a:solidFill>
                <a:effectLst/>
              </a:rPr>
              <a:t>QObject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/>
              <a:t>*</a:t>
            </a:r>
            <a:r>
              <a:rPr lang="en-US" altLang="zh-CN" b="1">
                <a:solidFill>
                  <a:srgbClr val="092E64"/>
                </a:solidFill>
                <a:effectLst/>
              </a:rPr>
              <a:t>parent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/>
              <a:t>=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808000"/>
                </a:solidFill>
                <a:effectLst/>
              </a:rPr>
              <a:t>nullptr</a:t>
            </a:r>
            <a:r>
              <a:rPr lang="en-US" altLang="zh-CN"/>
              <a:t>);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resetState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move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setDx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private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dx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static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INITIAL_X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200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static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INITIAL_Y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360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static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RIGHT_EDGE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300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#endif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PADDLE_H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AB9E039-3D53-AD20-4B8F-1EA1A41786E8}"/>
              </a:ext>
            </a:extLst>
          </p:cNvPr>
          <p:cNvSpPr txBox="1"/>
          <p:nvPr/>
        </p:nvSpPr>
        <p:spPr>
          <a:xfrm>
            <a:off x="4900903" y="736798"/>
            <a:ext cx="5579455" cy="64633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"paddle.h"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Paddle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Paddle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lang="en-US" altLang="zh-CN">
                <a:solidFill>
                  <a:srgbClr val="800080"/>
                </a:solidFill>
                <a:effectLst/>
              </a:rPr>
              <a:t>QObject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/>
              <a:t>*</a:t>
            </a:r>
            <a:r>
              <a:rPr lang="en-US" altLang="zh-CN" b="1"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lang="en-US" altLang="zh-CN">
                <a:solidFill>
                  <a:srgbClr val="800080"/>
                </a:solidFill>
                <a:effectLst/>
              </a:rPr>
              <a:t>BaseItem</a:t>
            </a:r>
            <a:r>
              <a:rPr lang="en-US" altLang="zh-CN"/>
              <a:t>{</a:t>
            </a:r>
            <a:r>
              <a:rPr lang="en-US" altLang="zh-CN" i="1">
                <a:solidFill>
                  <a:srgbClr val="092E64"/>
                </a:solidFill>
                <a:effectLst/>
              </a:rPr>
              <a:t>parent</a:t>
            </a:r>
            <a:r>
              <a:rPr lang="en-US" altLang="zh-CN"/>
              <a:t>}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image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load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"../images/paddle.png"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image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resetState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Paddle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resetState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moveTo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(INITIAL_X,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INITIAL_Y);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Paddle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move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dx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)&amp;&amp;(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&lt;RIGHT_EDGE-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width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())) 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	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moveTo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Paddle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setDx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dx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} 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20BD588-FDF2-A426-A397-F095F91C76AF}"/>
              </a:ext>
            </a:extLst>
          </p:cNvPr>
          <p:cNvSpPr txBox="1"/>
          <p:nvPr/>
        </p:nvSpPr>
        <p:spPr>
          <a:xfrm>
            <a:off x="417773" y="8403411"/>
            <a:ext cx="4483130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#ifndef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BRICK_H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#define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BRICK_H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"baseitem.h"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class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Brick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BaseItem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677C"/>
                </a:solidFill>
                <a:effectLst/>
              </a:rPr>
              <a:t>Brick</a:t>
            </a:r>
            <a:r>
              <a:rPr lang="en-US" altLang="zh-CN"/>
              <a:t>(</a:t>
            </a:r>
            <a:r>
              <a:rPr lang="en-US" altLang="zh-CN">
                <a:solidFill>
                  <a:srgbClr val="808000"/>
                </a:solidFill>
                <a:effectLst/>
              </a:rPr>
              <a:t>int</a:t>
            </a:r>
            <a:r>
              <a:rPr lang="en-US" altLang="zh-CN"/>
              <a:t>,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808000"/>
                </a:solidFill>
                <a:effectLst/>
              </a:rPr>
              <a:t>int</a:t>
            </a:r>
            <a:r>
              <a:rPr lang="en-US" altLang="zh-CN"/>
              <a:t>,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800080"/>
                </a:solidFill>
                <a:effectLst/>
              </a:rPr>
              <a:t>QObject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/>
              <a:t>*</a:t>
            </a:r>
            <a:r>
              <a:rPr lang="en-US" altLang="zh-CN" b="1">
                <a:solidFill>
                  <a:srgbClr val="092E64"/>
                </a:solidFill>
                <a:effectLst/>
              </a:rPr>
              <a:t>parent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/>
              <a:t>=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808000"/>
                </a:solidFill>
                <a:effectLst/>
              </a:rPr>
              <a:t>nullptr</a:t>
            </a:r>
            <a:r>
              <a:rPr lang="en-US" altLang="zh-CN"/>
              <a:t>);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bool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isDestroyed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setDestroyed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bool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private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bool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destroyed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#endif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BRICK_H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570E013-9F97-012B-F55D-5896F081495B}"/>
              </a:ext>
            </a:extLst>
          </p:cNvPr>
          <p:cNvSpPr txBox="1"/>
          <p:nvPr/>
        </p:nvSpPr>
        <p:spPr>
          <a:xfrm>
            <a:off x="4900903" y="8403411"/>
            <a:ext cx="5438139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"brick.h"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&lt;QDebug&gt;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Brick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Brick</a:t>
            </a:r>
            <a:r>
              <a:rPr lang="fr-FR" altLang="zh-CN"/>
              <a:t>(</a:t>
            </a:r>
            <a:r>
              <a:rPr lang="fr-FR" altLang="zh-CN">
                <a:solidFill>
                  <a:srgbClr val="808000"/>
                </a:solidFill>
                <a:effectLst/>
              </a:rPr>
              <a:t>int</a:t>
            </a:r>
            <a:r>
              <a:rPr lang="fr-FR" altLang="zh-CN">
                <a:solidFill>
                  <a:srgbClr val="C0C0C0"/>
                </a:solidFill>
                <a:effectLst/>
              </a:rPr>
              <a:t> </a:t>
            </a:r>
            <a:r>
              <a:rPr lang="fr-FR" altLang="zh-CN" b="1">
                <a:solidFill>
                  <a:srgbClr val="092E64"/>
                </a:solidFill>
                <a:effectLst/>
              </a:rPr>
              <a:t>x</a:t>
            </a:r>
            <a:r>
              <a:rPr lang="fr-FR" altLang="zh-CN"/>
              <a:t>,</a:t>
            </a:r>
            <a:r>
              <a:rPr lang="fr-FR" altLang="zh-CN">
                <a:solidFill>
                  <a:srgbClr val="C0C0C0"/>
                </a:solidFill>
                <a:effectLst/>
              </a:rPr>
              <a:t> </a:t>
            </a:r>
            <a:r>
              <a:rPr lang="fr-FR" altLang="zh-CN">
                <a:solidFill>
                  <a:srgbClr val="808000"/>
                </a:solidFill>
                <a:effectLst/>
              </a:rPr>
              <a:t>int</a:t>
            </a:r>
            <a:r>
              <a:rPr lang="fr-FR" altLang="zh-CN">
                <a:solidFill>
                  <a:srgbClr val="C0C0C0"/>
                </a:solidFill>
                <a:effectLst/>
              </a:rPr>
              <a:t> </a:t>
            </a:r>
            <a:r>
              <a:rPr lang="fr-FR" altLang="zh-CN" b="1">
                <a:solidFill>
                  <a:srgbClr val="092E64"/>
                </a:solidFill>
                <a:effectLst/>
              </a:rPr>
              <a:t>y</a:t>
            </a:r>
            <a:r>
              <a:rPr lang="fr-FR" altLang="zh-CN"/>
              <a:t>,</a:t>
            </a:r>
            <a:r>
              <a:rPr lang="fr-FR" altLang="zh-CN">
                <a:solidFill>
                  <a:srgbClr val="C0C0C0"/>
                </a:solidFill>
                <a:effectLst/>
              </a:rPr>
              <a:t> </a:t>
            </a:r>
            <a:r>
              <a:rPr lang="fr-FR" altLang="zh-CN">
                <a:solidFill>
                  <a:srgbClr val="800080"/>
                </a:solidFill>
                <a:effectLst/>
              </a:rPr>
              <a:t>QObject</a:t>
            </a:r>
            <a:r>
              <a:rPr lang="fr-FR" altLang="zh-CN">
                <a:solidFill>
                  <a:srgbClr val="C0C0C0"/>
                </a:solidFill>
                <a:effectLst/>
              </a:rPr>
              <a:t> </a:t>
            </a:r>
            <a:r>
              <a:rPr lang="fr-FR" altLang="zh-CN"/>
              <a:t>*</a:t>
            </a:r>
            <a:r>
              <a:rPr lang="fr-FR" altLang="zh-CN" b="1">
                <a:solidFill>
                  <a:srgbClr val="092E64"/>
                </a:solidFill>
                <a:effectLst/>
              </a:rPr>
              <a:t>parent</a:t>
            </a:r>
            <a:r>
              <a:rPr lang="fr-FR" altLang="zh-CN"/>
              <a:t>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zh-CN"/>
              <a:t>:</a:t>
            </a:r>
            <a:r>
              <a:rPr lang="fr-FR" altLang="zh-CN">
                <a:solidFill>
                  <a:srgbClr val="800080"/>
                </a:solidFill>
                <a:effectLst/>
              </a:rPr>
              <a:t>BaseItem</a:t>
            </a:r>
            <a:r>
              <a:rPr lang="fr-FR" altLang="zh-CN"/>
              <a:t>{</a:t>
            </a:r>
            <a:r>
              <a:rPr lang="fr-FR" altLang="zh-CN" i="1">
                <a:solidFill>
                  <a:srgbClr val="092E64"/>
                </a:solidFill>
                <a:effectLst/>
              </a:rPr>
              <a:t>parent</a:t>
            </a:r>
            <a:r>
              <a:rPr lang="fr-FR" altLang="zh-CN"/>
              <a:t>}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image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load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"../images/brick.png"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destroyed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false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image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translate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bool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Brick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isDestroyed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destroyed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Brick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setDestroyed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bool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destroyed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75" name="墨迹 374">
                <a:extLst>
                  <a:ext uri="{FF2B5EF4-FFF2-40B4-BE49-F238E27FC236}">
                    <a16:creationId xmlns:a16="http://schemas.microsoft.com/office/drawing/2014/main" id="{0D500BDA-5CBD-2000-1F07-337371D039F2}"/>
                  </a:ext>
                </a:extLst>
              </p14:cNvPr>
              <p14:cNvContentPartPr/>
              <p14:nvPr/>
            </p14:nvContentPartPr>
            <p14:xfrm>
              <a:off x="3329760" y="3309687"/>
              <a:ext cx="360" cy="360"/>
            </p14:xfrm>
          </p:contentPart>
        </mc:Choice>
        <mc:Fallback xmlns="">
          <p:pic>
            <p:nvPicPr>
              <p:cNvPr id="375" name="墨迹 374">
                <a:extLst>
                  <a:ext uri="{FF2B5EF4-FFF2-40B4-BE49-F238E27FC236}">
                    <a16:creationId xmlns:a16="http://schemas.microsoft.com/office/drawing/2014/main" id="{0D500BDA-5CBD-2000-1F07-337371D039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20760" y="3300687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589" name="矩形 588">
            <a:extLst>
              <a:ext uri="{FF2B5EF4-FFF2-40B4-BE49-F238E27FC236}">
                <a16:creationId xmlns:a16="http://schemas.microsoft.com/office/drawing/2014/main" id="{EE9D19EC-AF78-7E18-6420-874BA81CB1A2}"/>
              </a:ext>
            </a:extLst>
          </p:cNvPr>
          <p:cNvSpPr/>
          <p:nvPr/>
        </p:nvSpPr>
        <p:spPr>
          <a:xfrm>
            <a:off x="2912182" y="6744130"/>
            <a:ext cx="1828800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BaseItem</a:t>
            </a:r>
            <a:endParaRPr lang="zh-CN" altLang="en-US"/>
          </a:p>
        </p:txBody>
      </p:sp>
      <p:sp>
        <p:nvSpPr>
          <p:cNvPr id="590" name="矩形 589">
            <a:extLst>
              <a:ext uri="{FF2B5EF4-FFF2-40B4-BE49-F238E27FC236}">
                <a16:creationId xmlns:a16="http://schemas.microsoft.com/office/drawing/2014/main" id="{D41C385D-1584-A21E-EFD5-472902977D52}"/>
              </a:ext>
            </a:extLst>
          </p:cNvPr>
          <p:cNvSpPr/>
          <p:nvPr/>
        </p:nvSpPr>
        <p:spPr>
          <a:xfrm>
            <a:off x="923459" y="7894212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Ball</a:t>
            </a:r>
            <a:endParaRPr lang="zh-CN" altLang="en-US"/>
          </a:p>
        </p:txBody>
      </p:sp>
      <p:sp>
        <p:nvSpPr>
          <p:cNvPr id="591" name="矩形 590">
            <a:extLst>
              <a:ext uri="{FF2B5EF4-FFF2-40B4-BE49-F238E27FC236}">
                <a16:creationId xmlns:a16="http://schemas.microsoft.com/office/drawing/2014/main" id="{C13F5EFD-AD29-76B8-A7A6-851E2D75FA77}"/>
              </a:ext>
            </a:extLst>
          </p:cNvPr>
          <p:cNvSpPr/>
          <p:nvPr/>
        </p:nvSpPr>
        <p:spPr>
          <a:xfrm>
            <a:off x="2912181" y="7894212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Paddle</a:t>
            </a:r>
            <a:endParaRPr lang="zh-CN" altLang="en-US"/>
          </a:p>
        </p:txBody>
      </p:sp>
      <p:sp>
        <p:nvSpPr>
          <p:cNvPr id="592" name="矩形 591">
            <a:extLst>
              <a:ext uri="{FF2B5EF4-FFF2-40B4-BE49-F238E27FC236}">
                <a16:creationId xmlns:a16="http://schemas.microsoft.com/office/drawing/2014/main" id="{2B636EC2-0190-8F79-3323-999BFD8CA7BD}"/>
              </a:ext>
            </a:extLst>
          </p:cNvPr>
          <p:cNvSpPr/>
          <p:nvPr/>
        </p:nvSpPr>
        <p:spPr>
          <a:xfrm>
            <a:off x="4900903" y="7908657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Brick</a:t>
            </a:r>
            <a:endParaRPr lang="zh-CN" altLang="en-US"/>
          </a:p>
        </p:txBody>
      </p:sp>
      <p:cxnSp>
        <p:nvCxnSpPr>
          <p:cNvPr id="593" name="连接符: 肘形 592">
            <a:extLst>
              <a:ext uri="{FF2B5EF4-FFF2-40B4-BE49-F238E27FC236}">
                <a16:creationId xmlns:a16="http://schemas.microsoft.com/office/drawing/2014/main" id="{9928BD8D-BD16-FE00-808C-BF481320921B}"/>
              </a:ext>
            </a:extLst>
          </p:cNvPr>
          <p:cNvCxnSpPr>
            <a:stCxn id="590" idx="0"/>
            <a:endCxn id="589" idx="2"/>
          </p:cNvCxnSpPr>
          <p:nvPr/>
        </p:nvCxnSpPr>
        <p:spPr>
          <a:xfrm rot="5400000" flipH="1" flipV="1">
            <a:off x="2441845" y="6509476"/>
            <a:ext cx="780750" cy="198872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连接符: 肘形 593">
            <a:extLst>
              <a:ext uri="{FF2B5EF4-FFF2-40B4-BE49-F238E27FC236}">
                <a16:creationId xmlns:a16="http://schemas.microsoft.com/office/drawing/2014/main" id="{E91E395D-0533-205B-2BA0-21AB1B773852}"/>
              </a:ext>
            </a:extLst>
          </p:cNvPr>
          <p:cNvCxnSpPr>
            <a:stCxn id="592" idx="0"/>
            <a:endCxn id="589" idx="2"/>
          </p:cNvCxnSpPr>
          <p:nvPr/>
        </p:nvCxnSpPr>
        <p:spPr>
          <a:xfrm rot="16200000" flipV="1">
            <a:off x="4423346" y="6516699"/>
            <a:ext cx="795195" cy="198872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直接箭头连接符 594">
            <a:extLst>
              <a:ext uri="{FF2B5EF4-FFF2-40B4-BE49-F238E27FC236}">
                <a16:creationId xmlns:a16="http://schemas.microsoft.com/office/drawing/2014/main" id="{773F25C5-4F7D-F0DF-C743-9550C56CA439}"/>
              </a:ext>
            </a:extLst>
          </p:cNvPr>
          <p:cNvCxnSpPr>
            <a:stCxn id="591" idx="0"/>
            <a:endCxn id="589" idx="2"/>
          </p:cNvCxnSpPr>
          <p:nvPr/>
        </p:nvCxnSpPr>
        <p:spPr>
          <a:xfrm flipV="1">
            <a:off x="3826581" y="7113462"/>
            <a:ext cx="1" cy="780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976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E1D55D6-03D5-AE90-5793-6DE2C6F4794B}"/>
              </a:ext>
            </a:extLst>
          </p:cNvPr>
          <p:cNvSpPr txBox="1"/>
          <p:nvPr/>
        </p:nvSpPr>
        <p:spPr>
          <a:xfrm>
            <a:off x="452090" y="719691"/>
            <a:ext cx="9309477" cy="120032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#ifndef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BREAKOUT_H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#define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BREAKOUT_H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&lt;QMainWindow&gt;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"ball.h"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"brick.h"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"paddle.h"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class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Breakout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Breakout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protected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paintEvent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QPaintEvent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timerEvent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QTimerEvent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keyPressEvent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QKeyEvent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keyReleaseEvent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QKeyEvent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finishGame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QPainter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startGame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pauseGame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stopGame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victory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checkCollision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private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timerId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static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N_OF_BRICKS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30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static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DELAY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static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BOTTOM_EDGE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400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Paddle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paddle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Brick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bricks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[N_OF_BRICKS];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bool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gameOver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bool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gameWon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bool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gameStarted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bool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paused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808000"/>
                </a:solidFill>
                <a:effectLst/>
              </a:rPr>
              <a:t>unsigned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 b="1">
                <a:solidFill>
                  <a:srgbClr val="800000"/>
                </a:solidFill>
                <a:effectLst/>
              </a:rPr>
              <a:t>brokenBricks</a:t>
            </a:r>
            <a:r>
              <a:rPr lang="en-US" altLang="zh-CN"/>
              <a:t>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#endif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BREAKOUT_H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56B0CA5-93E6-32D1-3EE0-F2D219B4E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5740" y="-138499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776174E9-EA3B-2B78-5689-149F11B41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5740" y="-138499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594B41-8A9F-B631-A8D7-20AF71DC4ABC}"/>
              </a:ext>
            </a:extLst>
          </p:cNvPr>
          <p:cNvSpPr/>
          <p:nvPr/>
        </p:nvSpPr>
        <p:spPr>
          <a:xfrm>
            <a:off x="7749886" y="740866"/>
            <a:ext cx="1981200" cy="457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框架搭建</a:t>
            </a:r>
          </a:p>
        </p:txBody>
      </p:sp>
      <p:sp>
        <p:nvSpPr>
          <p:cNvPr id="41" name="Rectangle 5">
            <a:extLst>
              <a:ext uri="{FF2B5EF4-FFF2-40B4-BE49-F238E27FC236}">
                <a16:creationId xmlns:a16="http://schemas.microsoft.com/office/drawing/2014/main" id="{85ABC1B8-1E7D-4AB8-13B2-A35DA8358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5740" y="5063421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0353FB-24A7-6797-A011-5F7F74C30C63}"/>
              </a:ext>
            </a:extLst>
          </p:cNvPr>
          <p:cNvSpPr/>
          <p:nvPr/>
        </p:nvSpPr>
        <p:spPr>
          <a:xfrm>
            <a:off x="800100" y="8717280"/>
            <a:ext cx="3271520" cy="873760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03C93EC-E88D-C301-AB81-4AB47F330786}"/>
              </a:ext>
            </a:extLst>
          </p:cNvPr>
          <p:cNvSpPr txBox="1"/>
          <p:nvPr/>
        </p:nvSpPr>
        <p:spPr>
          <a:xfrm>
            <a:off x="4533900" y="1292840"/>
            <a:ext cx="5639148" cy="61863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Breakout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Breakout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setStyleSheet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"background-color:gray;"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setFixedSize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300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400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setWindowIcon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QIcon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"../images/ball.png"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gameOver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false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gameWon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false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paused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false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gameStarted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false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paddle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Paddle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paddle_W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paddle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width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paddle_H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paddle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height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++)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j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j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6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j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++)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bricks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++]=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Brick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j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paddle_W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30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paddle_H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50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CD6851C-EAE7-0167-6520-32FC414C4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135" y="9745823"/>
            <a:ext cx="1925455" cy="285254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7C4BEE2-E601-97FD-FA44-02CACDEA30BD}"/>
              </a:ext>
            </a:extLst>
          </p:cNvPr>
          <p:cNvSpPr/>
          <p:nvPr/>
        </p:nvSpPr>
        <p:spPr>
          <a:xfrm>
            <a:off x="6264562" y="7573923"/>
            <a:ext cx="1828800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BaseItem</a:t>
            </a:r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52B118-32C1-0F57-AFB6-A5C5D6EE6CEE}"/>
              </a:ext>
            </a:extLst>
          </p:cNvPr>
          <p:cNvSpPr/>
          <p:nvPr/>
        </p:nvSpPr>
        <p:spPr>
          <a:xfrm>
            <a:off x="4275839" y="8724005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Ball</a:t>
            </a:r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E9CCFA-5E52-09E0-3E07-92E493F114D3}"/>
              </a:ext>
            </a:extLst>
          </p:cNvPr>
          <p:cNvSpPr/>
          <p:nvPr/>
        </p:nvSpPr>
        <p:spPr>
          <a:xfrm>
            <a:off x="6264561" y="8724005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Paddle</a:t>
            </a:r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A53C520-492B-31CF-C6C0-29122A4D6B95}"/>
              </a:ext>
            </a:extLst>
          </p:cNvPr>
          <p:cNvSpPr/>
          <p:nvPr/>
        </p:nvSpPr>
        <p:spPr>
          <a:xfrm>
            <a:off x="8253283" y="8738450"/>
            <a:ext cx="18288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Brick</a:t>
            </a:r>
            <a:endParaRPr lang="zh-CN" altLang="en-US"/>
          </a:p>
        </p:txBody>
      </p: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C0B4D897-9DC6-719D-B3DD-6B04D3FDB233}"/>
              </a:ext>
            </a:extLst>
          </p:cNvPr>
          <p:cNvCxnSpPr>
            <a:stCxn id="13" idx="0"/>
            <a:endCxn id="5" idx="2"/>
          </p:cNvCxnSpPr>
          <p:nvPr/>
        </p:nvCxnSpPr>
        <p:spPr>
          <a:xfrm rot="5400000" flipH="1" flipV="1">
            <a:off x="5794225" y="7339269"/>
            <a:ext cx="780750" cy="198872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DB4ABB81-62F1-9D90-17D0-A3AE23223D91}"/>
              </a:ext>
            </a:extLst>
          </p:cNvPr>
          <p:cNvCxnSpPr>
            <a:stCxn id="15" idx="0"/>
            <a:endCxn id="5" idx="2"/>
          </p:cNvCxnSpPr>
          <p:nvPr/>
        </p:nvCxnSpPr>
        <p:spPr>
          <a:xfrm rot="16200000" flipV="1">
            <a:off x="7775726" y="7346492"/>
            <a:ext cx="795195" cy="198872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BAFF0593-CDF1-53CE-229B-3F8F52A15A74}"/>
              </a:ext>
            </a:extLst>
          </p:cNvPr>
          <p:cNvCxnSpPr>
            <a:stCxn id="14" idx="0"/>
            <a:endCxn id="5" idx="2"/>
          </p:cNvCxnSpPr>
          <p:nvPr/>
        </p:nvCxnSpPr>
        <p:spPr>
          <a:xfrm flipV="1">
            <a:off x="7178961" y="7943255"/>
            <a:ext cx="1" cy="780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F3E1019B-7C4B-6857-244B-BCC6B9E37508}"/>
              </a:ext>
            </a:extLst>
          </p:cNvPr>
          <p:cNvSpPr/>
          <p:nvPr/>
        </p:nvSpPr>
        <p:spPr>
          <a:xfrm>
            <a:off x="6307741" y="10357589"/>
            <a:ext cx="1828800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zh-CN" altLang="zh-CN" i="0" u="none" strike="noStrike" normalizeH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Breakout</a:t>
            </a:r>
            <a:endParaRPr lang="zh-CN" altLang="en-US"/>
          </a:p>
        </p:txBody>
      </p: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E358181D-BDBF-1D45-A03B-98A6681257B5}"/>
              </a:ext>
            </a:extLst>
          </p:cNvPr>
          <p:cNvCxnSpPr>
            <a:cxnSpLocks/>
            <a:stCxn id="13" idx="2"/>
          </p:cNvCxnSpPr>
          <p:nvPr/>
        </p:nvCxnSpPr>
        <p:spPr>
          <a:xfrm rot="16200000" flipH="1">
            <a:off x="5671442" y="8612133"/>
            <a:ext cx="1026315" cy="198872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F083F41E-291F-AA3A-91CA-058B22169746}"/>
              </a:ext>
            </a:extLst>
          </p:cNvPr>
          <p:cNvCxnSpPr>
            <a:cxnSpLocks/>
            <a:stCxn id="15" idx="2"/>
          </p:cNvCxnSpPr>
          <p:nvPr/>
        </p:nvCxnSpPr>
        <p:spPr>
          <a:xfrm rot="5400000">
            <a:off x="7691576" y="8638347"/>
            <a:ext cx="1006673" cy="194554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1308841A-6E48-B479-1538-5CF9F867B6BB}"/>
              </a:ext>
            </a:extLst>
          </p:cNvPr>
          <p:cNvCxnSpPr>
            <a:cxnSpLocks/>
          </p:cNvCxnSpPr>
          <p:nvPr/>
        </p:nvCxnSpPr>
        <p:spPr>
          <a:xfrm>
            <a:off x="7178960" y="9093335"/>
            <a:ext cx="0" cy="10263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流程图: 决策 31">
            <a:extLst>
              <a:ext uri="{FF2B5EF4-FFF2-40B4-BE49-F238E27FC236}">
                <a16:creationId xmlns:a16="http://schemas.microsoft.com/office/drawing/2014/main" id="{E377FD24-F1EC-6321-1C3F-E05F5E90031A}"/>
              </a:ext>
            </a:extLst>
          </p:cNvPr>
          <p:cNvSpPr/>
          <p:nvPr/>
        </p:nvSpPr>
        <p:spPr>
          <a:xfrm>
            <a:off x="7098951" y="10077458"/>
            <a:ext cx="160019" cy="275903"/>
          </a:xfrm>
          <a:prstGeom prst="flowChartDecision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CEDE676-128F-404A-5272-EFC206319FCB}"/>
              </a:ext>
            </a:extLst>
          </p:cNvPr>
          <p:cNvSpPr txBox="1"/>
          <p:nvPr/>
        </p:nvSpPr>
        <p:spPr>
          <a:xfrm>
            <a:off x="7148480" y="7977246"/>
            <a:ext cx="24609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</a:rPr>
              <a:t>public</a:t>
            </a:r>
            <a:r>
              <a:rPr lang="zh-CN" altLang="en-US" sz="2000">
                <a:solidFill>
                  <a:srgbClr val="FF0000"/>
                </a:solidFill>
                <a:highlight>
                  <a:srgbClr val="FFFF00"/>
                </a:highlight>
              </a:rPr>
              <a:t>继承关系：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</a:rPr>
              <a:t>is-a</a:t>
            </a:r>
            <a:endParaRPr lang="zh-CN" altLang="en-US" sz="20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34E8223-48D4-CCF8-5E3C-6FD8575DDFB5}"/>
              </a:ext>
            </a:extLst>
          </p:cNvPr>
          <p:cNvSpPr txBox="1"/>
          <p:nvPr/>
        </p:nvSpPr>
        <p:spPr>
          <a:xfrm>
            <a:off x="7247104" y="9691793"/>
            <a:ext cx="18405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FF0000"/>
                </a:solidFill>
                <a:highlight>
                  <a:srgbClr val="FFFF00"/>
                </a:highlight>
              </a:rPr>
              <a:t>聚合关系</a:t>
            </a:r>
            <a:r>
              <a:rPr lang="en-US" altLang="zh-CN" sz="2000">
                <a:solidFill>
                  <a:srgbClr val="FF0000"/>
                </a:solidFill>
                <a:highlight>
                  <a:srgbClr val="FFFF00"/>
                </a:highlight>
              </a:rPr>
              <a:t>:has-a</a:t>
            </a:r>
            <a:endParaRPr lang="zh-CN" altLang="en-US" sz="20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56792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E1D55D6-03D5-AE90-5793-6DE2C6F4794B}"/>
              </a:ext>
            </a:extLst>
          </p:cNvPr>
          <p:cNvSpPr txBox="1"/>
          <p:nvPr/>
        </p:nvSpPr>
        <p:spPr>
          <a:xfrm>
            <a:off x="452090" y="719691"/>
            <a:ext cx="9309477" cy="5632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Breakout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paintEvent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QPaintEvent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Q_UNUSED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QPainter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gameOver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finishGame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(&amp;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"Game lost"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gameWon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finishGame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(&amp;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"Victory"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//绘制ball,paddle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drawImage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getImage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drawImage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paddle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paddle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getImage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//绘制bricks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&lt;N_OF_BRICKS;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++)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(!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bricks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isDestroyed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</a:rPr>
              <a:t>	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painter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drawImage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bricks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bricks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getImage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56B0CA5-93E6-32D1-3EE0-F2D219B4E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5740" y="-138499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776174E9-EA3B-2B78-5689-149F11B41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5740" y="-138499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594B41-8A9F-B631-A8D7-20AF71DC4ABC}"/>
              </a:ext>
            </a:extLst>
          </p:cNvPr>
          <p:cNvSpPr/>
          <p:nvPr/>
        </p:nvSpPr>
        <p:spPr>
          <a:xfrm>
            <a:off x="7749886" y="740866"/>
            <a:ext cx="1981200" cy="457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绘制</a:t>
            </a:r>
          </a:p>
        </p:txBody>
      </p:sp>
      <p:sp>
        <p:nvSpPr>
          <p:cNvPr id="41" name="Rectangle 5">
            <a:extLst>
              <a:ext uri="{FF2B5EF4-FFF2-40B4-BE49-F238E27FC236}">
                <a16:creationId xmlns:a16="http://schemas.microsoft.com/office/drawing/2014/main" id="{85ABC1B8-1E7D-4AB8-13B2-A35DA8358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5740" y="5063421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C66A869-5346-FE75-66A2-C34AAE8CF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8074" y="1358425"/>
            <a:ext cx="2431892" cy="346757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AC88694-DE56-F29F-B766-B9EAFF8593B2}"/>
              </a:ext>
            </a:extLst>
          </p:cNvPr>
          <p:cNvSpPr txBox="1"/>
          <p:nvPr/>
        </p:nvSpPr>
        <p:spPr>
          <a:xfrm>
            <a:off x="423442" y="6512361"/>
            <a:ext cx="9309477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Breakout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timerEvent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QTimerEvent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Q_UNUSED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autoMove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paddle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move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checkCollision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repaint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6861F7-8E00-59DC-6856-9AB215E5EAA4}"/>
              </a:ext>
            </a:extLst>
          </p:cNvPr>
          <p:cNvSpPr/>
          <p:nvPr/>
        </p:nvSpPr>
        <p:spPr>
          <a:xfrm>
            <a:off x="7749886" y="6512361"/>
            <a:ext cx="1981200" cy="457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移动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506D2C5-48A2-A9C5-CBCA-DF2A44226848}"/>
              </a:ext>
            </a:extLst>
          </p:cNvPr>
          <p:cNvSpPr txBox="1"/>
          <p:nvPr/>
        </p:nvSpPr>
        <p:spPr>
          <a:xfrm>
            <a:off x="5198268" y="8179035"/>
            <a:ext cx="4793261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Breakout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keyPressEvent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QKeyEvent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switch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key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case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Key_Left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paddle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setDx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(-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break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case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Key_Right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paddle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setDx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break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case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Key_P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pauseGame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break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case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Key_Space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startGame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break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case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Key_Escape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qApp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exit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break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default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keyPressEvent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3C88C4A-BEE3-959A-EEA2-9E21248F0B71}"/>
              </a:ext>
            </a:extLst>
          </p:cNvPr>
          <p:cNvSpPr txBox="1"/>
          <p:nvPr/>
        </p:nvSpPr>
        <p:spPr>
          <a:xfrm>
            <a:off x="5198268" y="11313675"/>
            <a:ext cx="4793261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Breakout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keyReleaseEvent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QKeyEvent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switch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key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case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Key_Left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case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Key_Right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paddle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setDx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break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575CC9F-B123-179B-A850-12280FEBD310}"/>
              </a:ext>
            </a:extLst>
          </p:cNvPr>
          <p:cNvSpPr txBox="1"/>
          <p:nvPr/>
        </p:nvSpPr>
        <p:spPr>
          <a:xfrm>
            <a:off x="313567" y="8820685"/>
            <a:ext cx="4928373" cy="48013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Breakout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startGame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(!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gameStarted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	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setStyleSheet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"background-color:gray;"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resetState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paddle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resetState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&lt;N_OF_BRICKS;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++)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bricks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setDestroyed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false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gameOver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false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gameWon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false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gameStarted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true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timerId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startTimer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(DELAY);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800000"/>
                </a:solidFill>
                <a:effectLst/>
              </a:rPr>
              <a:t>brokenBricks</a:t>
            </a:r>
            <a:r>
              <a:rPr lang="en-US" altLang="zh-CN"/>
              <a:t>=</a:t>
            </a:r>
            <a:r>
              <a:rPr lang="en-US" altLang="zh-CN">
                <a:solidFill>
                  <a:srgbClr val="000080"/>
                </a:solidFill>
                <a:effectLst/>
              </a:rPr>
              <a:t>0</a:t>
            </a:r>
            <a:r>
              <a:rPr lang="en-US" altLang="zh-CN"/>
              <a:t>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pic>
        <p:nvPicPr>
          <p:cNvPr id="16" name="20220624_090435">
            <a:hlinkClick r:id="" action="ppaction://media"/>
            <a:extLst>
              <a:ext uri="{FF2B5EF4-FFF2-40B4-BE49-F238E27FC236}">
                <a16:creationId xmlns:a16="http://schemas.microsoft.com/office/drawing/2014/main" id="{4546EA16-E882-B6A1-6475-3FB26973332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370618" y="6969561"/>
            <a:ext cx="1825817" cy="264981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50" name="墨迹 149">
                <a:extLst>
                  <a:ext uri="{FF2B5EF4-FFF2-40B4-BE49-F238E27FC236}">
                    <a16:creationId xmlns:a16="http://schemas.microsoft.com/office/drawing/2014/main" id="{E97948EA-084D-9105-D457-2EE52E2B5E35}"/>
                  </a:ext>
                </a:extLst>
              </p14:cNvPr>
              <p14:cNvContentPartPr/>
              <p14:nvPr/>
            </p14:nvContentPartPr>
            <p14:xfrm>
              <a:off x="9433560" y="10843020"/>
              <a:ext cx="360" cy="360"/>
            </p14:xfrm>
          </p:contentPart>
        </mc:Choice>
        <mc:Fallback>
          <p:pic>
            <p:nvPicPr>
              <p:cNvPr id="150" name="墨迹 149">
                <a:extLst>
                  <a:ext uri="{FF2B5EF4-FFF2-40B4-BE49-F238E27FC236}">
                    <a16:creationId xmlns:a16="http://schemas.microsoft.com/office/drawing/2014/main" id="{E97948EA-084D-9105-D457-2EE52E2B5E3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424560" y="1083402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8970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500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E1D55D6-03D5-AE90-5793-6DE2C6F4794B}"/>
              </a:ext>
            </a:extLst>
          </p:cNvPr>
          <p:cNvSpPr txBox="1"/>
          <p:nvPr/>
        </p:nvSpPr>
        <p:spPr>
          <a:xfrm>
            <a:off x="452090" y="719691"/>
            <a:ext cx="9309477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Breakout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checkCollision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bottom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BOTTOM_EDGE)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stopGame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checkPaddleCollision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checkBricksCollision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brokenBricks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&gt;=N_OF_BRICKS)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victory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594B41-8A9F-B631-A8D7-20AF71DC4ABC}"/>
              </a:ext>
            </a:extLst>
          </p:cNvPr>
          <p:cNvSpPr/>
          <p:nvPr/>
        </p:nvSpPr>
        <p:spPr>
          <a:xfrm>
            <a:off x="7749886" y="740866"/>
            <a:ext cx="1981200" cy="457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碰撞检测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05880E5-BE68-F4A5-A4A7-95C0FD012E6C}"/>
              </a:ext>
            </a:extLst>
          </p:cNvPr>
          <p:cNvSpPr txBox="1"/>
          <p:nvPr/>
        </p:nvSpPr>
        <p:spPr>
          <a:xfrm>
            <a:off x="452090" y="4148369"/>
            <a:ext cx="9309477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Breakout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pauseGame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paused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timerId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startTimer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(DELAY);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paused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false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paused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true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killTimer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timerId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0192F66-54DB-E8AD-D21E-DFAC3ABAB53A}"/>
              </a:ext>
            </a:extLst>
          </p:cNvPr>
          <p:cNvSpPr txBox="1"/>
          <p:nvPr/>
        </p:nvSpPr>
        <p:spPr>
          <a:xfrm>
            <a:off x="5789524" y="2680308"/>
            <a:ext cx="3972043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Breakout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stopGame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killTimer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timerId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gameOver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true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gameStarted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false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Breakout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victory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killTimer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timerId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gameWon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true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gameStarted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false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EE7C85D-B050-E2E4-B5DD-611F4CD7A00B}"/>
              </a:ext>
            </a:extLst>
          </p:cNvPr>
          <p:cNvSpPr txBox="1"/>
          <p:nvPr/>
        </p:nvSpPr>
        <p:spPr>
          <a:xfrm>
            <a:off x="452089" y="6733692"/>
            <a:ext cx="9309477" cy="72943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Breakout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checkBricksCollision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&lt;N_OF_BRICKS;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++)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bricks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isDestroyed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continue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intersects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bricks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ballLeft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left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ballHeight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height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ballWidth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width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ballTop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QPoint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pointRight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ballLeft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ballWidth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ballTop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QPoint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pointLeft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ballLeft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ballTop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QPoint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pointTop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ballLeft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ballTop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QPoint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pointBottom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ballLeft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ballTop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ballHeight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//砖块碰到了球的最右侧，球往左弹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zh-CN" altLang="en-US">
                <a:solidFill>
                  <a:srgbClr val="008000"/>
                </a:solidFill>
              </a:rPr>
              <a:t>，</a:t>
            </a:r>
            <a:r>
              <a:rPr lang="zh-CN" altLang="zh-CN">
                <a:solidFill>
                  <a:srgbClr val="008000"/>
                </a:solidFill>
              </a:rPr>
              <a:t>碰到了球的最左侧，球往右弹</a:t>
            </a:r>
            <a:r>
              <a:rPr lang="zh-CN" altLang="zh-CN">
                <a:solidFill>
                  <a:schemeClr val="tx1"/>
                </a:solidFill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bricks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contains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pointRight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setXDir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(-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bricks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contains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pointLeft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setXDir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//砖块碰到了球的最上端，球往下弹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，</a:t>
            </a:r>
            <a:r>
              <a:rPr lang="zh-CN" altLang="zh-CN">
                <a:solidFill>
                  <a:srgbClr val="008000"/>
                </a:solidFill>
              </a:rPr>
              <a:t>碰到了球的最下端，球往上弹</a:t>
            </a:r>
            <a:r>
              <a:rPr lang="zh-CN" altLang="zh-CN">
                <a:solidFill>
                  <a:schemeClr val="tx1"/>
                </a:solidFill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bricks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contains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pointTop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setYDir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bricks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contains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pointBottom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setYDir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(-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bricks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]-&gt;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setDestroyed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true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++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brokenBricks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58596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E1D55D6-03D5-AE90-5793-6DE2C6F4794B}"/>
              </a:ext>
            </a:extLst>
          </p:cNvPr>
          <p:cNvSpPr txBox="1"/>
          <p:nvPr/>
        </p:nvSpPr>
        <p:spPr>
          <a:xfrm>
            <a:off x="452090" y="719691"/>
            <a:ext cx="9309477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Breakout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checkPaddleCollision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 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intersects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paddle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paddleLPos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paddle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left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ballLPos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left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oneFifthPaddle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paddle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getRect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width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()/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twoFifthPaddlePos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paddleLPos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oneFifthPaddle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threeFifthPaddlePos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paddleLPos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3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oneFifthPaddle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ballLPos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twoFifthPaddlePos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setXDir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(-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ballLPos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&gt;=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twoFifthPaddlePos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&amp;&amp;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ballLPos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threeFifthPaddlePos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setXDir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ballLPos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&gt;=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threeFifthPaddlePos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setXDir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ball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setYDir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(-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r>
              <a:rPr lang="en-US" altLang="zh-CN">
                <a:solidFill>
                  <a:srgbClr val="008000"/>
                </a:solidFill>
                <a:effectLst/>
              </a:rPr>
              <a:t>//</a:t>
            </a:r>
            <a:r>
              <a:rPr lang="zh-CN" altLang="en-US">
                <a:solidFill>
                  <a:srgbClr val="008000"/>
                </a:solidFill>
                <a:effectLst/>
              </a:rPr>
              <a:t>球拍总是让球向上运动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56B0CA5-93E6-32D1-3EE0-F2D219B4E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5740" y="-138499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776174E9-EA3B-2B78-5689-149F11B41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5740" y="-138499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594B41-8A9F-B631-A8D7-20AF71DC4ABC}"/>
              </a:ext>
            </a:extLst>
          </p:cNvPr>
          <p:cNvSpPr/>
          <p:nvPr/>
        </p:nvSpPr>
        <p:spPr>
          <a:xfrm>
            <a:off x="7749886" y="740866"/>
            <a:ext cx="1981200" cy="457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碰撞检测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054C54A-9FB1-6B9B-685D-FB72F3DE31F8}"/>
              </a:ext>
            </a:extLst>
          </p:cNvPr>
          <p:cNvSpPr/>
          <p:nvPr/>
        </p:nvSpPr>
        <p:spPr>
          <a:xfrm>
            <a:off x="7307580" y="1849120"/>
            <a:ext cx="40386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D8097BB-884A-57F6-9C7D-CCB3778C7E73}"/>
              </a:ext>
            </a:extLst>
          </p:cNvPr>
          <p:cNvSpPr/>
          <p:nvPr/>
        </p:nvSpPr>
        <p:spPr>
          <a:xfrm>
            <a:off x="7724140" y="1849120"/>
            <a:ext cx="40386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A94DDD8-F387-7B96-2890-577B233CAAED}"/>
              </a:ext>
            </a:extLst>
          </p:cNvPr>
          <p:cNvSpPr/>
          <p:nvPr/>
        </p:nvSpPr>
        <p:spPr>
          <a:xfrm>
            <a:off x="8143240" y="1849120"/>
            <a:ext cx="403860" cy="2667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EB2BB6-798D-5BCB-4BE0-A47977F60B63}"/>
              </a:ext>
            </a:extLst>
          </p:cNvPr>
          <p:cNvSpPr/>
          <p:nvPr/>
        </p:nvSpPr>
        <p:spPr>
          <a:xfrm>
            <a:off x="8562340" y="1849120"/>
            <a:ext cx="40386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81C4EC-072E-73BA-A6B0-F0A58721A2F2}"/>
              </a:ext>
            </a:extLst>
          </p:cNvPr>
          <p:cNvSpPr/>
          <p:nvPr/>
        </p:nvSpPr>
        <p:spPr>
          <a:xfrm>
            <a:off x="8978900" y="1849120"/>
            <a:ext cx="403860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F7894EE-3B98-EF5B-03FD-5269FEE88EC9}"/>
              </a:ext>
            </a:extLst>
          </p:cNvPr>
          <p:cNvCxnSpPr/>
          <p:nvPr/>
        </p:nvCxnSpPr>
        <p:spPr>
          <a:xfrm flipV="1">
            <a:off x="7307580" y="2115820"/>
            <a:ext cx="0" cy="525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EC8B3E70-7774-D97F-C00B-1479FB08EA56}"/>
              </a:ext>
            </a:extLst>
          </p:cNvPr>
          <p:cNvSpPr txBox="1"/>
          <p:nvPr/>
        </p:nvSpPr>
        <p:spPr>
          <a:xfrm>
            <a:off x="6721348" y="2641600"/>
            <a:ext cx="13395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highlight>
                  <a:srgbClr val="FFFF00"/>
                </a:highlight>
              </a:rPr>
              <a:t>paddleLPos</a:t>
            </a:r>
            <a:endParaRPr lang="zh-CN" altLang="en-US">
              <a:highlight>
                <a:srgbClr val="FFFF00"/>
              </a:highlight>
            </a:endParaRPr>
          </a:p>
        </p:txBody>
      </p:sp>
      <p:pic>
        <p:nvPicPr>
          <p:cNvPr id="20" name="20220624_094447">
            <a:hlinkClick r:id="" action="ppaction://media"/>
            <a:extLst>
              <a:ext uri="{FF2B5EF4-FFF2-40B4-BE49-F238E27FC236}">
                <a16:creationId xmlns:a16="http://schemas.microsoft.com/office/drawing/2014/main" id="{EE4EAA72-F28D-B776-28F2-7319C254974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958042" y="3952558"/>
            <a:ext cx="2803525" cy="406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753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300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FjYTU0NWJkMWQ1YTMwMTViZThhYTk5YTFlZGRhMzgifQ=="/>
</p:tagLst>
</file>

<file path=ppt/theme/theme1.xml><?xml version="1.0" encoding="utf-8"?>
<a:theme xmlns:a="http://schemas.openxmlformats.org/drawingml/2006/main" name="第一PPT，www.1ppt.com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反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第一PPT，www.1ppt.com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反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第4章：程序流程之循环</Template>
  <TotalTime>5590</TotalTime>
  <Words>3543</Words>
  <Application>Microsoft Office PowerPoint</Application>
  <PresentationFormat>自定义</PresentationFormat>
  <Paragraphs>457</Paragraphs>
  <Slides>12</Slides>
  <Notes>1</Notes>
  <HiddenSlides>0</HiddenSlides>
  <MMClips>2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 Unicode MS</vt:lpstr>
      <vt:lpstr>等线</vt:lpstr>
      <vt:lpstr>华文琥珀</vt:lpstr>
      <vt:lpstr>Arial</vt:lpstr>
      <vt:lpstr>Calibri</vt:lpstr>
      <vt:lpstr>Cambria</vt:lpstr>
      <vt:lpstr>第一PPT，www.1ppt.com</vt:lpstr>
      <vt:lpstr>4_第一PPT，www.1ppt.com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蔡乐</dc:creator>
  <cp:lastModifiedBy>乐</cp:lastModifiedBy>
  <cp:revision>1470</cp:revision>
  <dcterms:created xsi:type="dcterms:W3CDTF">2020-06-26T01:00:00Z</dcterms:created>
  <dcterms:modified xsi:type="dcterms:W3CDTF">2022-08-26T04:43:12Z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2052-11.1.0.11744</vt:lpwstr>
  </property>
  <property fmtid="{D5CDD505-2E9C-101B-9397-08002B2CF9AE}" pid="3" name="ICV">
    <vt:lpwstr>35C8A0B9FA4B4BC7B03E97E74C2317FB</vt:lpwstr>
  </property>
</Properties>
</file>